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14"/>
    <p:sldId id="259" r:id="rId15"/>
    <p:sldId id="260" r:id="rId16"/>
    <p:sldId id="261" r:id="rId17"/>
    <p:sldId id="262" r:id="rId18"/>
    <p:sldId id="263" r:id="rId19"/>
    <p:sldId id="264"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067" userDrawn="1">
          <p15:clr>
            <a:srgbClr val="A4A3A4"/>
          </p15:clr>
        </p15:guide>
        <p15:guide id="2" pos="388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00" d="100"/>
          <a:sy n="100" d="100"/>
        </p:scale>
        <p:origin x="954" y="618"/>
      </p:cViewPr>
      <p:guideLst>
        <p:guide orient="horz" pos="3067"/>
        <p:guide pos="388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8" Type="http://schemas.openxmlformats.org/officeDocument/2006/relationships/slide" Target="slides/slide9.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707616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37581333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eg"/><Relationship Id="rId4" Type="http://schemas.openxmlformats.org/officeDocument/2006/relationships/image" Target="../media/image2.jpe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hyperlink" Target="http://www.togane-shakyo.jp/mothershome.html" TargetMode="External"/><Relationship Id="rId4" Type="http://schemas.openxmlformats.org/officeDocument/2006/relationships/hyperlink" Target="http://www.chibasha.com/" TargetMode="External"/><Relationship Id="rId5" Type="http://schemas.openxmlformats.org/officeDocument/2006/relationships/hyperlink" Target="http://kp-tougane.com" TargetMode="External"/><Relationship Id="rId6" Type="http://schemas.openxmlformats.org/officeDocument/2006/relationships/hyperlink" Target="http://kp-daini-tougane.com/" TargetMode="External"/><Relationship Id="rId7" Type="http://schemas.openxmlformats.org/officeDocument/2006/relationships/hyperlink" Target="http://kihonjuku-yuuyuu.com" TargetMode="External"/><Relationship Id="rId8" Type="http://schemas.openxmlformats.org/officeDocument/2006/relationships/hyperlink" Target="https://futaba-oami.com/" TargetMode="External"/><Relationship Id="rId9" Type="http://schemas.openxmlformats.org/officeDocument/2006/relationships/hyperlink" Target="https://houkagodei.com/"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4.jpeg"/><Relationship Id="rId4" Type="http://schemas.openxmlformats.org/officeDocument/2006/relationships/image" Target="../media/image5.jpeg"/><Relationship Id="rId5" Type="http://schemas.openxmlformats.org/officeDocument/2006/relationships/image" Target="../media/image6.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4.jpeg"/><Relationship Id="rId4" Type="http://schemas.openxmlformats.org/officeDocument/2006/relationships/image" Target="../media/image5.jpeg"/><Relationship Id="rId5" Type="http://schemas.openxmlformats.org/officeDocument/2006/relationships/image" Target="../media/image6.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4.jpeg"/><Relationship Id="rId4" Type="http://schemas.openxmlformats.org/officeDocument/2006/relationships/image" Target="../media/image5.jpeg"/><Relationship Id="rId5" Type="http://schemas.openxmlformats.org/officeDocument/2006/relationships/image" Target="../media/image6.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4.jpeg"/><Relationship Id="rId4" Type="http://schemas.openxmlformats.org/officeDocument/2006/relationships/image" Target="../media/image5.jpeg"/><Relationship Id="rId5" Type="http://schemas.openxmlformats.org/officeDocument/2006/relationships/image" Target="../media/image6.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4.jpeg"/><Relationship Id="rId4" Type="http://schemas.openxmlformats.org/officeDocument/2006/relationships/image" Target="../media/image5.jpeg"/><Relationship Id="rId5" Type="http://schemas.openxmlformats.org/officeDocument/2006/relationships/image" Target="../media/image6.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4.jpeg"/><Relationship Id="rId4" Type="http://schemas.openxmlformats.org/officeDocument/2006/relationships/image" Target="../media/image5.jpeg"/><Relationship Id="rId5" Type="http://schemas.openxmlformats.org/officeDocument/2006/relationships/image" Target="../media/image6.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3A6B"/>
        </a:solidFill>
        <a:effectLst/>
      </p:bgPr>
    </p:bg>
    <p:spTree>
      <p:nvGrpSpPr>
        <p:cNvPr id="1" name=""/>
        <p:cNvGrpSpPr/>
        <p:nvPr/>
      </p:nvGrpSpPr>
      <p:grpSpPr>
        <a:xfrm>
          <a:off x="0" y="0"/>
          <a:ext cx="0" cy="0"/>
          <a:chOff x="0" y="0"/>
          <a:chExt cx="0" cy="0"/>
        </a:xfrm>
      </p:grpSpPr>
      <p:sp>
        <p:nvSpPr>
          <p:cNvPr id="16" name="正方形/長方形 15">
            <a:extLst>
              <a:ext uri="{FF2B5EF4-FFF2-40B4-BE49-F238E27FC236}">
                <a16:creationId xmlns:a16="http://schemas.microsoft.com/office/drawing/2014/main" id="{BEC354AB-C673-39DB-7787-525BA79DDBF6}"/>
              </a:ext>
            </a:extLst>
          </p:cNvPr>
          <p:cNvSpPr/>
          <p:nvPr/>
        </p:nvSpPr>
        <p:spPr>
          <a:xfrm>
            <a:off x="0" y="0"/>
            <a:ext cx="12192000" cy="6876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9" name="Picture 2" descr="C:\Users\F1883\Desktop\変換 ～ gf2110035119l.jpg">
            <a:extLst>
              <a:ext uri="{FF2B5EF4-FFF2-40B4-BE49-F238E27FC236}">
                <a16:creationId xmlns:a16="http://schemas.microsoft.com/office/drawing/2014/main" id="{72BE0CF9-836D-C404-72E5-C89D7D53F53E}"/>
              </a:ext>
            </a:extLst>
          </p:cNvPr>
          <p:cNvPicPr>
            <a:picLocks noChangeAspect="1" noChangeArrowheads="1"/>
          </p:cNvPicPr>
          <p:nvPr/>
        </p:nvPicPr>
        <p:blipFill>
          <a:blip r:embed="rId3" cstate="print">
            <a:lum contrast="20000"/>
          </a:blip>
          <a:srcRect t="18750" r="3596"/>
          <a:stretch/>
        </p:blipFill>
        <p:spPr bwMode="auto">
          <a:xfrm>
            <a:off x="0" y="0"/>
            <a:ext cx="12192000" cy="6876000"/>
          </a:xfrm>
          <a:prstGeom prst="rect">
            <a:avLst/>
          </a:prstGeom>
          <a:noFill/>
        </p:spPr>
      </p:pic>
      <p:pic>
        <p:nvPicPr>
          <p:cNvPr id="10" name="Picture 2" descr="C:\Users\F1883\Desktop\px0010180830l (1).jpg">
            <a:extLst>
              <a:ext uri="{FF2B5EF4-FFF2-40B4-BE49-F238E27FC236}">
                <a16:creationId xmlns:a16="http://schemas.microsoft.com/office/drawing/2014/main" id="{4536EDB3-A3B8-2B2B-C38D-34AE81F8B9A3}"/>
              </a:ext>
            </a:extLst>
          </p:cNvPr>
          <p:cNvPicPr>
            <a:picLocks noChangeAspect="1" noChangeArrowheads="1"/>
          </p:cNvPicPr>
          <p:nvPr/>
        </p:nvPicPr>
        <p:blipFill>
          <a:blip r:embed="rId4" cstate="print">
            <a:clrChange>
              <a:clrFrom>
                <a:srgbClr val="FFFFFF"/>
              </a:clrFrom>
              <a:clrTo>
                <a:srgbClr val="FFFFFF">
                  <a:alpha val="0"/>
                </a:srgbClr>
              </a:clrTo>
            </a:clrChange>
            <a:grayscl/>
          </a:blip>
          <a:srcRect/>
          <a:stretch>
            <a:fillRect/>
          </a:stretch>
        </p:blipFill>
        <p:spPr bwMode="auto">
          <a:xfrm>
            <a:off x="760804" y="2348880"/>
            <a:ext cx="4076760" cy="2055312"/>
          </a:xfrm>
          <a:prstGeom prst="rect">
            <a:avLst/>
          </a:prstGeom>
          <a:noFill/>
        </p:spPr>
      </p:pic>
      <p:sp>
        <p:nvSpPr>
          <p:cNvPr id="11" name="正方形/長方形 10">
            <a:extLst>
              <a:ext uri="{FF2B5EF4-FFF2-40B4-BE49-F238E27FC236}">
                <a16:creationId xmlns:a16="http://schemas.microsoft.com/office/drawing/2014/main" id="{3CE6C090-6810-90B1-6E11-A4D1B922BD41}"/>
              </a:ext>
            </a:extLst>
          </p:cNvPr>
          <p:cNvSpPr/>
          <p:nvPr/>
        </p:nvSpPr>
        <p:spPr>
          <a:xfrm>
            <a:off x="0" y="2287505"/>
            <a:ext cx="12192000" cy="2088232"/>
          </a:xfrm>
          <a:prstGeom prst="rect">
            <a:avLst/>
          </a:prstGeom>
          <a:solidFill>
            <a:srgbClr val="002060">
              <a:alpha val="8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2" name="テキスト ボックス 11">
            <a:extLst>
              <a:ext uri="{FF2B5EF4-FFF2-40B4-BE49-F238E27FC236}">
                <a16:creationId xmlns:a16="http://schemas.microsoft.com/office/drawing/2014/main" id="{6FC589F5-9A35-165E-C9A8-C195524C3758}"/>
              </a:ext>
            </a:extLst>
          </p:cNvPr>
          <p:cNvSpPr txBox="1"/>
          <p:nvPr/>
        </p:nvSpPr>
        <p:spPr>
          <a:xfrm>
            <a:off x="239216" y="2492896"/>
            <a:ext cx="8962445" cy="2042867"/>
          </a:xfrm>
          <a:prstGeom prst="rect">
            <a:avLst/>
          </a:prstGeom>
          <a:noFill/>
        </p:spPr>
        <p:txBody>
          <a:bodyPr wrap="square" rtlCol="0">
            <a:spAutoFit/>
          </a:bodyPr>
          <a:lstStyle/>
          <a:p>
            <a:pPr defTabSz="914070">
              <a:lnSpc>
                <a:spcPct val="150000"/>
              </a:lnSpc>
            </a:pPr>
            <a:r>
              <a:rPr lang="en-US" altLang="ja-JP" sz="2000" b="1" dirty="0" err="1">
                <a:solidFill>
                  <a:srgbClr val="FFFFFF"/>
                </a:solidFill>
                <a:latin typeface="メイリオ" panose="020B0604030504040204" pitchFamily="50" charset="-128"/>
                <a:ea typeface="メイリオ" panose="020B0604030504040204" pitchFamily="50" charset="-128"/>
                <a:cs typeface="Meiryo" pitchFamily="34" charset="-120"/>
              </a:rPr>
              <a:t>千葉県東金市　児童発達支援 事業所調査</a:t>
            </a:r>
            <a:endParaRPr lang="en-US" altLang="ja-JP" sz="2000" b="1" dirty="0">
              <a:solidFill>
                <a:srgbClr val="FFFFFF"/>
              </a:solidFill>
              <a:latin typeface="メイリオ" panose="020B0604030504040204" pitchFamily="50" charset="-128"/>
              <a:ea typeface="メイリオ" panose="020B0604030504040204" pitchFamily="50" charset="-128"/>
              <a:cs typeface="Meiryo" pitchFamily="34" charset="-120"/>
            </a:endParaRPr>
          </a:p>
          <a:p>
            <a:pPr defTabSz="914070">
              <a:lnSpc>
                <a:spcPct val="150000"/>
              </a:lnSpc>
            </a:pPr>
            <a:r>
              <a:rPr lang="en-US" altLang="ja-JP" sz="1600" b="1" dirty="0" err="1">
                <a:solidFill>
                  <a:srgbClr val="CFE0F5"/>
                </a:solidFill>
                <a:latin typeface="メイリオ" panose="020B0604030504040204" pitchFamily="50" charset="-128"/>
                <a:ea typeface="メイリオ" panose="020B0604030504040204" pitchFamily="50" charset="-128"/>
                <a:cs typeface="Meiryo" pitchFamily="34" charset="-120"/>
              </a:rPr>
              <a:t>全11事業所・6運営法人（千葉県 指定事業所一覧にもとづく確定版）</a:t>
            </a:r>
            <a:endParaRPr lang="en-US" altLang="ja-JP" sz="1600" b="1" dirty="0">
              <a:latin typeface="メイリオ" panose="020B0604030504040204" pitchFamily="50" charset="-128"/>
              <a:ea typeface="メイリオ" panose="020B0604030504040204" pitchFamily="50" charset="-128"/>
            </a:endParaRPr>
          </a:p>
          <a:p>
            <a:pPr defTabSz="914070">
              <a:lnSpc>
                <a:spcPct val="150000"/>
              </a:lnSpc>
            </a:pPr>
            <a:endParaRPr lang="en-US" altLang="ja-JP" sz="1800" dirty="0">
              <a:latin typeface="メイリオ" panose="020B0604030504040204" pitchFamily="50" charset="-128"/>
              <a:ea typeface="メイリオ" panose="020B0604030504040204" pitchFamily="50" charset="-128"/>
            </a:endParaRPr>
          </a:p>
          <a:p>
            <a:pPr defTabSz="914070">
              <a:lnSpc>
                <a:spcPct val="150000"/>
              </a:lnSpc>
            </a:pPr>
            <a:endParaRPr lang="en-US" altLang="ja-JP" b="1" spc="277" dirty="0">
              <a:solidFill>
                <a:prstClr val="white"/>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3" name="平行四辺形 12">
            <a:extLst>
              <a:ext uri="{FF2B5EF4-FFF2-40B4-BE49-F238E27FC236}">
                <a16:creationId xmlns:a16="http://schemas.microsoft.com/office/drawing/2014/main" id="{5FDCF386-C540-A97C-1C04-2B2E17BA9604}"/>
              </a:ext>
            </a:extLst>
          </p:cNvPr>
          <p:cNvSpPr/>
          <p:nvPr/>
        </p:nvSpPr>
        <p:spPr>
          <a:xfrm>
            <a:off x="8221785" y="2276872"/>
            <a:ext cx="3149455" cy="2088000"/>
          </a:xfrm>
          <a:prstGeom prst="parallelogram">
            <a:avLst>
              <a:gd name="adj" fmla="val 49870"/>
            </a:avLst>
          </a:prstGeom>
          <a:solidFill>
            <a:schemeClr val="bg1"/>
          </a:solidFill>
          <a:ln>
            <a:noFill/>
          </a:ln>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4" name="テキスト ボックス 13">
            <a:extLst>
              <a:ext uri="{FF2B5EF4-FFF2-40B4-BE49-F238E27FC236}">
                <a16:creationId xmlns:a16="http://schemas.microsoft.com/office/drawing/2014/main" id="{4557EF7F-B29A-C086-1994-98929E762296}"/>
              </a:ext>
            </a:extLst>
          </p:cNvPr>
          <p:cNvSpPr txBox="1"/>
          <p:nvPr/>
        </p:nvSpPr>
        <p:spPr>
          <a:xfrm>
            <a:off x="320877" y="3717033"/>
            <a:ext cx="4098206" cy="246221"/>
          </a:xfrm>
          <a:prstGeom prst="rect">
            <a:avLst/>
          </a:prstGeom>
          <a:noFill/>
        </p:spPr>
        <p:txBody>
          <a:bodyPr wrap="square" rtlCol="0">
            <a:spAutoFit/>
          </a:bodyPr>
          <a:lstStyle/>
          <a:p>
            <a:pPr>
              <a:lnSpc>
                <a:spcPts val="1200"/>
              </a:lnSpc>
            </a:pPr>
            <a:r>
              <a:rPr kumimoji="1" lang="en-US" altLang="ja-JP" sz="900" spc="500" dirty="0">
                <a:solidFill>
                  <a:schemeClr val="bg1"/>
                </a:solidFill>
                <a:latin typeface="メイリオ" pitchFamily="50" charset="-128"/>
                <a:ea typeface="メイリオ" pitchFamily="50" charset="-128"/>
                <a:cs typeface="メイリオ" pitchFamily="50" charset="-128"/>
              </a:rPr>
              <a:t>2026年8月28日（金）</a:t>
            </a:r>
          </a:p>
        </p:txBody>
      </p:sp>
      <p:pic>
        <p:nvPicPr>
          <p:cNvPr id="15" name="図 14">
            <a:extLst>
              <a:ext uri="{FF2B5EF4-FFF2-40B4-BE49-F238E27FC236}">
                <a16:creationId xmlns:a16="http://schemas.microsoft.com/office/drawing/2014/main" id="{BC6E1081-1B34-56D0-B20C-8EC90261ABC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804037" y="3139919"/>
            <a:ext cx="1711563" cy="335701"/>
          </a:xfrm>
          <a:prstGeom prst="rect">
            <a:avLst/>
          </a:prstGeom>
        </p:spPr>
      </p:pic>
    </p:spTree>
    <p:extLst>
      <p:ext uri="{BB962C8B-B14F-4D97-AF65-F5344CB8AC3E}">
        <p14:creationId xmlns:p14="http://schemas.microsoft.com/office/powerpoint/2010/main" val="26757954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932688"/>
          </a:xfrm>
          <a:prstGeom prst="rect">
            <a:avLst/>
          </a:prstGeom>
          <a:solidFill>
            <a:srgbClr val="1B3A6B"/>
          </a:solidFill>
          <a:ln/>
        </p:spPr>
      </p:sp>
      <p:sp>
        <p:nvSpPr>
          <p:cNvPr id="3" name="Shape 1"/>
          <p:cNvSpPr/>
          <p:nvPr/>
        </p:nvSpPr>
        <p:spPr>
          <a:xfrm>
            <a:off x="0" y="0"/>
            <a:ext cx="164592" cy="932688"/>
          </a:xfrm>
          <a:prstGeom prst="rect">
            <a:avLst/>
          </a:prstGeom>
          <a:solidFill>
            <a:srgbClr val="13294B"/>
          </a:solidFill>
          <a:ln/>
        </p:spPr>
      </p:sp>
      <p:sp>
        <p:nvSpPr>
          <p:cNvPr id="5" name="Text 3"/>
          <p:cNvSpPr/>
          <p:nvPr/>
        </p:nvSpPr>
        <p:spPr>
          <a:xfrm>
            <a:off x="502920" y="1115568"/>
            <a:ext cx="8503920" cy="457200"/>
          </a:xfrm>
          <a:prstGeom prst="rect">
            <a:avLst/>
          </a:prstGeom>
          <a:noFill/>
          <a:ln/>
        </p:spPr>
        <p:txBody>
          <a:bodyPr wrap="square" lIns="0" tIns="0" rIns="0" bIns="0" rtlCol="0" anchor="ctr"/>
          <a:lstStyle/>
          <a:p>
            <a:pPr marL="0" indent="0">
              <a:buNone/>
            </a:pPr>
            <a:r>
              <a:rPr lang="ja-JP" altLang="en-US" sz="2100" b="1" dirty="0">
                <a:solidFill>
                  <a:srgbClr val="222222"/>
                </a:solidFill>
                <a:latin typeface="Meiryo" pitchFamily="34" charset="0"/>
                <a:ea typeface="Meiryo" pitchFamily="34" charset="-122"/>
                <a:cs typeface="Meiryo" pitchFamily="34" charset="-120"/>
              </a:rPr>
              <a:t>■ 東金市内の児童発達支援事業所　全11事業所・6運営法人</a:t>
            </a:r>
            <a:endParaRPr lang="en-US" sz="2100" dirty="0"/>
          </a:p>
        </p:txBody>
      </p:sp>
      <p:sp>
        <p:nvSpPr>
          <p:cNvPr id="6" name="Text 4"/>
          <p:cNvSpPr/>
          <p:nvPr/>
        </p:nvSpPr>
        <p:spPr>
          <a:xfrm>
            <a:off x="502920" y="6510528"/>
            <a:ext cx="7315200" cy="274320"/>
          </a:xfrm>
          <a:prstGeom prst="rect">
            <a:avLst/>
          </a:prstGeom>
          <a:noFill/>
          <a:ln/>
        </p:spPr>
        <p:txBody>
          <a:bodyPr wrap="square" lIns="0" tIns="0" rIns="0" bIns="0" rtlCol="0" anchor="ctr"/>
          <a:lstStyle/>
          <a:p>
            <a:pPr marL="0" indent="0">
              <a:buNone/>
            </a:pPr>
            <a:r>
              <a:rPr lang="en-US" sz="850" dirty="0">
                <a:solidFill>
                  <a:srgbClr val="666666"/>
                </a:solidFill>
                <a:latin typeface="Meiryo" pitchFamily="34" charset="0"/>
                <a:ea typeface="Meiryo" pitchFamily="34" charset="-122"/>
                <a:cs typeface="Meiryo" pitchFamily="34" charset="-120"/>
              </a:rPr>
              <a:t>Copyright Funai Soken Group. All rights reserved.</a:t>
            </a:r>
            <a:endParaRPr lang="en-US" sz="850" dirty="0"/>
          </a:p>
        </p:txBody>
      </p:sp>
      <p:graphicFrame>
        <p:nvGraphicFramePr>
          <p:cNvPr id="7" name="Table 0"/>
          <p:cNvGraphicFramePr>
            <a:graphicFrameLocks noGrp="1"/>
          </p:cNvGraphicFramePr>
          <p:nvPr>
            <p:extLst>
              <p:ext uri="{D42A27DB-BD31-4B8C-83A1-F6EECF244321}">
                <p14:modId xmlns:p14="http://schemas.microsoft.com/office/powerpoint/2010/main" val="2088185084"/>
              </p:ext>
            </p:extLst>
          </p:nvPr>
        </p:nvGraphicFramePr>
        <p:xfrm>
          <a:off x="502920" y="1755648"/>
          <a:ext cx="11201400" cy="3931920"/>
        </p:xfrm>
        <a:graphic>
          <a:graphicData uri="http://schemas.openxmlformats.org/drawingml/2006/table">
            <a:tbl>
              <a:tblPr/>
              <a:tblGrid>
                <a:gridCol w="45720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256032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874519">
                  <a:extLst>
                    <a:ext uri="{9D8B030D-6E8A-4147-A177-3AD203B41FA5}">
                      <a16:colId xmlns:a16="http://schemas.microsoft.com/office/drawing/2014/main" val="20005"/>
                    </a:ext>
                  </a:extLst>
                </a:gridCol>
              </a:tblGrid>
              <a:tr h="327660">
                <a:tc>
                  <a:txBody>
                    <a:bodyPr/>
                    <a:lstStyle/>
                    <a:p>
                      <a:pPr marL="0" indent="0" algn="ctr">
                        <a:buNone/>
                      </a:pPr>
                      <a:r>
                        <a:rPr lang="en-US" sz="900" b="1" dirty="0">
                          <a:solidFill>
                            <a:srgbClr val="FFFFFF"/>
                          </a:solidFill>
                          <a:latin typeface="Meiryo" pitchFamily="34" charset="0"/>
                          <a:ea typeface="Meiryo" pitchFamily="34" charset="-122"/>
                          <a:cs typeface="Meiryo" pitchFamily="34" charset="-120"/>
                        </a:rPr>
                        <a:t>No.</a:t>
                      </a:r>
                      <a:endParaRPr lang="en-US" sz="110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B3A6B"/>
                    </a:solidFill>
                  </a:tcPr>
                </a:tc>
                <a:tc>
                  <a:txBody>
                    <a:bodyPr/>
                    <a:lstStyle/>
                    <a:p>
                      <a:pPr marL="0" indent="0" algn="ctr">
                        <a:buNone/>
                      </a:pPr>
                      <a:r>
                        <a:rPr lang="en-US" sz="900" b="1" dirty="0">
                          <a:solidFill>
                            <a:srgbClr val="FFFFFF"/>
                          </a:solidFill>
                          <a:latin typeface="Meiryo" pitchFamily="34" charset="0"/>
                          <a:ea typeface="Meiryo" pitchFamily="34" charset="-122"/>
                          <a:cs typeface="Meiryo" pitchFamily="34" charset="-120"/>
                        </a:rPr>
                        <a:t>事業所名</a:t>
                      </a:r>
                      <a:endParaRPr lang="en-US" sz="110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B3A6B"/>
                    </a:solidFill>
                  </a:tcPr>
                </a:tc>
                <a:tc>
                  <a:txBody>
                    <a:bodyPr/>
                    <a:lstStyle/>
                    <a:p>
                      <a:pPr marL="0" indent="0" algn="ctr">
                        <a:buNone/>
                      </a:pPr>
                      <a:r>
                        <a:rPr lang="en-US" sz="900" b="1" dirty="0">
                          <a:solidFill>
                            <a:srgbClr val="FFFFFF"/>
                          </a:solidFill>
                          <a:latin typeface="Meiryo" pitchFamily="34" charset="0"/>
                          <a:ea typeface="Meiryo" pitchFamily="34" charset="-122"/>
                          <a:cs typeface="Meiryo" pitchFamily="34" charset="-120"/>
                        </a:rPr>
                        <a:t>運営法人</a:t>
                      </a:r>
                      <a:endParaRPr lang="en-US" sz="110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B3A6B"/>
                    </a:solidFill>
                  </a:tcPr>
                </a:tc>
                <a:tc>
                  <a:txBody>
                    <a:bodyPr/>
                    <a:lstStyle/>
                    <a:p>
                      <a:pPr marL="0" indent="0" algn="ctr">
                        <a:buNone/>
                      </a:pPr>
                      <a:r>
                        <a:rPr lang="en-US" sz="900" b="1" dirty="0" err="1">
                          <a:solidFill>
                            <a:srgbClr val="FFFFFF"/>
                          </a:solidFill>
                          <a:latin typeface="Meiryo" pitchFamily="34" charset="0"/>
                          <a:ea typeface="Meiryo" pitchFamily="34" charset="-122"/>
                          <a:cs typeface="Meiryo" pitchFamily="34" charset="-120"/>
                        </a:rPr>
                        <a:t>所在地（東金市）</a:t>
                      </a:r>
                      <a:endParaRPr lang="en-US" sz="110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B3A6B"/>
                    </a:solidFill>
                  </a:tcPr>
                </a:tc>
                <a:tc>
                  <a:txBody>
                    <a:bodyPr/>
                    <a:lstStyle/>
                    <a:p>
                      <a:pPr marL="0" indent="0" algn="ctr">
                        <a:buNone/>
                      </a:pPr>
                      <a:r>
                        <a:rPr lang="en-US" sz="900" b="1" dirty="0">
                          <a:solidFill>
                            <a:srgbClr val="FFFFFF"/>
                          </a:solidFill>
                          <a:latin typeface="Meiryo" pitchFamily="34" charset="0"/>
                          <a:ea typeface="Meiryo" pitchFamily="34" charset="-122"/>
                          <a:cs typeface="Meiryo" pitchFamily="34" charset="-120"/>
                        </a:rPr>
                        <a:t>TEL ／ 定員</a:t>
                      </a:r>
                      <a:endParaRPr lang="en-US" sz="110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B3A6B"/>
                    </a:solidFill>
                  </a:tcPr>
                </a:tc>
                <a:tc>
                  <a:txBody>
                    <a:bodyPr/>
                    <a:lstStyle/>
                    <a:p>
                      <a:pPr marL="0" indent="0" algn="ctr">
                        <a:buNone/>
                      </a:pPr>
                      <a:r>
                        <a:rPr lang="en-US" sz="900" b="1" dirty="0">
                          <a:solidFill>
                            <a:srgbClr val="FFFFFF"/>
                          </a:solidFill>
                          <a:latin typeface="Meiryo" pitchFamily="34" charset="0"/>
                          <a:ea typeface="Meiryo" pitchFamily="34" charset="-122"/>
                          <a:cs typeface="Meiryo" pitchFamily="34" charset="-120"/>
                        </a:rPr>
                        <a:t>HP（リンク）</a:t>
                      </a:r>
                      <a:endParaRPr lang="en-US" sz="110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B3A6B"/>
                    </a:solidFill>
                  </a:tcPr>
                </a:tc>
                <a:extLst>
                  <a:ext uri="{0D108BD9-81ED-4DB2-BD59-A6C34878D82A}">
                    <a16:rowId xmlns:a16="http://schemas.microsoft.com/office/drawing/2014/main" val="10000"/>
                  </a:ext>
                </a:extLst>
              </a:tr>
              <a:tr h="327660">
                <a:tc>
                  <a:txBody>
                    <a:bodyPr/>
                    <a:lstStyle/>
                    <a:p>
                      <a:pPr marL="0" indent="0" algn="ctr">
                        <a:buNone/>
                      </a:pPr>
                      <a:r>
                        <a:rPr lang="en-US" sz="850" b="1" dirty="0">
                          <a:solidFill>
                            <a:srgbClr val="222222"/>
                          </a:solidFill>
                          <a:latin typeface="Meiryo" pitchFamily="34" charset="0"/>
                          <a:ea typeface="Meiryo" pitchFamily="34" charset="-122"/>
                          <a:cs typeface="Meiryo" pitchFamily="34" charset="-120"/>
                        </a:rPr>
                        <a:t>①</a:t>
                      </a:r>
                      <a:endParaRPr lang="en-US" sz="110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850" b="1" dirty="0">
                          <a:solidFill>
                            <a:srgbClr val="222222"/>
                          </a:solidFill>
                          <a:latin typeface="Meiryo" pitchFamily="34" charset="0"/>
                          <a:ea typeface="Meiryo" pitchFamily="34" charset="-122"/>
                          <a:cs typeface="Meiryo" pitchFamily="34" charset="-120"/>
                        </a:rPr>
                        <a:t>東金市簡易マザーズホーム</a:t>
                      </a:r>
                      <a:endParaRPr lang="en-US" sz="110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850" dirty="0">
                          <a:solidFill>
                            <a:srgbClr val="222222"/>
                          </a:solidFill>
                          <a:latin typeface="Meiryo" pitchFamily="34" charset="0"/>
                          <a:ea typeface="Meiryo" pitchFamily="34" charset="-122"/>
                          <a:cs typeface="Meiryo" pitchFamily="34" charset="-120"/>
                        </a:rPr>
                        <a:t>東金市（指定管理：市社会福祉協議会）</a:t>
                      </a:r>
                      <a:endParaRPr lang="en-US" sz="110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850" dirty="0">
                          <a:solidFill>
                            <a:srgbClr val="222222"/>
                          </a:solidFill>
                          <a:latin typeface="Meiryo" pitchFamily="34" charset="0"/>
                          <a:ea typeface="Meiryo" pitchFamily="34" charset="-122"/>
                          <a:cs typeface="Meiryo" pitchFamily="34" charset="-120"/>
                        </a:rPr>
                        <a:t>田間三丁目9番地1 ふれあいセンター2F</a:t>
                      </a:r>
                      <a:endParaRPr lang="en-US" sz="110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850" dirty="0">
                          <a:solidFill>
                            <a:srgbClr val="222222"/>
                          </a:solidFill>
                          <a:latin typeface="Meiryo" pitchFamily="34" charset="0"/>
                          <a:ea typeface="Meiryo" pitchFamily="34" charset="-122"/>
                          <a:cs typeface="Meiryo" pitchFamily="34" charset="-120"/>
                        </a:rPr>
                        <a:t>0475-54-1197／15名</a:t>
                      </a:r>
                      <a:endParaRPr lang="en-US" sz="110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850" dirty="0" u="sng">
                          <a:solidFill>
                            <a:srgbClr val="1F5FA8"/>
                          </a:solidFill>
                          <a:latin typeface="Meiryo" charset="0"/>
                          <a:ea typeface="Meiryo" charset="0"/>
                          <a:cs typeface="Meiryo" charset="0"/>
                          <a:hlinkClick r:id="rId3"/>
                        </a:rPr>
                        <a:t>togane-shakyo.jp</a:t>
                      </a: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327660">
                <a:tc>
                  <a:txBody>
                    <a:bodyPr/>
                    <a:lstStyle/>
                    <a:p>
                      <a:pPr marL="0" indent="0" algn="ctr">
                        <a:buNone/>
                      </a:pPr>
                      <a:r>
                        <a:rPr lang="en-US" sz="850" b="1" dirty="0">
                          <a:solidFill>
                            <a:srgbClr val="222222"/>
                          </a:solidFill>
                          <a:latin typeface="Meiryo" pitchFamily="34" charset="0"/>
                          <a:ea typeface="Meiryo" pitchFamily="34" charset="-122"/>
                          <a:cs typeface="Meiryo" pitchFamily="34" charset="-120"/>
                        </a:rPr>
                        <a:t>②</a:t>
                      </a:r>
                      <a:endParaRPr lang="en-US" sz="110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850" b="1" dirty="0">
                          <a:solidFill>
                            <a:srgbClr val="222222"/>
                          </a:solidFill>
                          <a:latin typeface="Meiryo" pitchFamily="34" charset="0"/>
                          <a:ea typeface="Meiryo" pitchFamily="34" charset="-122"/>
                          <a:cs typeface="Meiryo" pitchFamily="34" charset="-120"/>
                        </a:rPr>
                        <a:t>子ども支援センター まあちる</a:t>
                      </a:r>
                      <a:endParaRPr lang="en-US" sz="110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850" dirty="0">
                          <a:solidFill>
                            <a:srgbClr val="222222"/>
                          </a:solidFill>
                          <a:latin typeface="Meiryo" pitchFamily="34" charset="0"/>
                          <a:ea typeface="Meiryo" pitchFamily="34" charset="-122"/>
                          <a:cs typeface="Meiryo" pitchFamily="34" charset="-120"/>
                        </a:rPr>
                        <a:t>NPO法人 ちば地域生活支援舎</a:t>
                      </a:r>
                      <a:endParaRPr lang="en-US" sz="110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850" dirty="0">
                          <a:solidFill>
                            <a:srgbClr val="222222"/>
                          </a:solidFill>
                          <a:latin typeface="Meiryo" pitchFamily="34" charset="0"/>
                          <a:ea typeface="Meiryo" pitchFamily="34" charset="-122"/>
                          <a:cs typeface="Meiryo" pitchFamily="34" charset="-120"/>
                        </a:rPr>
                        <a:t>東岩崎2-10 えびすビル103</a:t>
                      </a:r>
                      <a:endParaRPr lang="en-US" sz="110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850" dirty="0">
                          <a:solidFill>
                            <a:srgbClr val="222222"/>
                          </a:solidFill>
                          <a:latin typeface="Meiryo" pitchFamily="34" charset="0"/>
                          <a:ea typeface="Meiryo" pitchFamily="34" charset="-122"/>
                          <a:cs typeface="Meiryo" pitchFamily="34" charset="-120"/>
                        </a:rPr>
                        <a:t>0475-71-3657／10名</a:t>
                      </a:r>
                      <a:endParaRPr lang="en-US" sz="110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850" dirty="0" u="sng">
                          <a:solidFill>
                            <a:srgbClr val="1F5FA8"/>
                          </a:solidFill>
                          <a:latin typeface="Meiryo" charset="0"/>
                          <a:ea typeface="Meiryo" charset="0"/>
                          <a:cs typeface="Meiryo" charset="0"/>
                          <a:hlinkClick r:id="rId4"/>
                        </a:rPr>
                        <a:t>chibasha.com</a:t>
                      </a: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327660">
                <a:tc>
                  <a:txBody>
                    <a:bodyPr/>
                    <a:lstStyle/>
                    <a:p>
                      <a:pPr marL="0" indent="0" algn="ctr">
                        <a:buNone/>
                      </a:pPr>
                      <a:r>
                        <a:rPr lang="en-US" sz="850" b="1" dirty="0">
                          <a:solidFill>
                            <a:srgbClr val="222222"/>
                          </a:solidFill>
                          <a:latin typeface="Meiryo" pitchFamily="34" charset="0"/>
                          <a:ea typeface="Meiryo" pitchFamily="34" charset="-122"/>
                          <a:cs typeface="Meiryo" pitchFamily="34" charset="-120"/>
                        </a:rPr>
                        <a:t>②</a:t>
                      </a:r>
                      <a:endParaRPr lang="en-US" sz="110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850" b="1" dirty="0">
                          <a:solidFill>
                            <a:srgbClr val="222222"/>
                          </a:solidFill>
                          <a:latin typeface="Meiryo" pitchFamily="34" charset="0"/>
                          <a:ea typeface="Meiryo" pitchFamily="34" charset="-122"/>
                          <a:cs typeface="Meiryo" pitchFamily="34" charset="-120"/>
                        </a:rPr>
                        <a:t>子ども支援センター ぽけっと</a:t>
                      </a:r>
                      <a:endParaRPr lang="en-US" sz="110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850" dirty="0">
                          <a:solidFill>
                            <a:srgbClr val="222222"/>
                          </a:solidFill>
                          <a:latin typeface="Meiryo" pitchFamily="34" charset="0"/>
                          <a:ea typeface="Meiryo" pitchFamily="34" charset="-122"/>
                          <a:cs typeface="Meiryo" pitchFamily="34" charset="-120"/>
                        </a:rPr>
                        <a:t>NPO法人 ちば地域生活支援舎</a:t>
                      </a:r>
                      <a:endParaRPr lang="en-US" sz="110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850" dirty="0">
                          <a:solidFill>
                            <a:srgbClr val="222222"/>
                          </a:solidFill>
                          <a:latin typeface="Meiryo" pitchFamily="34" charset="0"/>
                          <a:ea typeface="Meiryo" pitchFamily="34" charset="-122"/>
                          <a:cs typeface="Meiryo" pitchFamily="34" charset="-120"/>
                        </a:rPr>
                        <a:t>東上宿6番地2</a:t>
                      </a:r>
                      <a:endParaRPr lang="en-US" sz="110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850" dirty="0">
                          <a:solidFill>
                            <a:srgbClr val="222222"/>
                          </a:solidFill>
                          <a:latin typeface="Meiryo" pitchFamily="34" charset="0"/>
                          <a:ea typeface="Meiryo" pitchFamily="34" charset="-122"/>
                          <a:cs typeface="Meiryo" pitchFamily="34" charset="-120"/>
                        </a:rPr>
                        <a:t>0475-50-1081／10名</a:t>
                      </a:r>
                      <a:endParaRPr lang="en-US" sz="110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850" dirty="0" u="sng">
                          <a:solidFill>
                            <a:srgbClr val="1F5FA8"/>
                          </a:solidFill>
                          <a:latin typeface="Meiryo" charset="0"/>
                          <a:ea typeface="Meiryo" charset="0"/>
                          <a:cs typeface="Meiryo" charset="0"/>
                          <a:hlinkClick r:id="rId4"/>
                        </a:rPr>
                        <a:t>chibasha.com</a:t>
                      </a: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327660">
                <a:tc>
                  <a:txBody>
                    <a:bodyPr/>
                    <a:lstStyle/>
                    <a:p>
                      <a:pPr marL="0" indent="0" algn="ctr">
                        <a:buNone/>
                      </a:pPr>
                      <a:r>
                        <a:rPr lang="en-US" sz="850" b="1" dirty="0">
                          <a:solidFill>
                            <a:srgbClr val="222222"/>
                          </a:solidFill>
                          <a:latin typeface="Meiryo" pitchFamily="34" charset="0"/>
                          <a:ea typeface="Meiryo" pitchFamily="34" charset="-122"/>
                          <a:cs typeface="Meiryo" pitchFamily="34" charset="-120"/>
                        </a:rPr>
                        <a:t>③</a:t>
                      </a:r>
                      <a:endParaRPr lang="en-US" sz="110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850" b="1" dirty="0">
                          <a:solidFill>
                            <a:srgbClr val="222222"/>
                          </a:solidFill>
                          <a:latin typeface="Meiryo" pitchFamily="34" charset="0"/>
                          <a:ea typeface="Meiryo" pitchFamily="34" charset="-122"/>
                          <a:cs typeface="Meiryo" pitchFamily="34" charset="-120"/>
                        </a:rPr>
                        <a:t>こどもプラス東金教室</a:t>
                      </a:r>
                      <a:endParaRPr lang="en-US" sz="110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850" dirty="0">
                          <a:solidFill>
                            <a:srgbClr val="222222"/>
                          </a:solidFill>
                          <a:latin typeface="Meiryo" pitchFamily="34" charset="0"/>
                          <a:ea typeface="Meiryo" pitchFamily="34" charset="-122"/>
                          <a:cs typeface="Meiryo" pitchFamily="34" charset="-120"/>
                        </a:rPr>
                        <a:t>株式会社ベストグロウ</a:t>
                      </a:r>
                      <a:endParaRPr lang="en-US" sz="110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850" dirty="0">
                          <a:solidFill>
                            <a:srgbClr val="222222"/>
                          </a:solidFill>
                          <a:latin typeface="Meiryo" pitchFamily="34" charset="0"/>
                          <a:ea typeface="Meiryo" pitchFamily="34" charset="-122"/>
                          <a:cs typeface="Meiryo" pitchFamily="34" charset="-120"/>
                        </a:rPr>
                        <a:t>東新宿18-1 酒造ビル105号</a:t>
                      </a:r>
                      <a:endParaRPr lang="en-US" sz="110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850" dirty="0">
                          <a:solidFill>
                            <a:srgbClr val="222222"/>
                          </a:solidFill>
                          <a:latin typeface="Meiryo" pitchFamily="34" charset="0"/>
                          <a:ea typeface="Meiryo" pitchFamily="34" charset="-122"/>
                          <a:cs typeface="Meiryo" pitchFamily="34" charset="-120"/>
                        </a:rPr>
                        <a:t>0475-77-8577／10名</a:t>
                      </a:r>
                      <a:endParaRPr lang="en-US" sz="110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850" dirty="0" u="sng">
                          <a:solidFill>
                            <a:srgbClr val="1F5FA8"/>
                          </a:solidFill>
                          <a:latin typeface="Meiryo" charset="0"/>
                          <a:ea typeface="Meiryo" charset="0"/>
                          <a:cs typeface="Meiryo" charset="0"/>
                          <a:hlinkClick r:id="rId5"/>
                        </a:rPr>
                        <a:t>kp-tougane.com</a:t>
                      </a: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327660">
                <a:tc>
                  <a:txBody>
                    <a:bodyPr/>
                    <a:lstStyle/>
                    <a:p>
                      <a:pPr marL="0" indent="0" algn="ctr">
                        <a:buNone/>
                      </a:pPr>
                      <a:r>
                        <a:rPr lang="en-US" sz="850" b="1" dirty="0">
                          <a:solidFill>
                            <a:srgbClr val="222222"/>
                          </a:solidFill>
                          <a:latin typeface="Meiryo" pitchFamily="34" charset="0"/>
                          <a:ea typeface="Meiryo" pitchFamily="34" charset="-122"/>
                          <a:cs typeface="Meiryo" pitchFamily="34" charset="-120"/>
                        </a:rPr>
                        <a:t>③</a:t>
                      </a:r>
                      <a:endParaRPr lang="en-US" sz="110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850" b="1" dirty="0">
                          <a:solidFill>
                            <a:srgbClr val="222222"/>
                          </a:solidFill>
                          <a:latin typeface="Meiryo" pitchFamily="34" charset="0"/>
                          <a:ea typeface="Meiryo" pitchFamily="34" charset="-122"/>
                          <a:cs typeface="Meiryo" pitchFamily="34" charset="-120"/>
                        </a:rPr>
                        <a:t>こどもプラス第2東金教室</a:t>
                      </a:r>
                      <a:endParaRPr lang="en-US" sz="110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850" dirty="0">
                          <a:solidFill>
                            <a:srgbClr val="222222"/>
                          </a:solidFill>
                          <a:latin typeface="Meiryo" pitchFamily="34" charset="0"/>
                          <a:ea typeface="Meiryo" pitchFamily="34" charset="-122"/>
                          <a:cs typeface="Meiryo" pitchFamily="34" charset="-120"/>
                        </a:rPr>
                        <a:t>株式会社ベストグロウ</a:t>
                      </a:r>
                      <a:endParaRPr lang="en-US" sz="110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850" dirty="0">
                          <a:solidFill>
                            <a:srgbClr val="222222"/>
                          </a:solidFill>
                          <a:latin typeface="Meiryo" pitchFamily="34" charset="0"/>
                          <a:ea typeface="Meiryo" pitchFamily="34" charset="-122"/>
                          <a:cs typeface="Meiryo" pitchFamily="34" charset="-120"/>
                        </a:rPr>
                        <a:t>田間1-6-4</a:t>
                      </a:r>
                      <a:endParaRPr lang="en-US" sz="110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850" dirty="0">
                          <a:solidFill>
                            <a:srgbClr val="222222"/>
                          </a:solidFill>
                          <a:latin typeface="Meiryo" pitchFamily="34" charset="0"/>
                          <a:ea typeface="Meiryo" pitchFamily="34" charset="-122"/>
                          <a:cs typeface="Meiryo" pitchFamily="34" charset="-120"/>
                        </a:rPr>
                        <a:t>0475-86-6650／10名</a:t>
                      </a:r>
                      <a:endParaRPr lang="en-US" sz="110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850" dirty="0" u="sng">
                          <a:solidFill>
                            <a:srgbClr val="1F5FA8"/>
                          </a:solidFill>
                          <a:latin typeface="Meiryo" charset="0"/>
                          <a:ea typeface="Meiryo" charset="0"/>
                          <a:cs typeface="Meiryo" charset="0"/>
                          <a:hlinkClick r:id="rId6"/>
                        </a:rPr>
                        <a:t>kp-daini-tougane.com</a:t>
                      </a: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327660">
                <a:tc>
                  <a:txBody>
                    <a:bodyPr/>
                    <a:lstStyle/>
                    <a:p>
                      <a:pPr marL="0" indent="0" algn="ctr">
                        <a:buNone/>
                      </a:pPr>
                      <a:r>
                        <a:rPr lang="en-US" sz="850" b="1" dirty="0">
                          <a:solidFill>
                            <a:srgbClr val="222222"/>
                          </a:solidFill>
                          <a:latin typeface="Meiryo" pitchFamily="34" charset="0"/>
                          <a:ea typeface="Meiryo" pitchFamily="34" charset="-122"/>
                          <a:cs typeface="Meiryo" pitchFamily="34" charset="-120"/>
                        </a:rPr>
                        <a:t>④</a:t>
                      </a:r>
                      <a:endParaRPr lang="en-US" sz="110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850" b="1" dirty="0">
                          <a:solidFill>
                            <a:srgbClr val="222222"/>
                          </a:solidFill>
                          <a:latin typeface="Meiryo" pitchFamily="34" charset="0"/>
                          <a:ea typeface="Meiryo" pitchFamily="34" charset="-122"/>
                          <a:cs typeface="Meiryo" pitchFamily="34" charset="-120"/>
                        </a:rPr>
                        <a:t>基本塾優遊 日吉台</a:t>
                      </a:r>
                      <a:endParaRPr lang="en-US" sz="110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850" dirty="0">
                          <a:solidFill>
                            <a:srgbClr val="222222"/>
                          </a:solidFill>
                          <a:latin typeface="Meiryo" pitchFamily="34" charset="0"/>
                          <a:ea typeface="Meiryo" pitchFamily="34" charset="-122"/>
                          <a:cs typeface="Meiryo" pitchFamily="34" charset="-120"/>
                        </a:rPr>
                        <a:t>NPO法人 基本塾</a:t>
                      </a:r>
                      <a:endParaRPr lang="en-US" sz="110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850" dirty="0">
                          <a:solidFill>
                            <a:srgbClr val="222222"/>
                          </a:solidFill>
                          <a:latin typeface="Meiryo" pitchFamily="34" charset="0"/>
                          <a:ea typeface="Meiryo" pitchFamily="34" charset="-122"/>
                          <a:cs typeface="Meiryo" pitchFamily="34" charset="-120"/>
                        </a:rPr>
                        <a:t>日吉台2-26-3</a:t>
                      </a:r>
                      <a:endParaRPr lang="en-US" sz="110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850" dirty="0">
                          <a:solidFill>
                            <a:srgbClr val="222222"/>
                          </a:solidFill>
                          <a:latin typeface="Meiryo" pitchFamily="34" charset="0"/>
                          <a:ea typeface="Meiryo" pitchFamily="34" charset="-122"/>
                          <a:cs typeface="Meiryo" pitchFamily="34" charset="-120"/>
                        </a:rPr>
                        <a:t>0475-52-6414／10名</a:t>
                      </a:r>
                      <a:endParaRPr lang="en-US" sz="110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850" dirty="0" u="sng">
                          <a:solidFill>
                            <a:srgbClr val="1F5FA8"/>
                          </a:solidFill>
                          <a:latin typeface="Meiryo" charset="0"/>
                          <a:ea typeface="Meiryo" charset="0"/>
                          <a:cs typeface="Meiryo" charset="0"/>
                          <a:hlinkClick r:id="rId7"/>
                        </a:rPr>
                        <a:t>kihonjuku-yuuyuu.com</a:t>
                      </a: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327660">
                <a:tc>
                  <a:txBody>
                    <a:bodyPr/>
                    <a:lstStyle/>
                    <a:p>
                      <a:pPr marL="0" indent="0" algn="ctr">
                        <a:buNone/>
                      </a:pPr>
                      <a:r>
                        <a:rPr lang="en-US" sz="850" b="1" dirty="0">
                          <a:solidFill>
                            <a:srgbClr val="222222"/>
                          </a:solidFill>
                          <a:latin typeface="Meiryo" pitchFamily="34" charset="0"/>
                          <a:ea typeface="Meiryo" pitchFamily="34" charset="-122"/>
                          <a:cs typeface="Meiryo" pitchFamily="34" charset="-120"/>
                        </a:rPr>
                        <a:t>④</a:t>
                      </a:r>
                      <a:endParaRPr lang="en-US" sz="110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850" b="1" dirty="0">
                          <a:solidFill>
                            <a:srgbClr val="222222"/>
                          </a:solidFill>
                          <a:latin typeface="Meiryo" pitchFamily="34" charset="0"/>
                          <a:ea typeface="Meiryo" pitchFamily="34" charset="-122"/>
                          <a:cs typeface="Meiryo" pitchFamily="34" charset="-120"/>
                        </a:rPr>
                        <a:t>基本塾優遊 西が丘</a:t>
                      </a:r>
                      <a:endParaRPr lang="en-US" sz="110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850" dirty="0">
                          <a:solidFill>
                            <a:srgbClr val="222222"/>
                          </a:solidFill>
                          <a:latin typeface="Meiryo" pitchFamily="34" charset="0"/>
                          <a:ea typeface="Meiryo" pitchFamily="34" charset="-122"/>
                          <a:cs typeface="Meiryo" pitchFamily="34" charset="-120"/>
                        </a:rPr>
                        <a:t>NPO法人 基本塾</a:t>
                      </a:r>
                      <a:endParaRPr lang="en-US" sz="110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850" dirty="0">
                          <a:solidFill>
                            <a:srgbClr val="222222"/>
                          </a:solidFill>
                          <a:latin typeface="Meiryo" pitchFamily="34" charset="0"/>
                          <a:ea typeface="Meiryo" pitchFamily="34" charset="-122"/>
                          <a:cs typeface="Meiryo" pitchFamily="34" charset="-120"/>
                        </a:rPr>
                        <a:t>日吉台5-15-2</a:t>
                      </a:r>
                      <a:endParaRPr lang="en-US" sz="110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850" dirty="0">
                          <a:solidFill>
                            <a:srgbClr val="222222"/>
                          </a:solidFill>
                          <a:latin typeface="Meiryo" pitchFamily="34" charset="0"/>
                          <a:ea typeface="Meiryo" pitchFamily="34" charset="-122"/>
                          <a:cs typeface="Meiryo" pitchFamily="34" charset="-120"/>
                        </a:rPr>
                        <a:t>0475-51-6845／10名</a:t>
                      </a:r>
                      <a:endParaRPr lang="en-US" sz="110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850" dirty="0" u="sng">
                          <a:solidFill>
                            <a:srgbClr val="1F5FA8"/>
                          </a:solidFill>
                          <a:latin typeface="Meiryo" charset="0"/>
                          <a:ea typeface="Meiryo" charset="0"/>
                          <a:cs typeface="Meiryo" charset="0"/>
                          <a:hlinkClick r:id="rId7"/>
                        </a:rPr>
                        <a:t>kihonjuku-yuuyuu.com</a:t>
                      </a: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327660">
                <a:tc>
                  <a:txBody>
                    <a:bodyPr/>
                    <a:lstStyle/>
                    <a:p>
                      <a:pPr marL="0" indent="0" algn="ctr">
                        <a:buNone/>
                      </a:pPr>
                      <a:r>
                        <a:rPr lang="en-US" sz="850" b="1" dirty="0">
                          <a:solidFill>
                            <a:srgbClr val="222222"/>
                          </a:solidFill>
                          <a:latin typeface="Meiryo" pitchFamily="34" charset="0"/>
                          <a:ea typeface="Meiryo" pitchFamily="34" charset="-122"/>
                          <a:cs typeface="Meiryo" pitchFamily="34" charset="-120"/>
                        </a:rPr>
                        <a:t>④</a:t>
                      </a:r>
                      <a:endParaRPr lang="en-US" sz="110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850" b="1" dirty="0">
                          <a:solidFill>
                            <a:srgbClr val="222222"/>
                          </a:solidFill>
                          <a:latin typeface="Meiryo" pitchFamily="34" charset="0"/>
                          <a:ea typeface="Meiryo" pitchFamily="34" charset="-122"/>
                          <a:cs typeface="Meiryo" pitchFamily="34" charset="-120"/>
                        </a:rPr>
                        <a:t>基本塾優遊 八坂西</a:t>
                      </a:r>
                      <a:endParaRPr lang="en-US" sz="110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850" dirty="0">
                          <a:solidFill>
                            <a:srgbClr val="222222"/>
                          </a:solidFill>
                          <a:latin typeface="Meiryo" pitchFamily="34" charset="0"/>
                          <a:ea typeface="Meiryo" pitchFamily="34" charset="-122"/>
                          <a:cs typeface="Meiryo" pitchFamily="34" charset="-120"/>
                        </a:rPr>
                        <a:t>NPO法人 基本塾</a:t>
                      </a:r>
                      <a:endParaRPr lang="en-US" sz="110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850" dirty="0">
                          <a:solidFill>
                            <a:srgbClr val="222222"/>
                          </a:solidFill>
                          <a:latin typeface="Meiryo" pitchFamily="34" charset="0"/>
                          <a:ea typeface="Meiryo" pitchFamily="34" charset="-122"/>
                          <a:cs typeface="Meiryo" pitchFamily="34" charset="-120"/>
                        </a:rPr>
                        <a:t>八坂台4-2-4</a:t>
                      </a:r>
                      <a:endParaRPr lang="en-US" sz="110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850" dirty="0">
                          <a:solidFill>
                            <a:srgbClr val="222222"/>
                          </a:solidFill>
                          <a:latin typeface="Meiryo" pitchFamily="34" charset="0"/>
                          <a:ea typeface="Meiryo" pitchFamily="34" charset="-122"/>
                          <a:cs typeface="Meiryo" pitchFamily="34" charset="-120"/>
                        </a:rPr>
                        <a:t>0475-51-6631／10名</a:t>
                      </a:r>
                      <a:endParaRPr lang="en-US" sz="110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850" dirty="0" u="sng">
                          <a:solidFill>
                            <a:srgbClr val="1F5FA8"/>
                          </a:solidFill>
                          <a:latin typeface="Meiryo" charset="0"/>
                          <a:ea typeface="Meiryo" charset="0"/>
                          <a:cs typeface="Meiryo" charset="0"/>
                          <a:hlinkClick r:id="rId7"/>
                        </a:rPr>
                        <a:t>kihonjuku-yuuyuu.com</a:t>
                      </a: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327660">
                <a:tc>
                  <a:txBody>
                    <a:bodyPr/>
                    <a:lstStyle/>
                    <a:p>
                      <a:pPr marL="0" indent="0" algn="ctr">
                        <a:buNone/>
                      </a:pPr>
                      <a:r>
                        <a:rPr lang="en-US" sz="850" b="1" dirty="0">
                          <a:solidFill>
                            <a:srgbClr val="222222"/>
                          </a:solidFill>
                          <a:latin typeface="Meiryo" pitchFamily="34" charset="0"/>
                          <a:ea typeface="Meiryo" pitchFamily="34" charset="-122"/>
                          <a:cs typeface="Meiryo" pitchFamily="34" charset="-120"/>
                        </a:rPr>
                        <a:t>⑤</a:t>
                      </a:r>
                      <a:endParaRPr lang="en-US" sz="110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850" b="1" dirty="0">
                          <a:solidFill>
                            <a:srgbClr val="222222"/>
                          </a:solidFill>
                          <a:latin typeface="Meiryo" pitchFamily="34" charset="0"/>
                          <a:ea typeface="Meiryo" pitchFamily="34" charset="-122"/>
                          <a:cs typeface="Meiryo" pitchFamily="34" charset="-120"/>
                        </a:rPr>
                        <a:t>エスポワール</a:t>
                      </a:r>
                      <a:endParaRPr lang="en-US" sz="110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850" dirty="0">
                          <a:solidFill>
                            <a:srgbClr val="222222"/>
                          </a:solidFill>
                          <a:latin typeface="Meiryo" pitchFamily="34" charset="0"/>
                          <a:ea typeface="Meiryo" pitchFamily="34" charset="-122"/>
                          <a:cs typeface="Meiryo" pitchFamily="34" charset="-120"/>
                        </a:rPr>
                        <a:t>コーエキ合同会社</a:t>
                      </a:r>
                      <a:endParaRPr lang="en-US" sz="110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850" dirty="0">
                          <a:solidFill>
                            <a:srgbClr val="222222"/>
                          </a:solidFill>
                          <a:latin typeface="Meiryo" pitchFamily="34" charset="0"/>
                          <a:ea typeface="Meiryo" pitchFamily="34" charset="-122"/>
                          <a:cs typeface="Meiryo" pitchFamily="34" charset="-120"/>
                        </a:rPr>
                        <a:t>田間2-56-10</a:t>
                      </a:r>
                      <a:endParaRPr lang="en-US" sz="110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850" dirty="0">
                          <a:solidFill>
                            <a:srgbClr val="222222"/>
                          </a:solidFill>
                          <a:latin typeface="Meiryo" pitchFamily="34" charset="0"/>
                          <a:ea typeface="Meiryo" pitchFamily="34" charset="-122"/>
                          <a:cs typeface="Meiryo" pitchFamily="34" charset="-120"/>
                        </a:rPr>
                        <a:t>0475-86-7988／10名</a:t>
                      </a:r>
                      <a:endParaRPr lang="en-US" sz="110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850" dirty="0" u="sng">
                          <a:solidFill>
                            <a:srgbClr val="1F5FA8"/>
                          </a:solidFill>
                          <a:latin typeface="Meiryo" charset="0"/>
                          <a:ea typeface="Meiryo" charset="0"/>
                          <a:cs typeface="Meiryo" charset="0"/>
                          <a:hlinkClick r:id="rId8"/>
                        </a:rPr>
                        <a:t>futaba-oami.com</a:t>
                      </a: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327660">
                <a:tc>
                  <a:txBody>
                    <a:bodyPr/>
                    <a:lstStyle/>
                    <a:p>
                      <a:pPr marL="0" indent="0" algn="ctr">
                        <a:buNone/>
                      </a:pPr>
                      <a:r>
                        <a:rPr lang="en-US" sz="850" b="1" dirty="0">
                          <a:solidFill>
                            <a:srgbClr val="222222"/>
                          </a:solidFill>
                          <a:latin typeface="Meiryo" pitchFamily="34" charset="0"/>
                          <a:ea typeface="Meiryo" pitchFamily="34" charset="-122"/>
                          <a:cs typeface="Meiryo" pitchFamily="34" charset="-120"/>
                        </a:rPr>
                        <a:t>⑤</a:t>
                      </a:r>
                      <a:endParaRPr lang="en-US" sz="110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850" b="1" dirty="0">
                          <a:solidFill>
                            <a:srgbClr val="222222"/>
                          </a:solidFill>
                          <a:latin typeface="Meiryo" pitchFamily="34" charset="0"/>
                          <a:ea typeface="Meiryo" pitchFamily="34" charset="-122"/>
                          <a:cs typeface="Meiryo" pitchFamily="34" charset="-120"/>
                        </a:rPr>
                        <a:t>エスポワール第2</a:t>
                      </a:r>
                      <a:endParaRPr lang="en-US" sz="110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850" dirty="0">
                          <a:solidFill>
                            <a:srgbClr val="222222"/>
                          </a:solidFill>
                          <a:latin typeface="Meiryo" pitchFamily="34" charset="0"/>
                          <a:ea typeface="Meiryo" pitchFamily="34" charset="-122"/>
                          <a:cs typeface="Meiryo" pitchFamily="34" charset="-120"/>
                        </a:rPr>
                        <a:t>コーエキ合同会社</a:t>
                      </a:r>
                      <a:endParaRPr lang="en-US" sz="110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850" dirty="0">
                          <a:solidFill>
                            <a:srgbClr val="222222"/>
                          </a:solidFill>
                          <a:latin typeface="Meiryo" pitchFamily="34" charset="0"/>
                          <a:ea typeface="Meiryo" pitchFamily="34" charset="-122"/>
                          <a:cs typeface="Meiryo" pitchFamily="34" charset="-120"/>
                        </a:rPr>
                        <a:t>道庭987-63</a:t>
                      </a:r>
                      <a:endParaRPr lang="en-US" sz="110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850" dirty="0">
                          <a:solidFill>
                            <a:srgbClr val="222222"/>
                          </a:solidFill>
                          <a:latin typeface="Meiryo" pitchFamily="34" charset="0"/>
                          <a:ea typeface="Meiryo" pitchFamily="34" charset="-122"/>
                          <a:cs typeface="Meiryo" pitchFamily="34" charset="-120"/>
                        </a:rPr>
                        <a:t>0475-55-6678／10名</a:t>
                      </a:r>
                      <a:endParaRPr lang="en-US" sz="110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850" dirty="0" u="sng">
                          <a:solidFill>
                            <a:srgbClr val="1F5FA8"/>
                          </a:solidFill>
                          <a:latin typeface="Meiryo" charset="0"/>
                          <a:ea typeface="Meiryo" charset="0"/>
                          <a:cs typeface="Meiryo" charset="0"/>
                          <a:hlinkClick r:id="rId8"/>
                        </a:rPr>
                        <a:t>futaba-oami.com</a:t>
                      </a: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327660">
                <a:tc>
                  <a:txBody>
                    <a:bodyPr/>
                    <a:lstStyle/>
                    <a:p>
                      <a:pPr marL="0" indent="0" algn="ctr">
                        <a:buNone/>
                      </a:pPr>
                      <a:r>
                        <a:rPr lang="en-US" sz="850" b="1" dirty="0">
                          <a:solidFill>
                            <a:srgbClr val="222222"/>
                          </a:solidFill>
                          <a:latin typeface="Meiryo" pitchFamily="34" charset="0"/>
                          <a:ea typeface="Meiryo" pitchFamily="34" charset="-122"/>
                          <a:cs typeface="Meiryo" pitchFamily="34" charset="-120"/>
                        </a:rPr>
                        <a:t>⑥</a:t>
                      </a:r>
                      <a:endParaRPr lang="en-US" sz="110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850" b="1" dirty="0">
                          <a:solidFill>
                            <a:srgbClr val="222222"/>
                          </a:solidFill>
                          <a:latin typeface="Meiryo" pitchFamily="34" charset="0"/>
                          <a:ea typeface="Meiryo" pitchFamily="34" charset="-122"/>
                          <a:cs typeface="Meiryo" pitchFamily="34" charset="-120"/>
                        </a:rPr>
                        <a:t>果実の木求名</a:t>
                      </a:r>
                      <a:endParaRPr lang="en-US" sz="110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850" dirty="0">
                          <a:solidFill>
                            <a:srgbClr val="222222"/>
                          </a:solidFill>
                          <a:latin typeface="Meiryo" pitchFamily="34" charset="0"/>
                          <a:ea typeface="Meiryo" pitchFamily="34" charset="-122"/>
                          <a:cs typeface="Meiryo" pitchFamily="34" charset="-120"/>
                        </a:rPr>
                        <a:t>株式会社清宝</a:t>
                      </a:r>
                      <a:endParaRPr lang="en-US" sz="110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850" dirty="0">
                          <a:solidFill>
                            <a:srgbClr val="222222"/>
                          </a:solidFill>
                          <a:latin typeface="Meiryo" pitchFamily="34" charset="0"/>
                          <a:ea typeface="Meiryo" pitchFamily="34" charset="-122"/>
                          <a:cs typeface="Meiryo" pitchFamily="34" charset="-120"/>
                        </a:rPr>
                        <a:t>求名465-14</a:t>
                      </a:r>
                      <a:endParaRPr lang="en-US" sz="110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850" dirty="0">
                          <a:solidFill>
                            <a:srgbClr val="222222"/>
                          </a:solidFill>
                          <a:latin typeface="Meiryo" pitchFamily="34" charset="0"/>
                          <a:ea typeface="Meiryo" pitchFamily="34" charset="-122"/>
                          <a:cs typeface="Meiryo" pitchFamily="34" charset="-120"/>
                        </a:rPr>
                        <a:t>080-3479-0543／未登録</a:t>
                      </a:r>
                      <a:endParaRPr lang="en-US" sz="110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850" dirty="0" u="sng">
                          <a:solidFill>
                            <a:srgbClr val="1F5FA8"/>
                          </a:solidFill>
                          <a:latin typeface="Meiryo" charset="0"/>
                          <a:ea typeface="Meiryo" charset="0"/>
                          <a:cs typeface="Meiryo" charset="0"/>
                          <a:hlinkClick r:id="rId9"/>
                        </a:rPr>
                        <a:t>houkagodei.com</a:t>
                      </a: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8" name="Text 5"/>
          <p:cNvSpPr/>
          <p:nvPr/>
        </p:nvSpPr>
        <p:spPr>
          <a:xfrm>
            <a:off x="502920" y="5870448"/>
            <a:ext cx="11201400" cy="566928"/>
          </a:xfrm>
          <a:prstGeom prst="rect">
            <a:avLst/>
          </a:prstGeom>
          <a:noFill/>
          <a:ln/>
        </p:spPr>
        <p:txBody>
          <a:bodyPr wrap="square" lIns="0" tIns="0" rIns="0" bIns="0" rtlCol="0" anchor="ctr"/>
          <a:lstStyle/>
          <a:p>
            <a:pPr marL="0" indent="0">
              <a:buNone/>
            </a:pPr>
            <a:r>
              <a:rPr lang="en-US" sz="1000" i="1" dirty="0">
                <a:solidFill>
                  <a:srgbClr val="666666"/>
                </a:solidFill>
                <a:latin typeface="Meiryo" pitchFamily="34" charset="0"/>
                <a:ea typeface="Meiryo" pitchFamily="34" charset="-122"/>
                <a:cs typeface="Meiryo" pitchFamily="34" charset="-120"/>
              </a:rPr>
              <a:t>典拠：千葉県「障害福祉サービス等情報公表システム」指定事業所一覧。法人名・所在地・TEL・定員はすべて同データの公表値。果実の木求名は提供時間・定員が同データに未登録。詳細頁（Ⅱ）は運営法人ごとに1枚へ集約（②〜⑤は複数拠点）。「HP」欄はクリックで該当ページを開きます。プログラム内容など同データにない項目は各事業所公式サイト等の公開情報による。</a:t>
            </a:r>
            <a:endParaRPr lang="en-US" sz="1000" dirty="0"/>
          </a:p>
        </p:txBody>
      </p:sp>
      <p:sp>
        <p:nvSpPr>
          <p:cNvPr id="9" name="Text 2">
            <a:extLst>
              <a:ext uri="{FF2B5EF4-FFF2-40B4-BE49-F238E27FC236}">
                <a16:creationId xmlns:a16="http://schemas.microsoft.com/office/drawing/2014/main" id="{AE6EA86F-D6CF-F073-0F92-8C04FD76AAC7}"/>
              </a:ext>
            </a:extLst>
          </p:cNvPr>
          <p:cNvSpPr/>
          <p:nvPr/>
        </p:nvSpPr>
        <p:spPr>
          <a:xfrm>
            <a:off x="502920" y="54864"/>
            <a:ext cx="8686800" cy="822960"/>
          </a:xfrm>
          <a:prstGeom prst="rect">
            <a:avLst/>
          </a:prstGeom>
          <a:noFill/>
          <a:ln/>
        </p:spPr>
        <p:txBody>
          <a:bodyPr wrap="square" lIns="0" tIns="0" rIns="0" bIns="0" rtlCol="0" anchor="ctr"/>
          <a:lstStyle/>
          <a:p>
            <a:pPr marL="0" indent="0">
              <a:buNone/>
            </a:pPr>
            <a:r>
              <a:rPr lang="en-US" sz="3000" b="1" dirty="0">
                <a:solidFill>
                  <a:srgbClr val="FFFFFF"/>
                </a:solidFill>
                <a:latin typeface="Meiryo" pitchFamily="34" charset="0"/>
                <a:ea typeface="Meiryo" pitchFamily="34" charset="-122"/>
                <a:cs typeface="Meiryo" pitchFamily="34" charset="-120"/>
              </a:rPr>
              <a:t>I．　対象事業所一覧</a:t>
            </a:r>
            <a:endParaRPr lang="en-US" sz="3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932688"/>
          </a:xfrm>
          <a:prstGeom prst="rect">
            <a:avLst/>
          </a:prstGeom>
          <a:solidFill>
            <a:srgbClr val="1B3A6B"/>
          </a:solidFill>
          <a:ln/>
        </p:spPr>
      </p:sp>
      <p:sp>
        <p:nvSpPr>
          <p:cNvPr id="3" name="Shape 1"/>
          <p:cNvSpPr/>
          <p:nvPr/>
        </p:nvSpPr>
        <p:spPr>
          <a:xfrm>
            <a:off x="0" y="0"/>
            <a:ext cx="164592" cy="932688"/>
          </a:xfrm>
          <a:prstGeom prst="rect">
            <a:avLst/>
          </a:prstGeom>
          <a:solidFill>
            <a:srgbClr val="13294B"/>
          </a:solidFill>
          <a:ln/>
        </p:spPr>
      </p:sp>
      <p:sp>
        <p:nvSpPr>
          <p:cNvPr id="4" name="Text 2"/>
          <p:cNvSpPr/>
          <p:nvPr/>
        </p:nvSpPr>
        <p:spPr>
          <a:xfrm>
            <a:off x="502920" y="54864"/>
            <a:ext cx="8686800" cy="822960"/>
          </a:xfrm>
          <a:prstGeom prst="rect">
            <a:avLst/>
          </a:prstGeom>
          <a:noFill/>
          <a:ln/>
        </p:spPr>
        <p:txBody>
          <a:bodyPr wrap="square" lIns="0" tIns="0" rIns="0" bIns="0" rtlCol="0" anchor="ctr"/>
          <a:lstStyle/>
          <a:p>
            <a:pPr marL="0" indent="0">
              <a:buNone/>
            </a:pPr>
            <a:r>
              <a:rPr lang="en-US" sz="3000" b="1" dirty="0">
                <a:solidFill>
                  <a:srgbClr val="FFFFFF"/>
                </a:solidFill>
                <a:latin typeface="Meiryo" pitchFamily="34" charset="0"/>
                <a:ea typeface="Meiryo" pitchFamily="34" charset="-122"/>
                <a:cs typeface="Meiryo" pitchFamily="34" charset="-120"/>
              </a:rPr>
              <a:t>II．　事業所別 詳細</a:t>
            </a:r>
            <a:endParaRPr lang="en-US" sz="3000" dirty="0"/>
          </a:p>
        </p:txBody>
      </p:sp>
      <p:sp>
        <p:nvSpPr>
          <p:cNvPr id="5" name="Text 3"/>
          <p:cNvSpPr/>
          <p:nvPr/>
        </p:nvSpPr>
        <p:spPr>
          <a:xfrm>
            <a:off x="502920" y="1115568"/>
            <a:ext cx="8503920" cy="457200"/>
          </a:xfrm>
          <a:prstGeom prst="rect">
            <a:avLst/>
          </a:prstGeom>
          <a:noFill/>
          <a:ln/>
        </p:spPr>
        <p:txBody>
          <a:bodyPr wrap="square" lIns="0" tIns="0" rIns="0" bIns="0" rtlCol="0" anchor="ctr"/>
          <a:lstStyle/>
          <a:p>
            <a:pPr marL="0" indent="0">
              <a:buNone/>
            </a:pPr>
            <a:r>
              <a:rPr lang="en-US" sz="2100" b="1" dirty="0">
                <a:solidFill>
                  <a:srgbClr val="222222"/>
                </a:solidFill>
                <a:latin typeface="Meiryo" pitchFamily="34" charset="0"/>
                <a:ea typeface="Meiryo" pitchFamily="34" charset="-122"/>
                <a:cs typeface="Meiryo" pitchFamily="34" charset="-120"/>
              </a:rPr>
              <a:t>① 東金市簡易マザーズホーム</a:t>
            </a:r>
            <a:endParaRPr lang="en-US" sz="2100" dirty="0"/>
          </a:p>
        </p:txBody>
      </p:sp>
      <p:sp>
        <p:nvSpPr>
          <p:cNvPr id="6" name="Shape 4"/>
          <p:cNvSpPr/>
          <p:nvPr/>
        </p:nvSpPr>
        <p:spPr>
          <a:xfrm>
            <a:off x="10104120" y="1170432"/>
            <a:ext cx="1600200" cy="457200"/>
          </a:xfrm>
          <a:prstGeom prst="rect">
            <a:avLst/>
          </a:prstGeom>
          <a:solidFill>
            <a:srgbClr val="FFFFFF"/>
          </a:solidFill>
          <a:ln w="15875">
            <a:solidFill>
              <a:srgbClr val="1B3A6B"/>
            </a:solidFill>
            <a:prstDash val="solid"/>
          </a:ln>
        </p:spPr>
      </p:sp>
      <p:sp>
        <p:nvSpPr>
          <p:cNvPr id="7" name="Text 5"/>
          <p:cNvSpPr/>
          <p:nvPr/>
        </p:nvSpPr>
        <p:spPr>
          <a:xfrm>
            <a:off x="10104120" y="1170432"/>
            <a:ext cx="1600200" cy="457200"/>
          </a:xfrm>
          <a:prstGeom prst="rect">
            <a:avLst/>
          </a:prstGeom>
          <a:noFill/>
          <a:ln/>
        </p:spPr>
        <p:txBody>
          <a:bodyPr wrap="square" lIns="0" tIns="0" rIns="0" bIns="0" rtlCol="0" anchor="ctr"/>
          <a:lstStyle/>
          <a:p>
            <a:pPr marL="0" indent="0" algn="ctr">
              <a:buNone/>
            </a:pPr>
            <a:r>
              <a:rPr lang="en-US" sz="1400" b="1" dirty="0">
                <a:solidFill>
                  <a:srgbClr val="1B3A6B"/>
                </a:solidFill>
                <a:latin typeface="Meiryo" pitchFamily="34" charset="0"/>
                <a:ea typeface="Meiryo" pitchFamily="34" charset="-122"/>
                <a:cs typeface="Meiryo" pitchFamily="34" charset="-120"/>
              </a:rPr>
              <a:t>東金市</a:t>
            </a:r>
            <a:endParaRPr lang="en-US" sz="1400" dirty="0"/>
          </a:p>
        </p:txBody>
      </p:sp>
      <p:sp>
        <p:nvSpPr>
          <p:cNvPr id="8" name="Text 6"/>
          <p:cNvSpPr/>
          <p:nvPr/>
        </p:nvSpPr>
        <p:spPr>
          <a:xfrm>
            <a:off x="502920" y="6510528"/>
            <a:ext cx="7315200" cy="274320"/>
          </a:xfrm>
          <a:prstGeom prst="rect">
            <a:avLst/>
          </a:prstGeom>
          <a:noFill/>
          <a:ln/>
        </p:spPr>
        <p:txBody>
          <a:bodyPr wrap="square" lIns="0" tIns="0" rIns="0" bIns="0" rtlCol="0" anchor="ctr"/>
          <a:lstStyle/>
          <a:p>
            <a:pPr marL="0" indent="0">
              <a:buNone/>
            </a:pPr>
            <a:r>
              <a:rPr lang="en-US" sz="850" dirty="0">
                <a:solidFill>
                  <a:srgbClr val="666666"/>
                </a:solidFill>
                <a:latin typeface="Meiryo" pitchFamily="34" charset="0"/>
                <a:ea typeface="Meiryo" pitchFamily="34" charset="-122"/>
                <a:cs typeface="Meiryo" pitchFamily="34" charset="-120"/>
              </a:rPr>
              <a:t>Copyright Funai Soken Group. All rights reserved.</a:t>
            </a:r>
            <a:endParaRPr lang="en-US" sz="850" dirty="0"/>
          </a:p>
        </p:txBody>
      </p:sp>
      <p:sp>
        <p:nvSpPr>
          <p:cNvPr id="9" name="Shape 7"/>
          <p:cNvSpPr/>
          <p:nvPr/>
        </p:nvSpPr>
        <p:spPr>
          <a:xfrm>
            <a:off x="502920" y="1783080"/>
            <a:ext cx="6903720" cy="4434840"/>
          </a:xfrm>
          <a:prstGeom prst="rect">
            <a:avLst/>
          </a:prstGeom>
          <a:solidFill>
            <a:srgbClr val="FFFFFF"/>
          </a:solidFill>
          <a:ln w="12700">
            <a:solidFill>
              <a:srgbClr val="9AA7B8"/>
            </a:solidFill>
            <a:prstDash val="solid"/>
          </a:ln>
          <a:effectLst>
            <a:outerShdw blurRad="63500" dist="25400" dir="8100000" algn="bl" rotWithShape="0">
              <a:srgbClr val="000000">
                <a:alpha val="12000"/>
              </a:srgbClr>
            </a:outerShdw>
          </a:effectLst>
        </p:spPr>
      </p:sp>
      <p:sp>
        <p:nvSpPr>
          <p:cNvPr id="10" name="Text 8"/>
          <p:cNvSpPr/>
          <p:nvPr/>
        </p:nvSpPr>
        <p:spPr>
          <a:xfrm>
            <a:off x="704088" y="1911096"/>
            <a:ext cx="6501384" cy="384048"/>
          </a:xfrm>
          <a:prstGeom prst="rect">
            <a:avLst/>
          </a:prstGeom>
          <a:noFill/>
          <a:ln/>
        </p:spPr>
        <p:txBody>
          <a:bodyPr wrap="square" lIns="0" tIns="0" rIns="0" bIns="0" rtlCol="0" anchor="ctr"/>
          <a:lstStyle/>
          <a:p>
            <a:pPr marL="0" indent="0">
              <a:buNone/>
            </a:pPr>
            <a:r>
              <a:rPr lang="en-US" sz="1400" b="1" dirty="0">
                <a:solidFill>
                  <a:srgbClr val="1B3A6B"/>
                </a:solidFill>
                <a:latin typeface="Meiryo" pitchFamily="34" charset="0"/>
                <a:ea typeface="Meiryo" pitchFamily="34" charset="-122"/>
                <a:cs typeface="Meiryo" pitchFamily="34" charset="-120"/>
              </a:rPr>
              <a:t>東金市簡易マザーズホーム（設置：東金市／指定管理者：社会福祉法人 東金市社会福祉協議会）</a:t>
            </a:r>
            <a:endParaRPr lang="en-US" sz="1400" dirty="0"/>
          </a:p>
        </p:txBody>
      </p:sp>
      <p:sp>
        <p:nvSpPr>
          <p:cNvPr id="11" name="Text 9"/>
          <p:cNvSpPr/>
          <p:nvPr/>
        </p:nvSpPr>
        <p:spPr>
          <a:xfrm>
            <a:off x="704088" y="2331720"/>
            <a:ext cx="6501384" cy="3813048"/>
          </a:xfrm>
          <a:prstGeom prst="rect">
            <a:avLst/>
          </a:prstGeom>
          <a:noFill/>
          <a:ln/>
        </p:spPr>
        <p:txBody>
          <a:bodyPr wrap="square" lIns="0" tIns="0" rIns="0" bIns="0" rtlCol="0" anchor="t"/>
          <a:lstStyle/>
          <a:p>
            <a:pPr marL="0" indent="0">
              <a:lnSpc>
                <a:spcPct val="103000"/>
              </a:lnSpc>
              <a:buNone/>
            </a:pPr>
            <a:r>
              <a:rPr lang="en-US" sz="1050" b="1" dirty="0">
                <a:solidFill>
                  <a:srgbClr val="2E6BB8"/>
                </a:solidFill>
                <a:latin typeface="Meiryo" pitchFamily="34" charset="0"/>
                <a:ea typeface="Meiryo" pitchFamily="34" charset="-122"/>
                <a:cs typeface="Meiryo" pitchFamily="34" charset="-120"/>
              </a:rPr>
              <a:t>▶</a:t>
            </a:r>
            <a:r>
              <a:rPr lang="en-US" sz="1050" b="1" dirty="0">
                <a:solidFill>
                  <a:srgbClr val="222222"/>
                </a:solidFill>
                <a:latin typeface="Meiryo" pitchFamily="34" charset="0"/>
                <a:ea typeface="Meiryo" pitchFamily="34" charset="-122"/>
                <a:cs typeface="Meiryo" pitchFamily="34" charset="-120"/>
              </a:rPr>
              <a:t>対象：</a:t>
            </a:r>
            <a:r>
              <a:rPr lang="en-US" sz="1050" dirty="0">
                <a:solidFill>
                  <a:srgbClr val="222222"/>
                </a:solidFill>
                <a:latin typeface="Meiryo" pitchFamily="34" charset="0"/>
                <a:ea typeface="Meiryo" pitchFamily="34" charset="-122"/>
                <a:cs typeface="Meiryo" pitchFamily="34" charset="-120"/>
              </a:rPr>
              <a:t>市内在住の心身に障がいのある就学前児童　※保護者と共に通所できる方（伝染性疾病のない方）が原則</a:t>
            </a:r>
            <a:endParaRPr lang="en-US" sz="1050" dirty="0"/>
          </a:p>
          <a:p>
            <a:pPr marL="0" indent="0">
              <a:lnSpc>
                <a:spcPct val="103000"/>
              </a:lnSpc>
              <a:buNone/>
            </a:pPr>
            <a:r>
              <a:rPr lang="en-US" sz="1050" b="1" dirty="0">
                <a:solidFill>
                  <a:srgbClr val="2E6BB8"/>
                </a:solidFill>
                <a:latin typeface="Meiryo" pitchFamily="34" charset="0"/>
                <a:ea typeface="Meiryo" pitchFamily="34" charset="-122"/>
                <a:cs typeface="Meiryo" pitchFamily="34" charset="-120"/>
              </a:rPr>
              <a:t>▶</a:t>
            </a:r>
            <a:r>
              <a:rPr lang="en-US" sz="1050" b="1" dirty="0">
                <a:solidFill>
                  <a:srgbClr val="222222"/>
                </a:solidFill>
                <a:latin typeface="Meiryo" pitchFamily="34" charset="0"/>
                <a:ea typeface="Meiryo" pitchFamily="34" charset="-122"/>
                <a:cs typeface="Meiryo" pitchFamily="34" charset="-120"/>
              </a:rPr>
              <a:t>所在地：</a:t>
            </a:r>
            <a:r>
              <a:rPr lang="en-US" sz="1050" dirty="0">
                <a:solidFill>
                  <a:srgbClr val="222222"/>
                </a:solidFill>
                <a:latin typeface="Meiryo" pitchFamily="34" charset="0"/>
                <a:ea typeface="Meiryo" pitchFamily="34" charset="-122"/>
                <a:cs typeface="Meiryo" pitchFamily="34" charset="-120"/>
              </a:rPr>
              <a:t>千葉県東金市田間三丁目9番地1　東金市ふれあいセンター（保健福祉センター）2階</a:t>
            </a:r>
            <a:endParaRPr lang="en-US" sz="1050" dirty="0"/>
          </a:p>
          <a:p>
            <a:pPr marL="0" indent="0">
              <a:lnSpc>
                <a:spcPct val="103000"/>
              </a:lnSpc>
              <a:buNone/>
            </a:pPr>
            <a:r>
              <a:rPr lang="en-US" sz="1050" b="1" dirty="0">
                <a:solidFill>
                  <a:srgbClr val="2E6BB8"/>
                </a:solidFill>
                <a:latin typeface="Meiryo" pitchFamily="34" charset="0"/>
                <a:ea typeface="Meiryo" pitchFamily="34" charset="-122"/>
                <a:cs typeface="Meiryo" pitchFamily="34" charset="-120"/>
              </a:rPr>
              <a:t>▶</a:t>
            </a:r>
            <a:r>
              <a:rPr lang="en-US" sz="1050" b="1" dirty="0">
                <a:solidFill>
                  <a:srgbClr val="222222"/>
                </a:solidFill>
                <a:latin typeface="Meiryo" pitchFamily="34" charset="0"/>
                <a:ea typeface="Meiryo" pitchFamily="34" charset="-122"/>
                <a:cs typeface="Meiryo" pitchFamily="34" charset="-120"/>
              </a:rPr>
              <a:t>TEL／FAX／HP：</a:t>
            </a:r>
            <a:r>
              <a:rPr lang="en-US" sz="1050" dirty="0">
                <a:solidFill>
                  <a:srgbClr val="222222"/>
                </a:solidFill>
                <a:latin typeface="Meiryo" pitchFamily="34" charset="0"/>
                <a:ea typeface="Meiryo" pitchFamily="34" charset="-122"/>
                <a:cs typeface="Meiryo" pitchFamily="34" charset="-120"/>
              </a:rPr>
              <a:t>0475-54-1197 ／ 0475-52-8227 ／ togane-shakyo.jp/mothershome.html</a:t>
            </a:r>
            <a:endParaRPr lang="en-US" sz="1050" dirty="0"/>
          </a:p>
          <a:p>
            <a:pPr marL="0" indent="0">
              <a:lnSpc>
                <a:spcPct val="103000"/>
              </a:lnSpc>
              <a:buNone/>
            </a:pPr>
            <a:r>
              <a:rPr lang="en-US" sz="1050" b="1" dirty="0">
                <a:solidFill>
                  <a:srgbClr val="2E6BB8"/>
                </a:solidFill>
                <a:latin typeface="Meiryo" pitchFamily="34" charset="0"/>
                <a:ea typeface="Meiryo" pitchFamily="34" charset="-122"/>
                <a:cs typeface="Meiryo" pitchFamily="34" charset="-120"/>
              </a:rPr>
              <a:t>▶</a:t>
            </a:r>
            <a:r>
              <a:rPr lang="en-US" sz="1050" b="1" dirty="0">
                <a:solidFill>
                  <a:srgbClr val="222222"/>
                </a:solidFill>
                <a:latin typeface="Meiryo" pitchFamily="34" charset="0"/>
                <a:ea typeface="Meiryo" pitchFamily="34" charset="-122"/>
                <a:cs typeface="Meiryo" pitchFamily="34" charset="-120"/>
              </a:rPr>
              <a:t>提供時間：</a:t>
            </a:r>
            <a:r>
              <a:rPr lang="en-US" sz="1050" dirty="0">
                <a:solidFill>
                  <a:srgbClr val="222222"/>
                </a:solidFill>
                <a:latin typeface="Meiryo" pitchFamily="34" charset="0"/>
                <a:ea typeface="Meiryo" pitchFamily="34" charset="-122"/>
                <a:cs typeface="Meiryo" pitchFamily="34" charset="-120"/>
              </a:rPr>
              <a:t>平日 9:30〜14:00　※土曜・日曜・祝日の開所なし</a:t>
            </a:r>
            <a:endParaRPr lang="en-US" sz="1050" dirty="0"/>
          </a:p>
          <a:p>
            <a:pPr marL="0" indent="0">
              <a:lnSpc>
                <a:spcPct val="103000"/>
              </a:lnSpc>
              <a:buNone/>
            </a:pPr>
            <a:r>
              <a:rPr lang="en-US" sz="1050" b="1" dirty="0">
                <a:solidFill>
                  <a:srgbClr val="2E6BB8"/>
                </a:solidFill>
                <a:latin typeface="Meiryo" pitchFamily="34" charset="0"/>
                <a:ea typeface="Meiryo" pitchFamily="34" charset="-122"/>
                <a:cs typeface="Meiryo" pitchFamily="34" charset="-120"/>
              </a:rPr>
              <a:t>▶</a:t>
            </a:r>
            <a:r>
              <a:rPr lang="en-US" sz="1050" b="1" dirty="0">
                <a:solidFill>
                  <a:srgbClr val="222222"/>
                </a:solidFill>
                <a:latin typeface="Meiryo" pitchFamily="34" charset="0"/>
                <a:ea typeface="Meiryo" pitchFamily="34" charset="-122"/>
                <a:cs typeface="Meiryo" pitchFamily="34" charset="-120"/>
              </a:rPr>
              <a:t>定休日：</a:t>
            </a:r>
            <a:r>
              <a:rPr lang="en-US" sz="1050" dirty="0">
                <a:solidFill>
                  <a:srgbClr val="222222"/>
                </a:solidFill>
                <a:latin typeface="Meiryo" pitchFamily="34" charset="0"/>
                <a:ea typeface="Meiryo" pitchFamily="34" charset="-122"/>
                <a:cs typeface="Meiryo" pitchFamily="34" charset="-120"/>
              </a:rPr>
              <a:t>土曜・日曜・祝日、年末年始</a:t>
            </a:r>
            <a:endParaRPr lang="en-US" sz="1050" dirty="0"/>
          </a:p>
          <a:p>
            <a:pPr marL="0" indent="0">
              <a:lnSpc>
                <a:spcPct val="103000"/>
              </a:lnSpc>
              <a:buNone/>
            </a:pPr>
            <a:r>
              <a:rPr lang="en-US" sz="1050" b="1" dirty="0">
                <a:solidFill>
                  <a:srgbClr val="2E6BB8"/>
                </a:solidFill>
                <a:latin typeface="Meiryo" pitchFamily="34" charset="0"/>
                <a:ea typeface="Meiryo" pitchFamily="34" charset="-122"/>
                <a:cs typeface="Meiryo" pitchFamily="34" charset="-120"/>
              </a:rPr>
              <a:t>▶</a:t>
            </a:r>
            <a:r>
              <a:rPr lang="en-US" sz="1050" b="1" dirty="0">
                <a:solidFill>
                  <a:srgbClr val="222222"/>
                </a:solidFill>
                <a:latin typeface="Meiryo" pitchFamily="34" charset="0"/>
                <a:ea typeface="Meiryo" pitchFamily="34" charset="-122"/>
                <a:cs typeface="Meiryo" pitchFamily="34" charset="-120"/>
              </a:rPr>
              <a:t>定員／事業所番号：</a:t>
            </a:r>
            <a:r>
              <a:rPr lang="en-US" sz="1050" dirty="0">
                <a:solidFill>
                  <a:srgbClr val="222222"/>
                </a:solidFill>
                <a:latin typeface="Meiryo" pitchFamily="34" charset="0"/>
                <a:ea typeface="Meiryo" pitchFamily="34" charset="-122"/>
                <a:cs typeface="Meiryo" pitchFamily="34" charset="-120"/>
              </a:rPr>
              <a:t>15名（市内最大。民間10事業所はいずれも10名） ／ 1250800016</a:t>
            </a:r>
            <a:endParaRPr lang="en-US" sz="1050" dirty="0"/>
          </a:p>
          <a:p>
            <a:pPr marL="0" indent="0">
              <a:lnSpc>
                <a:spcPct val="103000"/>
              </a:lnSpc>
              <a:spcAft>
                <a:spcPts val="500"/>
              </a:spcAft>
              <a:buNone/>
            </a:pPr>
            <a:endParaRPr lang="en-US" sz="1050" dirty="0"/>
          </a:p>
          <a:p>
            <a:pPr marL="0" indent="0">
              <a:lnSpc>
                <a:spcPct val="103000"/>
              </a:lnSpc>
              <a:buNone/>
            </a:pPr>
            <a:r>
              <a:rPr lang="en-US" sz="1050" b="1" dirty="0">
                <a:solidFill>
                  <a:srgbClr val="2E6BB8"/>
                </a:solidFill>
                <a:latin typeface="Meiryo" pitchFamily="34" charset="0"/>
                <a:ea typeface="Meiryo" pitchFamily="34" charset="-122"/>
                <a:cs typeface="Meiryo" pitchFamily="34" charset="-120"/>
              </a:rPr>
              <a:t>▶</a:t>
            </a:r>
            <a:r>
              <a:rPr lang="en-US" sz="1050" b="1" dirty="0">
                <a:solidFill>
                  <a:srgbClr val="222222"/>
                </a:solidFill>
                <a:latin typeface="Meiryo" pitchFamily="34" charset="0"/>
                <a:ea typeface="Meiryo" pitchFamily="34" charset="-122"/>
                <a:cs typeface="Meiryo" pitchFamily="34" charset="-120"/>
              </a:rPr>
              <a:t>療育プログラムの特徴：</a:t>
            </a:r>
            <a:r>
              <a:rPr lang="en-US" sz="1050" dirty="0">
                <a:solidFill>
                  <a:srgbClr val="222222"/>
                </a:solidFill>
                <a:latin typeface="Meiryo" pitchFamily="34" charset="0"/>
                <a:ea typeface="Meiryo" pitchFamily="34" charset="-122"/>
                <a:cs typeface="Meiryo" pitchFamily="34" charset="-120"/>
              </a:rPr>
              <a:t>生活を支援することで児童の発達を援助することを目的とする。</a:t>
            </a:r>
            <a:endParaRPr lang="en-US" sz="1050" dirty="0"/>
          </a:p>
          <a:p>
            <a:pPr marL="0" indent="0">
              <a:lnSpc>
                <a:spcPct val="103000"/>
              </a:lnSpc>
              <a:spcAft>
                <a:spcPts val="500"/>
              </a:spcAft>
              <a:buNone/>
            </a:pPr>
            <a:r>
              <a:rPr lang="en-US" sz="1050" dirty="0">
                <a:solidFill>
                  <a:srgbClr val="222222"/>
                </a:solidFill>
                <a:latin typeface="Meiryo" pitchFamily="34" charset="0"/>
                <a:ea typeface="Meiryo" pitchFamily="34" charset="-122"/>
                <a:cs typeface="Meiryo" pitchFamily="34" charset="-120"/>
              </a:rPr>
              <a:t>・運動、おもちゃ・ゲームなどのあそびを用いたグループ活動が支援の中心。</a:t>
            </a:r>
            <a:endParaRPr lang="en-US" sz="1050" dirty="0"/>
          </a:p>
          <a:p>
            <a:pPr marL="0" indent="0">
              <a:lnSpc>
                <a:spcPct val="103000"/>
              </a:lnSpc>
              <a:spcAft>
                <a:spcPts val="500"/>
              </a:spcAft>
              <a:buNone/>
            </a:pPr>
            <a:r>
              <a:rPr lang="en-US" sz="1050" dirty="0">
                <a:solidFill>
                  <a:srgbClr val="222222"/>
                </a:solidFill>
                <a:latin typeface="Meiryo" pitchFamily="34" charset="0"/>
                <a:ea typeface="Meiryo" pitchFamily="34" charset="-122"/>
                <a:cs typeface="Meiryo" pitchFamily="34" charset="-120"/>
              </a:rPr>
              <a:t>・利用には社会福祉課 障がいサービス係（0475-50-1232）への支給申請と面接調査が必要。</a:t>
            </a:r>
            <a:endParaRPr lang="en-US" sz="1050" dirty="0"/>
          </a:p>
          <a:p>
            <a:pPr marL="0" indent="0">
              <a:lnSpc>
                <a:spcPct val="103000"/>
              </a:lnSpc>
              <a:spcAft>
                <a:spcPts val="500"/>
              </a:spcAft>
              <a:buNone/>
            </a:pPr>
            <a:endParaRPr lang="en-US" sz="1050" dirty="0"/>
          </a:p>
          <a:p>
            <a:pPr marL="0" indent="0">
              <a:lnSpc>
                <a:spcPct val="103000"/>
              </a:lnSpc>
              <a:buNone/>
            </a:pPr>
            <a:r>
              <a:rPr lang="en-US" sz="1050" b="1" dirty="0">
                <a:solidFill>
                  <a:srgbClr val="2E6BB8"/>
                </a:solidFill>
                <a:latin typeface="Meiryo" pitchFamily="34" charset="0"/>
                <a:ea typeface="Meiryo" pitchFamily="34" charset="-122"/>
                <a:cs typeface="Meiryo" pitchFamily="34" charset="-120"/>
              </a:rPr>
              <a:t>▶</a:t>
            </a:r>
            <a:r>
              <a:rPr lang="en-US" sz="1050" b="1" dirty="0">
                <a:solidFill>
                  <a:srgbClr val="222222"/>
                </a:solidFill>
                <a:latin typeface="Meiryo" pitchFamily="34" charset="0"/>
                <a:ea typeface="Meiryo" pitchFamily="34" charset="-122"/>
                <a:cs typeface="Meiryo" pitchFamily="34" charset="-120"/>
              </a:rPr>
              <a:t>出典：</a:t>
            </a:r>
            <a:r>
              <a:rPr lang="en-US" sz="1050" dirty="0">
                <a:solidFill>
                  <a:srgbClr val="222222"/>
                </a:solidFill>
                <a:latin typeface="Meiryo" pitchFamily="34" charset="0"/>
                <a:ea typeface="Meiryo" pitchFamily="34" charset="-122"/>
                <a:cs typeface="Meiryo" pitchFamily="34" charset="-120"/>
              </a:rPr>
              <a:t>千葉県 障害福祉サービス等情報公表システム／東金市公式サイト／東金市社会福祉協議会</a:t>
            </a:r>
            <a:endParaRPr lang="en-US" sz="1050" dirty="0"/>
          </a:p>
          <a:p>
            <a:pPr marL="0" indent="0">
              <a:lnSpc>
                <a:spcPct val="103000"/>
              </a:lnSpc>
              <a:buNone/>
            </a:pPr>
            <a:r>
              <a:rPr lang="en-US" sz="1050" b="1" dirty="0">
                <a:solidFill>
                  <a:srgbClr val="2E6BB8"/>
                </a:solidFill>
                <a:latin typeface="Meiryo" pitchFamily="34" charset="0"/>
                <a:ea typeface="Meiryo" pitchFamily="34" charset="-122"/>
                <a:cs typeface="Meiryo" pitchFamily="34" charset="-120"/>
              </a:rPr>
              <a:t>▶</a:t>
            </a:r>
            <a:r>
              <a:rPr lang="en-US" sz="1050" b="1" dirty="0">
                <a:solidFill>
                  <a:srgbClr val="222222"/>
                </a:solidFill>
                <a:latin typeface="Meiryo" pitchFamily="34" charset="0"/>
                <a:ea typeface="Meiryo" pitchFamily="34" charset="-122"/>
                <a:cs typeface="Meiryo" pitchFamily="34" charset="-120"/>
              </a:rPr>
              <a:t>要確認事項：</a:t>
            </a:r>
            <a:r>
              <a:rPr lang="en-US" sz="1050" dirty="0">
                <a:solidFill>
                  <a:srgbClr val="222222"/>
                </a:solidFill>
                <a:latin typeface="Meiryo" pitchFamily="34" charset="0"/>
                <a:ea typeface="Meiryo" pitchFamily="34" charset="-122"/>
                <a:cs typeface="Meiryo" pitchFamily="34" charset="-120"/>
              </a:rPr>
              <a:t>現在の空き状況、送迎の有無、保護者同伴の運用実態、放課後等デイサービスの対象学年</a:t>
            </a:r>
            <a:endParaRPr lang="en-US" sz="1050" dirty="0"/>
          </a:p>
        </p:txBody>
      </p:sp>
      <p:sp>
        <p:nvSpPr>
          <p:cNvPr id="13" name="Text 11"/>
          <p:cNvSpPr/>
          <p:nvPr/>
        </p:nvSpPr>
        <p:spPr>
          <a:xfrm>
            <a:off x="7635240" y="1783080"/>
            <a:ext cx="4069080" cy="2148840"/>
          </a:xfrm>
          <a:prstGeom prst="rect">
            <a:avLst/>
          </a:prstGeom>
          <a:solidFill>
            <a:srgbClr val="F4F6FA"/>
          </a:solidFill>
          <a:ln w="12700">
            <a:solidFill>
              <a:srgbClr val="9AA7B8"/>
            </a:solidFill>
            <a:prstDash val="dash"/>
          </a:ln>
        </p:spPr>
        <p:txBody>
          <a:bodyPr wrap="square" lIns="91440" tIns="45720" rIns="91440" bIns="45720" rtlCol="0" anchor="ctr"/>
          <a:lstStyle/>
          <a:p>
            <a:pPr marL="0" indent="0" algn="ctr">
              <a:lnSpc>
                <a:spcPct val="110000"/>
              </a:lnSpc>
              <a:buNone/>
            </a:pPr>
            <a:r>
              <a:rPr lang="en-US" sz="1200" b="1" dirty="0">
                <a:solidFill>
                  <a:srgbClr val="8A99AD"/>
                </a:solidFill>
                <a:latin typeface="Meiryo" pitchFamily="34" charset="0"/>
                <a:ea typeface="Meiryo" pitchFamily="34" charset="-122"/>
                <a:cs typeface="Meiryo" pitchFamily="34" charset="-120"/>
              </a:rPr>
              <a:t>［ 写真挿入エリア ］</a:t>
            </a:r>
            <a:endParaRPr lang="en-US" sz="1200" dirty="0"/>
          </a:p>
          <a:p>
            <a:pPr marL="0" indent="0" algn="ctr">
              <a:lnSpc>
                <a:spcPct val="110000"/>
              </a:lnSpc>
              <a:buNone/>
            </a:pPr>
            <a:r>
              <a:rPr lang="en-US" sz="950" dirty="0">
                <a:solidFill>
                  <a:srgbClr val="97A4B6"/>
                </a:solidFill>
                <a:latin typeface="Meiryo" pitchFamily="34" charset="0"/>
                <a:ea typeface="Meiryo" pitchFamily="34" charset="-122"/>
                <a:cs typeface="Meiryo" pitchFamily="34" charset="-120"/>
              </a:rPr>
              <a:t>（東金市社会福祉協議会 togane-shakyo.jp／東金市公式サイト掲載の施設写真を挿入）</a:t>
            </a:r>
            <a:endParaRPr lang="en-US" sz="1200" dirty="0"/>
          </a:p>
        </p:txBody>
      </p:sp>
      <p:sp>
        <p:nvSpPr>
          <p:cNvPr id="14" name="Shape 12"/>
          <p:cNvSpPr/>
          <p:nvPr/>
        </p:nvSpPr>
        <p:spPr>
          <a:xfrm>
            <a:off x="7635240" y="4069080"/>
            <a:ext cx="4069080" cy="2148840"/>
          </a:xfrm>
          <a:prstGeom prst="rect">
            <a:avLst/>
          </a:prstGeom>
          <a:solidFill>
            <a:srgbClr val="EEF2F8"/>
          </a:solidFill>
          <a:ln w="12700">
            <a:solidFill>
              <a:srgbClr val="9AA7B8"/>
            </a:solidFill>
            <a:prstDash val="solid"/>
          </a:ln>
        </p:spPr>
      </p:sp>
      <p:sp>
        <p:nvSpPr>
          <p:cNvPr id="15" name="Text 13"/>
          <p:cNvSpPr/>
          <p:nvPr/>
        </p:nvSpPr>
        <p:spPr>
          <a:xfrm>
            <a:off x="7818120" y="4187952"/>
            <a:ext cx="3703320" cy="320040"/>
          </a:xfrm>
          <a:prstGeom prst="rect">
            <a:avLst/>
          </a:prstGeom>
          <a:noFill/>
          <a:ln/>
        </p:spPr>
        <p:txBody>
          <a:bodyPr wrap="square" lIns="0" tIns="0" rIns="0" bIns="0" rtlCol="0" anchor="ctr"/>
          <a:lstStyle/>
          <a:p>
            <a:pPr marL="0" indent="0">
              <a:buNone/>
            </a:pPr>
            <a:r>
              <a:rPr lang="en-US" sz="1250" b="1" dirty="0">
                <a:solidFill>
                  <a:srgbClr val="1B3A6B"/>
                </a:solidFill>
                <a:latin typeface="Meiryo" pitchFamily="34" charset="0"/>
                <a:ea typeface="Meiryo" pitchFamily="34" charset="-122"/>
                <a:cs typeface="Meiryo" pitchFamily="34" charset="-120"/>
              </a:rPr>
              <a:t>注目ポイント</a:t>
            </a:r>
            <a:endParaRPr lang="en-US" sz="1250" dirty="0"/>
          </a:p>
        </p:txBody>
      </p:sp>
      <p:sp>
        <p:nvSpPr>
          <p:cNvPr id="16" name="Text 14"/>
          <p:cNvSpPr/>
          <p:nvPr/>
        </p:nvSpPr>
        <p:spPr>
          <a:xfrm>
            <a:off x="7818120" y="4553712"/>
            <a:ext cx="3703320" cy="1554480"/>
          </a:xfrm>
          <a:prstGeom prst="rect">
            <a:avLst/>
          </a:prstGeom>
          <a:noFill/>
          <a:ln/>
        </p:spPr>
        <p:txBody>
          <a:bodyPr wrap="square" lIns="0" tIns="0" rIns="0" bIns="0" rtlCol="0" anchor="t"/>
          <a:lstStyle/>
          <a:p>
            <a:pPr marL="342900" indent="-342900">
              <a:spcAft>
                <a:spcPts val="700"/>
              </a:spcAft>
              <a:buSzPct val="100000"/>
              <a:buChar char="•"/>
            </a:pPr>
            <a:r>
              <a:rPr lang="en-US" sz="950" dirty="0">
                <a:solidFill>
                  <a:srgbClr val="222222"/>
                </a:solidFill>
                <a:latin typeface="メイリオ" panose="020B0604030504040204" pitchFamily="50" charset="-128"/>
                <a:ea typeface="メイリオ" panose="020B0604030504040204" pitchFamily="50" charset="-128"/>
                <a:cs typeface="Meiryo" pitchFamily="34" charset="-120"/>
              </a:rPr>
              <a:t>市内で唯一の公立（市設置・社協運営）児童発達支援。乳幼児健診からつながる“入口”機能を担う。</a:t>
            </a:r>
            <a:endParaRPr lang="en-US" sz="1000" dirty="0">
              <a:latin typeface="メイリオ" panose="020B0604030504040204" pitchFamily="50" charset="-128"/>
              <a:ea typeface="メイリオ" panose="020B0604030504040204" pitchFamily="50" charset="-128"/>
            </a:endParaRPr>
          </a:p>
          <a:p>
            <a:pPr marL="342900" indent="-342900">
              <a:spcAft>
                <a:spcPts val="700"/>
              </a:spcAft>
              <a:buSzPct val="100000"/>
              <a:buChar char="•"/>
            </a:pPr>
            <a:r>
              <a:rPr lang="en-US" sz="950" dirty="0">
                <a:solidFill>
                  <a:srgbClr val="222222"/>
                </a:solidFill>
                <a:latin typeface="メイリオ" panose="020B0604030504040204" pitchFamily="50" charset="-128"/>
                <a:ea typeface="メイリオ" panose="020B0604030504040204" pitchFamily="50" charset="-128"/>
                <a:cs typeface="Meiryo" pitchFamily="34" charset="-120"/>
              </a:rPr>
              <a:t>定員15名は市内最大だが、平日9:30〜14:00・土日祝休と稼働枠が最も狭く、実質的な受け入れ量は限られる。</a:t>
            </a:r>
            <a:endParaRPr lang="en-US" sz="1000" dirty="0">
              <a:latin typeface="メイリオ" panose="020B0604030504040204" pitchFamily="50" charset="-128"/>
              <a:ea typeface="メイリオ" panose="020B0604030504040204" pitchFamily="50" charset="-128"/>
            </a:endParaRPr>
          </a:p>
          <a:p>
            <a:pPr marL="342900" indent="-342900">
              <a:spcAft>
                <a:spcPts val="700"/>
              </a:spcAft>
              <a:buSzPct val="100000"/>
              <a:buChar char="•"/>
            </a:pPr>
            <a:r>
              <a:rPr lang="en-US" sz="950" dirty="0">
                <a:solidFill>
                  <a:srgbClr val="222222"/>
                </a:solidFill>
                <a:latin typeface="メイリオ" panose="020B0604030504040204" pitchFamily="50" charset="-128"/>
                <a:ea typeface="メイリオ" panose="020B0604030504040204" pitchFamily="50" charset="-128"/>
                <a:cs typeface="Meiryo" pitchFamily="34" charset="-120"/>
              </a:rPr>
              <a:t>保護者同伴通所が原則で、母子分離で預かる民間事業所とは役割が構造的に異なる。</a:t>
            </a:r>
            <a:endParaRPr lang="en-US" sz="1000" dirty="0">
              <a:latin typeface="メイリオ" panose="020B0604030504040204" pitchFamily="50" charset="-128"/>
              <a:ea typeface="メイリオ" panose="020B0604030504040204" pitchFamily="50" charset="-128"/>
            </a:endParaRPr>
          </a:p>
          <a:p>
            <a:pPr marL="342900" indent="-342900">
              <a:spcAft>
                <a:spcPts val="700"/>
              </a:spcAft>
              <a:buSzPct val="100000"/>
              <a:buChar char="•"/>
            </a:pPr>
            <a:r>
              <a:rPr lang="en-US" sz="950" dirty="0">
                <a:solidFill>
                  <a:srgbClr val="222222"/>
                </a:solidFill>
                <a:latin typeface="メイリオ" panose="020B0604030504040204" pitchFamily="50" charset="-128"/>
                <a:ea typeface="メイリオ" panose="020B0604030504040204" pitchFamily="50" charset="-128"/>
                <a:cs typeface="Meiryo" pitchFamily="34" charset="-120"/>
              </a:rPr>
              <a:t>短時間型ゆえ、就労世帯のニーズは長時間型の民間（ちば地域生活支援舎 8:30〜18:00 等）へ流れる構造。</a:t>
            </a:r>
            <a:endParaRPr lang="en-US" sz="1000" dirty="0">
              <a:latin typeface="メイリオ" panose="020B0604030504040204" pitchFamily="50" charset="-128"/>
              <a:ea typeface="メイリオ" panose="020B0604030504040204" pitchFamily="50" charset="-128"/>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932688"/>
          </a:xfrm>
          <a:prstGeom prst="rect">
            <a:avLst/>
          </a:prstGeom>
          <a:solidFill>
            <a:srgbClr val="1B3A6B"/>
          </a:solidFill>
          <a:ln/>
        </p:spPr>
      </p:sp>
      <p:sp>
        <p:nvSpPr>
          <p:cNvPr id="3" name="Shape 1"/>
          <p:cNvSpPr/>
          <p:nvPr/>
        </p:nvSpPr>
        <p:spPr>
          <a:xfrm>
            <a:off x="0" y="0"/>
            <a:ext cx="164592" cy="932688"/>
          </a:xfrm>
          <a:prstGeom prst="rect">
            <a:avLst/>
          </a:prstGeom>
          <a:solidFill>
            <a:srgbClr val="13294B"/>
          </a:solidFill>
          <a:ln/>
        </p:spPr>
      </p:sp>
      <p:sp>
        <p:nvSpPr>
          <p:cNvPr id="4" name="Text 2"/>
          <p:cNvSpPr/>
          <p:nvPr/>
        </p:nvSpPr>
        <p:spPr>
          <a:xfrm>
            <a:off x="502920" y="54864"/>
            <a:ext cx="8686800" cy="822960"/>
          </a:xfrm>
          <a:prstGeom prst="rect">
            <a:avLst/>
          </a:prstGeom>
          <a:noFill/>
          <a:ln/>
        </p:spPr>
        <p:txBody>
          <a:bodyPr wrap="square" lIns="0" tIns="0" rIns="0" bIns="0" rtlCol="0" anchor="ctr"/>
          <a:lstStyle/>
          <a:p>
            <a:pPr marL="0" indent="0">
              <a:buNone/>
            </a:pPr>
            <a:r>
              <a:rPr lang="en-US" sz="3000" b="1" dirty="0">
                <a:solidFill>
                  <a:srgbClr val="FFFFFF"/>
                </a:solidFill>
                <a:latin typeface="Meiryo" pitchFamily="34" charset="0"/>
                <a:ea typeface="Meiryo" pitchFamily="34" charset="-122"/>
                <a:cs typeface="Meiryo" pitchFamily="34" charset="-120"/>
              </a:rPr>
              <a:t>II．　事業所別 詳細</a:t>
            </a:r>
            <a:endParaRPr lang="en-US" sz="3000" dirty="0"/>
          </a:p>
        </p:txBody>
      </p:sp>
      <p:sp>
        <p:nvSpPr>
          <p:cNvPr id="5" name="Text 3"/>
          <p:cNvSpPr/>
          <p:nvPr/>
        </p:nvSpPr>
        <p:spPr>
          <a:xfrm>
            <a:off x="502920" y="1115568"/>
            <a:ext cx="8503920" cy="457200"/>
          </a:xfrm>
          <a:prstGeom prst="rect">
            <a:avLst/>
          </a:prstGeom>
          <a:noFill/>
          <a:ln/>
        </p:spPr>
        <p:txBody>
          <a:bodyPr wrap="square" lIns="0" tIns="0" rIns="0" bIns="0" rtlCol="0" anchor="ctr"/>
          <a:lstStyle/>
          <a:p>
            <a:pPr marL="0" indent="0">
              <a:buNone/>
            </a:pPr>
            <a:r>
              <a:rPr lang="en-US" sz="2100" b="1" dirty="0">
                <a:solidFill>
                  <a:srgbClr val="222222"/>
                </a:solidFill>
                <a:latin typeface="Meiryo" pitchFamily="34" charset="0"/>
                <a:ea typeface="Meiryo" pitchFamily="34" charset="-122"/>
                <a:cs typeface="Meiryo" pitchFamily="34" charset="-120"/>
              </a:rPr>
              <a:t>② 子ども支援センター まあちる ／ ぽけっと</a:t>
            </a:r>
            <a:endParaRPr lang="en-US" sz="2100" dirty="0"/>
          </a:p>
        </p:txBody>
      </p:sp>
      <p:sp>
        <p:nvSpPr>
          <p:cNvPr id="6" name="Shape 4"/>
          <p:cNvSpPr/>
          <p:nvPr/>
        </p:nvSpPr>
        <p:spPr>
          <a:xfrm>
            <a:off x="10104120" y="1170432"/>
            <a:ext cx="1600200" cy="457200"/>
          </a:xfrm>
          <a:prstGeom prst="rect">
            <a:avLst/>
          </a:prstGeom>
          <a:solidFill>
            <a:srgbClr val="FFFFFF"/>
          </a:solidFill>
          <a:ln w="15875">
            <a:solidFill>
              <a:srgbClr val="1B3A6B"/>
            </a:solidFill>
            <a:prstDash val="solid"/>
          </a:ln>
        </p:spPr>
      </p:sp>
      <p:sp>
        <p:nvSpPr>
          <p:cNvPr id="7" name="Text 5"/>
          <p:cNvSpPr/>
          <p:nvPr/>
        </p:nvSpPr>
        <p:spPr>
          <a:xfrm>
            <a:off x="10104120" y="1170432"/>
            <a:ext cx="1600200" cy="457200"/>
          </a:xfrm>
          <a:prstGeom prst="rect">
            <a:avLst/>
          </a:prstGeom>
          <a:noFill/>
          <a:ln/>
        </p:spPr>
        <p:txBody>
          <a:bodyPr wrap="square" lIns="0" tIns="0" rIns="0" bIns="0" rtlCol="0" anchor="ctr"/>
          <a:lstStyle/>
          <a:p>
            <a:pPr marL="0" indent="0" algn="ctr">
              <a:buNone/>
            </a:pPr>
            <a:r>
              <a:rPr lang="en-US" sz="1400" b="1" dirty="0">
                <a:solidFill>
                  <a:srgbClr val="1B3A6B"/>
                </a:solidFill>
                <a:latin typeface="Meiryo" pitchFamily="34" charset="0"/>
                <a:ea typeface="Meiryo" pitchFamily="34" charset="-122"/>
                <a:cs typeface="Meiryo" pitchFamily="34" charset="-120"/>
              </a:rPr>
              <a:t>東金市</a:t>
            </a:r>
            <a:endParaRPr lang="en-US" sz="1400" dirty="0"/>
          </a:p>
        </p:txBody>
      </p:sp>
      <p:sp>
        <p:nvSpPr>
          <p:cNvPr id="8" name="Text 6"/>
          <p:cNvSpPr/>
          <p:nvPr/>
        </p:nvSpPr>
        <p:spPr>
          <a:xfrm>
            <a:off x="502920" y="6510528"/>
            <a:ext cx="7315200" cy="274320"/>
          </a:xfrm>
          <a:prstGeom prst="rect">
            <a:avLst/>
          </a:prstGeom>
          <a:noFill/>
          <a:ln/>
        </p:spPr>
        <p:txBody>
          <a:bodyPr wrap="square" lIns="0" tIns="0" rIns="0" bIns="0" rtlCol="0" anchor="ctr"/>
          <a:lstStyle/>
          <a:p>
            <a:pPr marL="0" indent="0">
              <a:buNone/>
            </a:pPr>
            <a:r>
              <a:rPr lang="en-US" sz="850" dirty="0">
                <a:solidFill>
                  <a:srgbClr val="666666"/>
                </a:solidFill>
                <a:latin typeface="Meiryo" pitchFamily="34" charset="0"/>
                <a:ea typeface="Meiryo" pitchFamily="34" charset="-122"/>
                <a:cs typeface="Meiryo" pitchFamily="34" charset="-120"/>
              </a:rPr>
              <a:t>Copyright Funai Soken Group. All rights reserved.</a:t>
            </a:r>
            <a:endParaRPr lang="en-US" sz="850" dirty="0"/>
          </a:p>
        </p:txBody>
      </p:sp>
      <p:sp>
        <p:nvSpPr>
          <p:cNvPr id="9" name="Shape 7"/>
          <p:cNvSpPr/>
          <p:nvPr/>
        </p:nvSpPr>
        <p:spPr>
          <a:xfrm>
            <a:off x="502920" y="1783080"/>
            <a:ext cx="6903720" cy="4434840"/>
          </a:xfrm>
          <a:prstGeom prst="rect">
            <a:avLst/>
          </a:prstGeom>
          <a:solidFill>
            <a:srgbClr val="FFFFFF"/>
          </a:solidFill>
          <a:ln w="12700">
            <a:solidFill>
              <a:srgbClr val="9AA7B8"/>
            </a:solidFill>
            <a:prstDash val="solid"/>
          </a:ln>
          <a:effectLst>
            <a:outerShdw blurRad="63500" dist="25400" dir="8100000" algn="bl" rotWithShape="0">
              <a:srgbClr val="000000">
                <a:alpha val="12000"/>
              </a:srgbClr>
            </a:outerShdw>
          </a:effectLst>
        </p:spPr>
      </p:sp>
      <p:sp>
        <p:nvSpPr>
          <p:cNvPr id="10" name="Text 8"/>
          <p:cNvSpPr/>
          <p:nvPr/>
        </p:nvSpPr>
        <p:spPr>
          <a:xfrm>
            <a:off x="704088" y="1911096"/>
            <a:ext cx="6501384" cy="384048"/>
          </a:xfrm>
          <a:prstGeom prst="rect">
            <a:avLst/>
          </a:prstGeom>
          <a:noFill/>
          <a:ln/>
        </p:spPr>
        <p:txBody>
          <a:bodyPr wrap="square" lIns="0" tIns="0" rIns="0" bIns="0" rtlCol="0" anchor="ctr"/>
          <a:lstStyle/>
          <a:p>
            <a:pPr marL="0" indent="0">
              <a:buNone/>
            </a:pPr>
            <a:r>
              <a:rPr lang="en-US" sz="1400" b="1" dirty="0">
                <a:solidFill>
                  <a:srgbClr val="1B3A6B"/>
                </a:solidFill>
                <a:latin typeface="Meiryo" pitchFamily="34" charset="0"/>
                <a:ea typeface="Meiryo" pitchFamily="34" charset="-122"/>
                <a:cs typeface="Meiryo" pitchFamily="34" charset="-120"/>
              </a:rPr>
              <a:t>子ども支援センター まあちる・ぽけっと（運営：特定非営利活動法人 ちば地域生活支援舎）</a:t>
            </a:r>
            <a:endParaRPr lang="en-US" sz="1400" dirty="0"/>
          </a:p>
        </p:txBody>
      </p:sp>
      <p:sp>
        <p:nvSpPr>
          <p:cNvPr id="11" name="Text 9"/>
          <p:cNvSpPr/>
          <p:nvPr/>
        </p:nvSpPr>
        <p:spPr>
          <a:xfrm>
            <a:off x="704088" y="2331720"/>
            <a:ext cx="6501384" cy="3813048"/>
          </a:xfrm>
          <a:prstGeom prst="rect">
            <a:avLst/>
          </a:prstGeom>
          <a:noFill/>
          <a:ln/>
        </p:spPr>
        <p:txBody>
          <a:bodyPr wrap="square" lIns="0" tIns="0" rIns="0" bIns="0" rtlCol="0" anchor="t"/>
          <a:lstStyle/>
          <a:p>
            <a:pPr marL="0" indent="0">
              <a:lnSpc>
                <a:spcPct val="103000"/>
              </a:lnSpc>
              <a:buNone/>
            </a:pPr>
            <a:r>
              <a:rPr lang="en-US" sz="1050" b="1" dirty="0">
                <a:solidFill>
                  <a:srgbClr val="2E6BB8"/>
                </a:solidFill>
                <a:latin typeface="Meiryo" pitchFamily="34" charset="0"/>
                <a:ea typeface="Meiryo" pitchFamily="34" charset="-122"/>
                <a:cs typeface="Meiryo" pitchFamily="34" charset="-120"/>
              </a:rPr>
              <a:t>▶</a:t>
            </a:r>
            <a:r>
              <a:rPr lang="en-US" sz="1050" b="1" dirty="0">
                <a:solidFill>
                  <a:srgbClr val="222222"/>
                </a:solidFill>
                <a:latin typeface="Meiryo" pitchFamily="34" charset="0"/>
                <a:ea typeface="Meiryo" pitchFamily="34" charset="-122"/>
                <a:cs typeface="Meiryo" pitchFamily="34" charset="-120"/>
              </a:rPr>
              <a:t>対象：</a:t>
            </a:r>
            <a:r>
              <a:rPr lang="en-US" sz="1050" dirty="0">
                <a:solidFill>
                  <a:srgbClr val="222222"/>
                </a:solidFill>
                <a:latin typeface="Meiryo" pitchFamily="34" charset="0"/>
                <a:ea typeface="Meiryo" pitchFamily="34" charset="-122"/>
                <a:cs typeface="Meiryo" pitchFamily="34" charset="-120"/>
              </a:rPr>
              <a:t>通所受給者証をお持ちの児童　※まあちるは主に2〜12歳、ぽけっとは主に6〜18歳が在籍</a:t>
            </a:r>
            <a:endParaRPr lang="en-US" sz="1050" dirty="0"/>
          </a:p>
          <a:p>
            <a:pPr marL="0" indent="0">
              <a:lnSpc>
                <a:spcPct val="103000"/>
              </a:lnSpc>
              <a:buNone/>
            </a:pPr>
            <a:r>
              <a:rPr lang="en-US" sz="1050" b="1" dirty="0">
                <a:solidFill>
                  <a:srgbClr val="2E6BB8"/>
                </a:solidFill>
                <a:latin typeface="Meiryo" pitchFamily="34" charset="0"/>
                <a:ea typeface="Meiryo" pitchFamily="34" charset="-122"/>
                <a:cs typeface="Meiryo" pitchFamily="34" charset="-120"/>
              </a:rPr>
              <a:t>▶</a:t>
            </a:r>
            <a:r>
              <a:rPr lang="en-US" sz="1050" b="1" dirty="0">
                <a:solidFill>
                  <a:srgbClr val="222222"/>
                </a:solidFill>
                <a:latin typeface="Meiryo" pitchFamily="34" charset="0"/>
                <a:ea typeface="Meiryo" pitchFamily="34" charset="-122"/>
                <a:cs typeface="Meiryo" pitchFamily="34" charset="-120"/>
              </a:rPr>
              <a:t>所在地：</a:t>
            </a:r>
            <a:r>
              <a:rPr lang="en-US" sz="1050" dirty="0">
                <a:solidFill>
                  <a:srgbClr val="222222"/>
                </a:solidFill>
                <a:latin typeface="Meiryo" pitchFamily="34" charset="0"/>
                <a:ea typeface="Meiryo" pitchFamily="34" charset="-122"/>
                <a:cs typeface="Meiryo" pitchFamily="34" charset="-120"/>
              </a:rPr>
              <a:t>【まあちる】東岩崎2-10 えびすビル103　【ぽけっと】東上宿6番地2　※法人本部：東金市東金425-2</a:t>
            </a:r>
            <a:endParaRPr lang="en-US" sz="1050" dirty="0"/>
          </a:p>
          <a:p>
            <a:pPr marL="0" indent="0">
              <a:lnSpc>
                <a:spcPct val="103000"/>
              </a:lnSpc>
              <a:buNone/>
            </a:pPr>
            <a:r>
              <a:rPr lang="en-US" sz="1050" b="1" dirty="0">
                <a:solidFill>
                  <a:srgbClr val="2E6BB8"/>
                </a:solidFill>
                <a:latin typeface="Meiryo" pitchFamily="34" charset="0"/>
                <a:ea typeface="Meiryo" pitchFamily="34" charset="-122"/>
                <a:cs typeface="Meiryo" pitchFamily="34" charset="-120"/>
              </a:rPr>
              <a:t>▶</a:t>
            </a:r>
            <a:r>
              <a:rPr lang="en-US" sz="1050" b="1" dirty="0">
                <a:solidFill>
                  <a:srgbClr val="222222"/>
                </a:solidFill>
                <a:latin typeface="Meiryo" pitchFamily="34" charset="0"/>
                <a:ea typeface="Meiryo" pitchFamily="34" charset="-122"/>
                <a:cs typeface="Meiryo" pitchFamily="34" charset="-120"/>
              </a:rPr>
              <a:t>TEL／HP：</a:t>
            </a:r>
            <a:r>
              <a:rPr lang="en-US" sz="1050" dirty="0">
                <a:solidFill>
                  <a:srgbClr val="222222"/>
                </a:solidFill>
                <a:latin typeface="Meiryo" pitchFamily="34" charset="0"/>
                <a:ea typeface="Meiryo" pitchFamily="34" charset="-122"/>
                <a:cs typeface="Meiryo" pitchFamily="34" charset="-120"/>
              </a:rPr>
              <a:t>【まあちる】0475-71-3657　【ぽけっと】0475-50-1081 ／ chibasha.com</a:t>
            </a:r>
            <a:endParaRPr lang="en-US" sz="1050" dirty="0"/>
          </a:p>
          <a:p>
            <a:pPr marL="0" indent="0">
              <a:lnSpc>
                <a:spcPct val="103000"/>
              </a:lnSpc>
              <a:buNone/>
            </a:pPr>
            <a:r>
              <a:rPr lang="en-US" sz="1050" b="1" dirty="0">
                <a:solidFill>
                  <a:srgbClr val="2E6BB8"/>
                </a:solidFill>
                <a:latin typeface="Meiryo" pitchFamily="34" charset="0"/>
                <a:ea typeface="Meiryo" pitchFamily="34" charset="-122"/>
                <a:cs typeface="Meiryo" pitchFamily="34" charset="-120"/>
              </a:rPr>
              <a:t>▶</a:t>
            </a:r>
            <a:r>
              <a:rPr lang="en-US" sz="1050" b="1" dirty="0">
                <a:solidFill>
                  <a:srgbClr val="222222"/>
                </a:solidFill>
                <a:latin typeface="Meiryo" pitchFamily="34" charset="0"/>
                <a:ea typeface="Meiryo" pitchFamily="34" charset="-122"/>
                <a:cs typeface="Meiryo" pitchFamily="34" charset="-120"/>
              </a:rPr>
              <a:t>提供時間：</a:t>
            </a:r>
            <a:r>
              <a:rPr lang="en-US" sz="1050" dirty="0">
                <a:solidFill>
                  <a:srgbClr val="222222"/>
                </a:solidFill>
                <a:latin typeface="Meiryo" pitchFamily="34" charset="0"/>
                <a:ea typeface="Meiryo" pitchFamily="34" charset="-122"/>
                <a:cs typeface="Meiryo" pitchFamily="34" charset="-120"/>
              </a:rPr>
              <a:t>【まあちる】平日・土・祝 8:30〜17:30　【ぽけっと】平日・土・祝 8:30〜18:00　※上記以外は応相談</a:t>
            </a:r>
            <a:endParaRPr lang="en-US" sz="1050" dirty="0"/>
          </a:p>
          <a:p>
            <a:pPr marL="0" indent="0">
              <a:lnSpc>
                <a:spcPct val="103000"/>
              </a:lnSpc>
              <a:buNone/>
            </a:pPr>
            <a:r>
              <a:rPr lang="en-US" sz="1050" b="1" dirty="0">
                <a:solidFill>
                  <a:srgbClr val="2E6BB8"/>
                </a:solidFill>
                <a:latin typeface="Meiryo" pitchFamily="34" charset="0"/>
                <a:ea typeface="Meiryo" pitchFamily="34" charset="-122"/>
                <a:cs typeface="Meiryo" pitchFamily="34" charset="-120"/>
              </a:rPr>
              <a:t>▶</a:t>
            </a:r>
            <a:r>
              <a:rPr lang="en-US" sz="1050" b="1" dirty="0">
                <a:solidFill>
                  <a:srgbClr val="222222"/>
                </a:solidFill>
                <a:latin typeface="Meiryo" pitchFamily="34" charset="0"/>
                <a:ea typeface="Meiryo" pitchFamily="34" charset="-122"/>
                <a:cs typeface="Meiryo" pitchFamily="34" charset="-120"/>
              </a:rPr>
              <a:t>定休日：</a:t>
            </a:r>
            <a:r>
              <a:rPr lang="en-US" sz="1050" dirty="0">
                <a:solidFill>
                  <a:srgbClr val="222222"/>
                </a:solidFill>
                <a:latin typeface="Meiryo" pitchFamily="34" charset="0"/>
                <a:ea typeface="Meiryo" pitchFamily="34" charset="-122"/>
                <a:cs typeface="Meiryo" pitchFamily="34" charset="-120"/>
              </a:rPr>
              <a:t>【まあちる】日曜・月曜　【ぽけっと】日曜</a:t>
            </a:r>
            <a:endParaRPr lang="en-US" sz="1050" dirty="0"/>
          </a:p>
          <a:p>
            <a:pPr marL="0" indent="0">
              <a:lnSpc>
                <a:spcPct val="103000"/>
              </a:lnSpc>
              <a:buNone/>
            </a:pPr>
            <a:r>
              <a:rPr lang="en-US" sz="1050" b="1" dirty="0">
                <a:solidFill>
                  <a:srgbClr val="2E6BB8"/>
                </a:solidFill>
                <a:latin typeface="Meiryo" pitchFamily="34" charset="0"/>
                <a:ea typeface="Meiryo" pitchFamily="34" charset="-122"/>
                <a:cs typeface="Meiryo" pitchFamily="34" charset="-120"/>
              </a:rPr>
              <a:t>▶</a:t>
            </a:r>
            <a:r>
              <a:rPr lang="en-US" sz="1050" b="1" dirty="0">
                <a:solidFill>
                  <a:srgbClr val="222222"/>
                </a:solidFill>
                <a:latin typeface="Meiryo" pitchFamily="34" charset="0"/>
                <a:ea typeface="Meiryo" pitchFamily="34" charset="-122"/>
                <a:cs typeface="Meiryo" pitchFamily="34" charset="-120"/>
              </a:rPr>
              <a:t>定員／事業所番号：</a:t>
            </a:r>
            <a:r>
              <a:rPr lang="en-US" sz="1050" dirty="0">
                <a:solidFill>
                  <a:srgbClr val="222222"/>
                </a:solidFill>
                <a:latin typeface="Meiryo" pitchFamily="34" charset="0"/>
                <a:ea typeface="Meiryo" pitchFamily="34" charset="-122"/>
                <a:cs typeface="Meiryo" pitchFamily="34" charset="-120"/>
              </a:rPr>
              <a:t>各10名（計20名） ／ 1250800040（まあちる）・1250800024（ぽけっと）</a:t>
            </a:r>
            <a:endParaRPr lang="en-US" sz="1050" dirty="0"/>
          </a:p>
          <a:p>
            <a:pPr marL="0" indent="0">
              <a:lnSpc>
                <a:spcPct val="103000"/>
              </a:lnSpc>
              <a:spcAft>
                <a:spcPts val="500"/>
              </a:spcAft>
              <a:buNone/>
            </a:pPr>
            <a:endParaRPr lang="en-US" sz="1050" dirty="0"/>
          </a:p>
          <a:p>
            <a:pPr marL="0" indent="0">
              <a:lnSpc>
                <a:spcPct val="103000"/>
              </a:lnSpc>
              <a:buNone/>
            </a:pPr>
            <a:r>
              <a:rPr lang="en-US" sz="1050" b="1" dirty="0">
                <a:solidFill>
                  <a:srgbClr val="2E6BB8"/>
                </a:solidFill>
                <a:latin typeface="Meiryo" pitchFamily="34" charset="0"/>
                <a:ea typeface="Meiryo" pitchFamily="34" charset="-122"/>
                <a:cs typeface="Meiryo" pitchFamily="34" charset="-120"/>
              </a:rPr>
              <a:t>▶</a:t>
            </a:r>
            <a:r>
              <a:rPr lang="en-US" sz="1050" b="1" dirty="0">
                <a:solidFill>
                  <a:srgbClr val="222222"/>
                </a:solidFill>
                <a:latin typeface="Meiryo" pitchFamily="34" charset="0"/>
                <a:ea typeface="Meiryo" pitchFamily="34" charset="-122"/>
                <a:cs typeface="Meiryo" pitchFamily="34" charset="-120"/>
              </a:rPr>
              <a:t>療育プログラムの特徴：</a:t>
            </a:r>
            <a:r>
              <a:rPr lang="en-US" sz="1050" dirty="0">
                <a:solidFill>
                  <a:srgbClr val="222222"/>
                </a:solidFill>
                <a:latin typeface="Meiryo" pitchFamily="34" charset="0"/>
                <a:ea typeface="Meiryo" pitchFamily="34" charset="-122"/>
                <a:cs typeface="Meiryo" pitchFamily="34" charset="-120"/>
              </a:rPr>
              <a:t>「生きる力」を育むことを掲げ、児童発達支援と放課後等デイサービスを提供。</a:t>
            </a:r>
            <a:endParaRPr lang="en-US" sz="1050" dirty="0"/>
          </a:p>
          <a:p>
            <a:pPr marL="0" indent="0">
              <a:lnSpc>
                <a:spcPct val="103000"/>
              </a:lnSpc>
              <a:spcAft>
                <a:spcPts val="500"/>
              </a:spcAft>
              <a:buNone/>
            </a:pPr>
            <a:r>
              <a:rPr lang="en-US" sz="1050" dirty="0">
                <a:solidFill>
                  <a:srgbClr val="222222"/>
                </a:solidFill>
                <a:latin typeface="Meiryo" pitchFamily="34" charset="0"/>
                <a:ea typeface="Meiryo" pitchFamily="34" charset="-122"/>
                <a:cs typeface="Meiryo" pitchFamily="34" charset="-120"/>
              </a:rPr>
              <a:t>・児発＝日常生活の基本動作や知識技術の習得支援、幼稚園等への入園・小学校入学に向けた集団生活への適応訓練。</a:t>
            </a:r>
            <a:endParaRPr lang="en-US" sz="1050" dirty="0"/>
          </a:p>
          <a:p>
            <a:pPr marL="0" indent="0">
              <a:lnSpc>
                <a:spcPct val="103000"/>
              </a:lnSpc>
              <a:spcAft>
                <a:spcPts val="500"/>
              </a:spcAft>
              <a:buNone/>
            </a:pPr>
            <a:r>
              <a:rPr lang="en-US" sz="1050" dirty="0">
                <a:solidFill>
                  <a:srgbClr val="222222"/>
                </a:solidFill>
                <a:latin typeface="Meiryo" pitchFamily="34" charset="0"/>
                <a:ea typeface="Meiryo" pitchFamily="34" charset="-122"/>
                <a:cs typeface="Meiryo" pitchFamily="34" charset="-120"/>
              </a:rPr>
              <a:t>・2拠点で年齢帯を分担（まあちる＝未就学〜小学生、ぽけっと＝就学児〜高校生）。事業所内見学を随時受付。</a:t>
            </a:r>
            <a:endParaRPr lang="en-US" sz="1050" dirty="0"/>
          </a:p>
          <a:p>
            <a:pPr marL="0" indent="0">
              <a:lnSpc>
                <a:spcPct val="103000"/>
              </a:lnSpc>
              <a:spcAft>
                <a:spcPts val="500"/>
              </a:spcAft>
              <a:buNone/>
            </a:pPr>
            <a:endParaRPr lang="en-US" sz="1050" dirty="0"/>
          </a:p>
          <a:p>
            <a:pPr marL="0" indent="0">
              <a:lnSpc>
                <a:spcPct val="103000"/>
              </a:lnSpc>
              <a:buNone/>
            </a:pPr>
            <a:r>
              <a:rPr lang="en-US" sz="1050" b="1" dirty="0">
                <a:solidFill>
                  <a:srgbClr val="2E6BB8"/>
                </a:solidFill>
                <a:latin typeface="Meiryo" pitchFamily="34" charset="0"/>
                <a:ea typeface="Meiryo" pitchFamily="34" charset="-122"/>
                <a:cs typeface="Meiryo" pitchFamily="34" charset="-120"/>
              </a:rPr>
              <a:t>▶</a:t>
            </a:r>
            <a:r>
              <a:rPr lang="en-US" sz="1050" b="1" dirty="0">
                <a:solidFill>
                  <a:srgbClr val="222222"/>
                </a:solidFill>
                <a:latin typeface="Meiryo" pitchFamily="34" charset="0"/>
                <a:ea typeface="Meiryo" pitchFamily="34" charset="-122"/>
                <a:cs typeface="Meiryo" pitchFamily="34" charset="-120"/>
              </a:rPr>
              <a:t>出典：</a:t>
            </a:r>
            <a:r>
              <a:rPr lang="en-US" sz="1050" dirty="0">
                <a:solidFill>
                  <a:srgbClr val="222222"/>
                </a:solidFill>
                <a:latin typeface="Meiryo" pitchFamily="34" charset="0"/>
                <a:ea typeface="Meiryo" pitchFamily="34" charset="-122"/>
                <a:cs typeface="Meiryo" pitchFamily="34" charset="-120"/>
              </a:rPr>
              <a:t>千葉県 障害福祉サービス等情報公表システム／公式サイト chibasha.com</a:t>
            </a:r>
            <a:endParaRPr lang="en-US" sz="1050" dirty="0"/>
          </a:p>
          <a:p>
            <a:pPr marL="0" indent="0">
              <a:lnSpc>
                <a:spcPct val="103000"/>
              </a:lnSpc>
              <a:buNone/>
            </a:pPr>
            <a:r>
              <a:rPr lang="en-US" sz="1050" b="1" dirty="0">
                <a:solidFill>
                  <a:srgbClr val="2E6BB8"/>
                </a:solidFill>
                <a:latin typeface="Meiryo" pitchFamily="34" charset="0"/>
                <a:ea typeface="Meiryo" pitchFamily="34" charset="-122"/>
                <a:cs typeface="Meiryo" pitchFamily="34" charset="-120"/>
              </a:rPr>
              <a:t>▶</a:t>
            </a:r>
            <a:r>
              <a:rPr lang="en-US" sz="1050" b="1" dirty="0">
                <a:solidFill>
                  <a:srgbClr val="222222"/>
                </a:solidFill>
                <a:latin typeface="Meiryo" pitchFamily="34" charset="0"/>
                <a:ea typeface="Meiryo" pitchFamily="34" charset="-122"/>
                <a:cs typeface="Meiryo" pitchFamily="34" charset="-120"/>
              </a:rPr>
              <a:t>要確認事項：</a:t>
            </a:r>
            <a:r>
              <a:rPr lang="en-US" sz="1050" dirty="0">
                <a:solidFill>
                  <a:srgbClr val="222222"/>
                </a:solidFill>
                <a:latin typeface="Meiryo" pitchFamily="34" charset="0"/>
                <a:ea typeface="Meiryo" pitchFamily="34" charset="-122"/>
                <a:cs typeface="Meiryo" pitchFamily="34" charset="-120"/>
              </a:rPr>
              <a:t>各拠点の空き状況、送迎の有無、児発と放デイの時間帯区分、法人本部（東金425-2）の他事業</a:t>
            </a:r>
            <a:endParaRPr lang="en-US" sz="1050" dirty="0"/>
          </a:p>
        </p:txBody>
      </p:sp>
      <p:sp>
        <p:nvSpPr>
          <p:cNvPr id="13" name="Text 11"/>
          <p:cNvSpPr/>
          <p:nvPr/>
        </p:nvSpPr>
        <p:spPr>
          <a:xfrm>
            <a:off x="7635240" y="1783080"/>
            <a:ext cx="4069080" cy="2148840"/>
          </a:xfrm>
          <a:prstGeom prst="rect">
            <a:avLst/>
          </a:prstGeom>
          <a:solidFill>
            <a:srgbClr val="F4F6FA"/>
          </a:solidFill>
          <a:ln w="12700">
            <a:solidFill>
              <a:srgbClr val="9AA7B8"/>
            </a:solidFill>
            <a:prstDash val="dash"/>
          </a:ln>
        </p:spPr>
        <p:txBody>
          <a:bodyPr wrap="square" lIns="91440" tIns="45720" rIns="91440" bIns="45720" rtlCol="0" anchor="ctr"/>
          <a:lstStyle/>
          <a:p>
            <a:pPr marL="0" indent="0" algn="ctr">
              <a:lnSpc>
                <a:spcPct val="110000"/>
              </a:lnSpc>
              <a:buNone/>
            </a:pPr>
            <a:r>
              <a:rPr lang="en-US" sz="1200" b="1" dirty="0">
                <a:solidFill>
                  <a:srgbClr val="8A99AD"/>
                </a:solidFill>
                <a:latin typeface="Meiryo" pitchFamily="34" charset="0"/>
                <a:ea typeface="Meiryo" pitchFamily="34" charset="-122"/>
                <a:cs typeface="Meiryo" pitchFamily="34" charset="-120"/>
              </a:rPr>
              <a:t>［ 写真挿入エリア ］</a:t>
            </a:r>
            <a:endParaRPr lang="en-US" sz="1200" dirty="0"/>
          </a:p>
          <a:p>
            <a:pPr marL="0" indent="0" algn="ctr">
              <a:lnSpc>
                <a:spcPct val="110000"/>
              </a:lnSpc>
              <a:buNone/>
            </a:pPr>
            <a:r>
              <a:rPr lang="en-US" sz="950" dirty="0">
                <a:solidFill>
                  <a:srgbClr val="97A4B6"/>
                </a:solidFill>
                <a:latin typeface="Meiryo" pitchFamily="34" charset="0"/>
                <a:ea typeface="Meiryo" pitchFamily="34" charset="-122"/>
                <a:cs typeface="Meiryo" pitchFamily="34" charset="-120"/>
              </a:rPr>
              <a:t>（公式サイト chibasha.com 掲載の教室・活動写真を挿入）</a:t>
            </a:r>
            <a:endParaRPr lang="en-US" sz="1200" dirty="0"/>
          </a:p>
        </p:txBody>
      </p:sp>
      <p:sp>
        <p:nvSpPr>
          <p:cNvPr id="14" name="Shape 12"/>
          <p:cNvSpPr/>
          <p:nvPr/>
        </p:nvSpPr>
        <p:spPr>
          <a:xfrm>
            <a:off x="7635240" y="4069080"/>
            <a:ext cx="4069080" cy="2148840"/>
          </a:xfrm>
          <a:prstGeom prst="rect">
            <a:avLst/>
          </a:prstGeom>
          <a:solidFill>
            <a:srgbClr val="EEF2F8"/>
          </a:solidFill>
          <a:ln w="12700">
            <a:solidFill>
              <a:srgbClr val="9AA7B8"/>
            </a:solidFill>
            <a:prstDash val="solid"/>
          </a:ln>
        </p:spPr>
      </p:sp>
      <p:sp>
        <p:nvSpPr>
          <p:cNvPr id="15" name="Text 13"/>
          <p:cNvSpPr/>
          <p:nvPr/>
        </p:nvSpPr>
        <p:spPr>
          <a:xfrm>
            <a:off x="7818120" y="4187952"/>
            <a:ext cx="3703320" cy="320040"/>
          </a:xfrm>
          <a:prstGeom prst="rect">
            <a:avLst/>
          </a:prstGeom>
          <a:noFill/>
          <a:ln/>
        </p:spPr>
        <p:txBody>
          <a:bodyPr wrap="square" lIns="0" tIns="0" rIns="0" bIns="0" rtlCol="0" anchor="ctr"/>
          <a:lstStyle/>
          <a:p>
            <a:pPr marL="0" indent="0">
              <a:buNone/>
            </a:pPr>
            <a:r>
              <a:rPr lang="en-US" sz="1250" b="1" dirty="0">
                <a:solidFill>
                  <a:srgbClr val="1B3A6B"/>
                </a:solidFill>
                <a:latin typeface="Meiryo" pitchFamily="34" charset="0"/>
                <a:ea typeface="Meiryo" pitchFamily="34" charset="-122"/>
                <a:cs typeface="Meiryo" pitchFamily="34" charset="-120"/>
              </a:rPr>
              <a:t>注目ポイント</a:t>
            </a:r>
            <a:endParaRPr lang="en-US" sz="1250" dirty="0"/>
          </a:p>
        </p:txBody>
      </p:sp>
      <p:sp>
        <p:nvSpPr>
          <p:cNvPr id="16" name="Text 14"/>
          <p:cNvSpPr/>
          <p:nvPr/>
        </p:nvSpPr>
        <p:spPr>
          <a:xfrm>
            <a:off x="7818120" y="4553712"/>
            <a:ext cx="3703320" cy="1554480"/>
          </a:xfrm>
          <a:prstGeom prst="rect">
            <a:avLst/>
          </a:prstGeom>
          <a:noFill/>
          <a:ln/>
        </p:spPr>
        <p:txBody>
          <a:bodyPr wrap="square" lIns="0" tIns="0" rIns="0" bIns="0" rtlCol="0" anchor="t"/>
          <a:lstStyle/>
          <a:p>
            <a:pPr marL="342900" indent="-342900">
              <a:spcAft>
                <a:spcPts val="700"/>
              </a:spcAft>
              <a:buSzPct val="100000"/>
              <a:buChar char="•"/>
            </a:pPr>
            <a:r>
              <a:rPr lang="en-US" sz="950" dirty="0">
                <a:solidFill>
                  <a:srgbClr val="222222"/>
                </a:solidFill>
                <a:latin typeface="メイリオ" panose="020B0604030504040204" pitchFamily="50" charset="-128"/>
                <a:ea typeface="メイリオ" panose="020B0604030504040204" pitchFamily="50" charset="-128"/>
                <a:cs typeface="Meiryo" pitchFamily="34" charset="-120"/>
              </a:rPr>
              <a:t>市内で最も長い開所時間（8:30〜18:00／17:30）。土曜・祝日も開所し、就労世帯の受け皿として最も強い。</a:t>
            </a:r>
            <a:endParaRPr lang="en-US" sz="1000" dirty="0">
              <a:latin typeface="メイリオ" panose="020B0604030504040204" pitchFamily="50" charset="-128"/>
              <a:ea typeface="メイリオ" panose="020B0604030504040204" pitchFamily="50" charset="-128"/>
            </a:endParaRPr>
          </a:p>
          <a:p>
            <a:pPr marL="342900" indent="-342900">
              <a:spcAft>
                <a:spcPts val="700"/>
              </a:spcAft>
              <a:buSzPct val="100000"/>
              <a:buChar char="•"/>
            </a:pPr>
            <a:r>
              <a:rPr lang="en-US" sz="950" dirty="0">
                <a:solidFill>
                  <a:srgbClr val="222222"/>
                </a:solidFill>
                <a:latin typeface="メイリオ" panose="020B0604030504040204" pitchFamily="50" charset="-128"/>
                <a:ea typeface="メイリオ" panose="020B0604030504040204" pitchFamily="50" charset="-128"/>
                <a:cs typeface="Meiryo" pitchFamily="34" charset="-120"/>
              </a:rPr>
              <a:t>2拠点で年齢帯を分ける“年齢分離型”。未就学はまあちる、就学児はぽけっとが担う設計。</a:t>
            </a:r>
            <a:endParaRPr lang="en-US" sz="1000" dirty="0">
              <a:latin typeface="メイリオ" panose="020B0604030504040204" pitchFamily="50" charset="-128"/>
              <a:ea typeface="メイリオ" panose="020B0604030504040204" pitchFamily="50" charset="-128"/>
            </a:endParaRPr>
          </a:p>
          <a:p>
            <a:pPr marL="342900" indent="-342900">
              <a:spcAft>
                <a:spcPts val="700"/>
              </a:spcAft>
              <a:buSzPct val="100000"/>
              <a:buChar char="•"/>
            </a:pPr>
            <a:r>
              <a:rPr lang="en-US" sz="950" dirty="0">
                <a:solidFill>
                  <a:srgbClr val="222222"/>
                </a:solidFill>
                <a:latin typeface="メイリオ" panose="020B0604030504040204" pitchFamily="50" charset="-128"/>
                <a:ea typeface="メイリオ" panose="020B0604030504040204" pitchFamily="50" charset="-128"/>
                <a:cs typeface="Meiryo" pitchFamily="34" charset="-120"/>
              </a:rPr>
              <a:t>定員は2拠点計20名で、法人単位では基本塾（30名）に次ぐ市内2位の供給量。</a:t>
            </a:r>
            <a:endParaRPr lang="en-US" sz="1000" dirty="0">
              <a:latin typeface="メイリオ" panose="020B0604030504040204" pitchFamily="50" charset="-128"/>
              <a:ea typeface="メイリオ" panose="020B0604030504040204" pitchFamily="50" charset="-128"/>
            </a:endParaRPr>
          </a:p>
          <a:p>
            <a:pPr marL="342900" indent="-342900">
              <a:spcAft>
                <a:spcPts val="700"/>
              </a:spcAft>
              <a:buSzPct val="100000"/>
              <a:buChar char="•"/>
            </a:pPr>
            <a:r>
              <a:rPr lang="en-US" sz="950" dirty="0">
                <a:solidFill>
                  <a:srgbClr val="222222"/>
                </a:solidFill>
                <a:latin typeface="メイリオ" panose="020B0604030504040204" pitchFamily="50" charset="-128"/>
                <a:ea typeface="メイリオ" panose="020B0604030504040204" pitchFamily="50" charset="-128"/>
                <a:cs typeface="Meiryo" pitchFamily="34" charset="-120"/>
              </a:rPr>
              <a:t>集約サイトへの掲載が薄く、公式サイト以外からは見つけにくい。認知獲得が競合上の課題。</a:t>
            </a:r>
            <a:endParaRPr lang="en-US" sz="1000" dirty="0">
              <a:latin typeface="メイリオ" panose="020B0604030504040204" pitchFamily="50" charset="-128"/>
              <a:ea typeface="メイリオ" panose="020B0604030504040204" pitchFamily="50" charset="-128"/>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932688"/>
          </a:xfrm>
          <a:prstGeom prst="rect">
            <a:avLst/>
          </a:prstGeom>
          <a:solidFill>
            <a:srgbClr val="1B3A6B"/>
          </a:solidFill>
          <a:ln/>
        </p:spPr>
      </p:sp>
      <p:sp>
        <p:nvSpPr>
          <p:cNvPr id="3" name="Shape 1"/>
          <p:cNvSpPr/>
          <p:nvPr/>
        </p:nvSpPr>
        <p:spPr>
          <a:xfrm>
            <a:off x="0" y="0"/>
            <a:ext cx="164592" cy="932688"/>
          </a:xfrm>
          <a:prstGeom prst="rect">
            <a:avLst/>
          </a:prstGeom>
          <a:solidFill>
            <a:srgbClr val="13294B"/>
          </a:solidFill>
          <a:ln/>
        </p:spPr>
      </p:sp>
      <p:sp>
        <p:nvSpPr>
          <p:cNvPr id="4" name="Text 2"/>
          <p:cNvSpPr/>
          <p:nvPr/>
        </p:nvSpPr>
        <p:spPr>
          <a:xfrm>
            <a:off x="502920" y="54864"/>
            <a:ext cx="8686800" cy="822960"/>
          </a:xfrm>
          <a:prstGeom prst="rect">
            <a:avLst/>
          </a:prstGeom>
          <a:noFill/>
          <a:ln/>
        </p:spPr>
        <p:txBody>
          <a:bodyPr wrap="square" lIns="0" tIns="0" rIns="0" bIns="0" rtlCol="0" anchor="ctr"/>
          <a:lstStyle/>
          <a:p>
            <a:pPr marL="0" indent="0">
              <a:buNone/>
            </a:pPr>
            <a:r>
              <a:rPr lang="en-US" sz="3000" b="1" dirty="0">
                <a:solidFill>
                  <a:srgbClr val="FFFFFF"/>
                </a:solidFill>
                <a:latin typeface="Meiryo" pitchFamily="34" charset="0"/>
                <a:ea typeface="Meiryo" pitchFamily="34" charset="-122"/>
                <a:cs typeface="Meiryo" pitchFamily="34" charset="-120"/>
              </a:rPr>
              <a:t>II．　事業所別 詳細</a:t>
            </a:r>
            <a:endParaRPr lang="en-US" sz="3000" dirty="0"/>
          </a:p>
        </p:txBody>
      </p:sp>
      <p:sp>
        <p:nvSpPr>
          <p:cNvPr id="5" name="Text 3"/>
          <p:cNvSpPr/>
          <p:nvPr/>
        </p:nvSpPr>
        <p:spPr>
          <a:xfrm>
            <a:off x="502920" y="1115568"/>
            <a:ext cx="8503920" cy="457200"/>
          </a:xfrm>
          <a:prstGeom prst="rect">
            <a:avLst/>
          </a:prstGeom>
          <a:noFill/>
          <a:ln/>
        </p:spPr>
        <p:txBody>
          <a:bodyPr wrap="square" lIns="0" tIns="0" rIns="0" bIns="0" rtlCol="0" anchor="ctr"/>
          <a:lstStyle/>
          <a:p>
            <a:pPr marL="0" indent="0">
              <a:buNone/>
            </a:pPr>
            <a:r>
              <a:rPr lang="en-US" sz="2100" b="1" dirty="0">
                <a:solidFill>
                  <a:srgbClr val="222222"/>
                </a:solidFill>
                <a:latin typeface="Meiryo" pitchFamily="34" charset="0"/>
                <a:ea typeface="Meiryo" pitchFamily="34" charset="-122"/>
                <a:cs typeface="Meiryo" pitchFamily="34" charset="-120"/>
              </a:rPr>
              <a:t>③ こどもプラス 東金教室 ／ 第2東金教室</a:t>
            </a:r>
            <a:endParaRPr lang="en-US" sz="2100" dirty="0"/>
          </a:p>
        </p:txBody>
      </p:sp>
      <p:sp>
        <p:nvSpPr>
          <p:cNvPr id="6" name="Shape 4"/>
          <p:cNvSpPr/>
          <p:nvPr/>
        </p:nvSpPr>
        <p:spPr>
          <a:xfrm>
            <a:off x="10104120" y="1170432"/>
            <a:ext cx="1600200" cy="457200"/>
          </a:xfrm>
          <a:prstGeom prst="rect">
            <a:avLst/>
          </a:prstGeom>
          <a:solidFill>
            <a:srgbClr val="FFFFFF"/>
          </a:solidFill>
          <a:ln w="15875">
            <a:solidFill>
              <a:srgbClr val="1B3A6B"/>
            </a:solidFill>
            <a:prstDash val="solid"/>
          </a:ln>
        </p:spPr>
      </p:sp>
      <p:sp>
        <p:nvSpPr>
          <p:cNvPr id="7" name="Text 5"/>
          <p:cNvSpPr/>
          <p:nvPr/>
        </p:nvSpPr>
        <p:spPr>
          <a:xfrm>
            <a:off x="10104120" y="1170432"/>
            <a:ext cx="1600200" cy="457200"/>
          </a:xfrm>
          <a:prstGeom prst="rect">
            <a:avLst/>
          </a:prstGeom>
          <a:noFill/>
          <a:ln/>
        </p:spPr>
        <p:txBody>
          <a:bodyPr wrap="square" lIns="0" tIns="0" rIns="0" bIns="0" rtlCol="0" anchor="ctr"/>
          <a:lstStyle/>
          <a:p>
            <a:pPr marL="0" indent="0" algn="ctr">
              <a:buNone/>
            </a:pPr>
            <a:r>
              <a:rPr lang="en-US" sz="1400" b="1" dirty="0">
                <a:solidFill>
                  <a:srgbClr val="1B3A6B"/>
                </a:solidFill>
                <a:latin typeface="Meiryo" pitchFamily="34" charset="0"/>
                <a:ea typeface="Meiryo" pitchFamily="34" charset="-122"/>
                <a:cs typeface="Meiryo" pitchFamily="34" charset="-120"/>
              </a:rPr>
              <a:t>東金市</a:t>
            </a:r>
            <a:endParaRPr lang="en-US" sz="1400" dirty="0"/>
          </a:p>
        </p:txBody>
      </p:sp>
      <p:sp>
        <p:nvSpPr>
          <p:cNvPr id="8" name="Text 6"/>
          <p:cNvSpPr/>
          <p:nvPr/>
        </p:nvSpPr>
        <p:spPr>
          <a:xfrm>
            <a:off x="502920" y="6510528"/>
            <a:ext cx="7315200" cy="274320"/>
          </a:xfrm>
          <a:prstGeom prst="rect">
            <a:avLst/>
          </a:prstGeom>
          <a:noFill/>
          <a:ln/>
        </p:spPr>
        <p:txBody>
          <a:bodyPr wrap="square" lIns="0" tIns="0" rIns="0" bIns="0" rtlCol="0" anchor="ctr"/>
          <a:lstStyle/>
          <a:p>
            <a:pPr marL="0" indent="0">
              <a:buNone/>
            </a:pPr>
            <a:r>
              <a:rPr lang="en-US" sz="850" dirty="0">
                <a:solidFill>
                  <a:srgbClr val="666666"/>
                </a:solidFill>
                <a:latin typeface="Meiryo" pitchFamily="34" charset="0"/>
                <a:ea typeface="Meiryo" pitchFamily="34" charset="-122"/>
                <a:cs typeface="Meiryo" pitchFamily="34" charset="-120"/>
              </a:rPr>
              <a:t>Copyright Funai Soken Group. All rights reserved.</a:t>
            </a:r>
            <a:endParaRPr lang="en-US" sz="850" dirty="0"/>
          </a:p>
        </p:txBody>
      </p:sp>
      <p:sp>
        <p:nvSpPr>
          <p:cNvPr id="9" name="Shape 7"/>
          <p:cNvSpPr/>
          <p:nvPr/>
        </p:nvSpPr>
        <p:spPr>
          <a:xfrm>
            <a:off x="502920" y="1783080"/>
            <a:ext cx="6903720" cy="4434840"/>
          </a:xfrm>
          <a:prstGeom prst="rect">
            <a:avLst/>
          </a:prstGeom>
          <a:solidFill>
            <a:srgbClr val="FFFFFF"/>
          </a:solidFill>
          <a:ln w="12700">
            <a:solidFill>
              <a:srgbClr val="9AA7B8"/>
            </a:solidFill>
            <a:prstDash val="solid"/>
          </a:ln>
          <a:effectLst>
            <a:outerShdw blurRad="63500" dist="25400" dir="8100000" algn="bl" rotWithShape="0">
              <a:srgbClr val="000000">
                <a:alpha val="12000"/>
              </a:srgbClr>
            </a:outerShdw>
          </a:effectLst>
        </p:spPr>
      </p:sp>
      <p:sp>
        <p:nvSpPr>
          <p:cNvPr id="10" name="Text 8"/>
          <p:cNvSpPr/>
          <p:nvPr/>
        </p:nvSpPr>
        <p:spPr>
          <a:xfrm>
            <a:off x="704088" y="1911096"/>
            <a:ext cx="6501384" cy="384048"/>
          </a:xfrm>
          <a:prstGeom prst="rect">
            <a:avLst/>
          </a:prstGeom>
          <a:noFill/>
          <a:ln/>
        </p:spPr>
        <p:txBody>
          <a:bodyPr wrap="square" lIns="0" tIns="0" rIns="0" bIns="0" rtlCol="0" anchor="ctr"/>
          <a:lstStyle/>
          <a:p>
            <a:pPr marL="0" indent="0">
              <a:buNone/>
            </a:pPr>
            <a:r>
              <a:rPr lang="en-US" sz="1400" b="1" dirty="0">
                <a:solidFill>
                  <a:srgbClr val="1B3A6B"/>
                </a:solidFill>
                <a:latin typeface="Meiryo" pitchFamily="34" charset="0"/>
                <a:ea typeface="Meiryo" pitchFamily="34" charset="-122"/>
                <a:cs typeface="Meiryo" pitchFamily="34" charset="-120"/>
              </a:rPr>
              <a:t>こどもプラス東金教室・第2東金教室（運営：株式会社ベストグロウ）</a:t>
            </a:r>
            <a:endParaRPr lang="en-US" sz="1400" dirty="0"/>
          </a:p>
        </p:txBody>
      </p:sp>
      <p:sp>
        <p:nvSpPr>
          <p:cNvPr id="11" name="Text 9"/>
          <p:cNvSpPr/>
          <p:nvPr/>
        </p:nvSpPr>
        <p:spPr>
          <a:xfrm>
            <a:off x="704088" y="2331720"/>
            <a:ext cx="6501384" cy="3813048"/>
          </a:xfrm>
          <a:prstGeom prst="rect">
            <a:avLst/>
          </a:prstGeom>
          <a:noFill/>
          <a:ln/>
        </p:spPr>
        <p:txBody>
          <a:bodyPr wrap="square" lIns="0" tIns="0" rIns="0" bIns="0" rtlCol="0" anchor="t"/>
          <a:lstStyle/>
          <a:p>
            <a:pPr marL="0" indent="0">
              <a:lnSpc>
                <a:spcPct val="103000"/>
              </a:lnSpc>
              <a:buNone/>
            </a:pPr>
            <a:r>
              <a:rPr lang="en-US" sz="1050" b="1" dirty="0">
                <a:solidFill>
                  <a:srgbClr val="2E6BB8"/>
                </a:solidFill>
                <a:latin typeface="Meiryo" pitchFamily="34" charset="0"/>
                <a:ea typeface="Meiryo" pitchFamily="34" charset="-122"/>
                <a:cs typeface="Meiryo" pitchFamily="34" charset="-120"/>
              </a:rPr>
              <a:t>▶</a:t>
            </a:r>
            <a:r>
              <a:rPr lang="en-US" sz="1050" b="1" dirty="0">
                <a:solidFill>
                  <a:srgbClr val="222222"/>
                </a:solidFill>
                <a:latin typeface="Meiryo" pitchFamily="34" charset="0"/>
                <a:ea typeface="Meiryo" pitchFamily="34" charset="-122"/>
                <a:cs typeface="Meiryo" pitchFamily="34" charset="-120"/>
              </a:rPr>
              <a:t>対象：</a:t>
            </a:r>
            <a:r>
              <a:rPr lang="en-US" sz="1050" dirty="0">
                <a:solidFill>
                  <a:srgbClr val="222222"/>
                </a:solidFill>
                <a:latin typeface="Meiryo" pitchFamily="34" charset="0"/>
                <a:ea typeface="Meiryo" pitchFamily="34" charset="-122"/>
                <a:cs typeface="Meiryo" pitchFamily="34" charset="-120"/>
              </a:rPr>
              <a:t>未就学児（児童発達支援）　※いずれも放課後等デイサービスを併設</a:t>
            </a:r>
            <a:endParaRPr lang="en-US" sz="1050" dirty="0"/>
          </a:p>
          <a:p>
            <a:pPr marL="0" indent="0">
              <a:lnSpc>
                <a:spcPct val="103000"/>
              </a:lnSpc>
              <a:buNone/>
            </a:pPr>
            <a:r>
              <a:rPr lang="en-US" sz="1050" b="1" dirty="0">
                <a:solidFill>
                  <a:srgbClr val="2E6BB8"/>
                </a:solidFill>
                <a:latin typeface="Meiryo" pitchFamily="34" charset="0"/>
                <a:ea typeface="Meiryo" pitchFamily="34" charset="-122"/>
                <a:cs typeface="Meiryo" pitchFamily="34" charset="-120"/>
              </a:rPr>
              <a:t>▶</a:t>
            </a:r>
            <a:r>
              <a:rPr lang="en-US" sz="1050" b="1" dirty="0">
                <a:solidFill>
                  <a:srgbClr val="222222"/>
                </a:solidFill>
                <a:latin typeface="Meiryo" pitchFamily="34" charset="0"/>
                <a:ea typeface="Meiryo" pitchFamily="34" charset="-122"/>
                <a:cs typeface="Meiryo" pitchFamily="34" charset="-120"/>
              </a:rPr>
              <a:t>所在地：</a:t>
            </a:r>
            <a:r>
              <a:rPr lang="en-US" sz="1050" dirty="0">
                <a:solidFill>
                  <a:srgbClr val="222222"/>
                </a:solidFill>
                <a:latin typeface="Meiryo" pitchFamily="34" charset="0"/>
                <a:ea typeface="Meiryo" pitchFamily="34" charset="-122"/>
                <a:cs typeface="Meiryo" pitchFamily="34" charset="-120"/>
              </a:rPr>
              <a:t>【東金教室】東新宿18-1 酒造ビル105号（東金駅 徒歩約9分）　【第2東金教室】田間1-6-4（徒歩約10分）</a:t>
            </a:r>
            <a:endParaRPr lang="en-US" sz="1050" dirty="0"/>
          </a:p>
          <a:p>
            <a:pPr marL="0" indent="0">
              <a:lnSpc>
                <a:spcPct val="103000"/>
              </a:lnSpc>
              <a:buNone/>
            </a:pPr>
            <a:r>
              <a:rPr lang="en-US" sz="1050" b="1" dirty="0">
                <a:solidFill>
                  <a:srgbClr val="2E6BB8"/>
                </a:solidFill>
                <a:latin typeface="Meiryo" pitchFamily="34" charset="0"/>
                <a:ea typeface="Meiryo" pitchFamily="34" charset="-122"/>
                <a:cs typeface="Meiryo" pitchFamily="34" charset="-120"/>
              </a:rPr>
              <a:t>▶</a:t>
            </a:r>
            <a:r>
              <a:rPr lang="en-US" sz="1050" b="1" dirty="0">
                <a:solidFill>
                  <a:srgbClr val="222222"/>
                </a:solidFill>
                <a:latin typeface="Meiryo" pitchFamily="34" charset="0"/>
                <a:ea typeface="Meiryo" pitchFamily="34" charset="-122"/>
                <a:cs typeface="Meiryo" pitchFamily="34" charset="-120"/>
              </a:rPr>
              <a:t>TEL／HP：</a:t>
            </a:r>
            <a:r>
              <a:rPr lang="en-US" sz="1050" dirty="0">
                <a:solidFill>
                  <a:srgbClr val="222222"/>
                </a:solidFill>
                <a:latin typeface="Meiryo" pitchFamily="34" charset="0"/>
                <a:ea typeface="Meiryo" pitchFamily="34" charset="-122"/>
                <a:cs typeface="Meiryo" pitchFamily="34" charset="-120"/>
              </a:rPr>
              <a:t>【東金】0475-77-8577　【第2】0475-86-6650 ／ kp-tougane.com・kp-daini-tougane.com</a:t>
            </a:r>
            <a:endParaRPr lang="en-US" sz="1050" dirty="0"/>
          </a:p>
          <a:p>
            <a:pPr marL="0" indent="0">
              <a:lnSpc>
                <a:spcPct val="103000"/>
              </a:lnSpc>
              <a:buNone/>
            </a:pPr>
            <a:r>
              <a:rPr lang="en-US" sz="1050" b="1" dirty="0">
                <a:solidFill>
                  <a:srgbClr val="2E6BB8"/>
                </a:solidFill>
                <a:latin typeface="Meiryo" pitchFamily="34" charset="0"/>
                <a:ea typeface="Meiryo" pitchFamily="34" charset="-122"/>
                <a:cs typeface="Meiryo" pitchFamily="34" charset="-120"/>
              </a:rPr>
              <a:t>▶</a:t>
            </a:r>
            <a:r>
              <a:rPr lang="en-US" sz="1050" b="1" dirty="0">
                <a:solidFill>
                  <a:srgbClr val="222222"/>
                </a:solidFill>
                <a:latin typeface="Meiryo" pitchFamily="34" charset="0"/>
                <a:ea typeface="Meiryo" pitchFamily="34" charset="-122"/>
                <a:cs typeface="Meiryo" pitchFamily="34" charset="-120"/>
              </a:rPr>
              <a:t>提供時間：</a:t>
            </a:r>
            <a:r>
              <a:rPr lang="en-US" sz="1050" dirty="0">
                <a:solidFill>
                  <a:srgbClr val="222222"/>
                </a:solidFill>
                <a:latin typeface="Meiryo" pitchFamily="34" charset="0"/>
                <a:ea typeface="Meiryo" pitchFamily="34" charset="-122"/>
                <a:cs typeface="Meiryo" pitchFamily="34" charset="-120"/>
              </a:rPr>
              <a:t>平日 9:00〜13:00 ／ 土曜・祝日 9:00〜14:00（2拠点共通）</a:t>
            </a:r>
            <a:endParaRPr lang="en-US" sz="1050" dirty="0"/>
          </a:p>
          <a:p>
            <a:pPr marL="0" indent="0">
              <a:lnSpc>
                <a:spcPct val="103000"/>
              </a:lnSpc>
              <a:buNone/>
            </a:pPr>
            <a:r>
              <a:rPr lang="en-US" sz="1050" b="1" dirty="0">
                <a:solidFill>
                  <a:srgbClr val="2E6BB8"/>
                </a:solidFill>
                <a:latin typeface="Meiryo" pitchFamily="34" charset="0"/>
                <a:ea typeface="Meiryo" pitchFamily="34" charset="-122"/>
                <a:cs typeface="Meiryo" pitchFamily="34" charset="-120"/>
              </a:rPr>
              <a:t>▶</a:t>
            </a:r>
            <a:r>
              <a:rPr lang="en-US" sz="1050" b="1" dirty="0">
                <a:solidFill>
                  <a:srgbClr val="222222"/>
                </a:solidFill>
                <a:latin typeface="Meiryo" pitchFamily="34" charset="0"/>
                <a:ea typeface="Meiryo" pitchFamily="34" charset="-122"/>
                <a:cs typeface="Meiryo" pitchFamily="34" charset="-120"/>
              </a:rPr>
              <a:t>定休日：</a:t>
            </a:r>
            <a:r>
              <a:rPr lang="en-US" sz="1050" dirty="0">
                <a:solidFill>
                  <a:srgbClr val="222222"/>
                </a:solidFill>
                <a:latin typeface="Meiryo" pitchFamily="34" charset="0"/>
                <a:ea typeface="Meiryo" pitchFamily="34" charset="-122"/>
                <a:cs typeface="Meiryo" pitchFamily="34" charset="-120"/>
              </a:rPr>
              <a:t>日曜日</a:t>
            </a:r>
            <a:endParaRPr lang="en-US" sz="1050" dirty="0"/>
          </a:p>
          <a:p>
            <a:pPr marL="0" indent="0">
              <a:lnSpc>
                <a:spcPct val="103000"/>
              </a:lnSpc>
              <a:buNone/>
            </a:pPr>
            <a:r>
              <a:rPr lang="en-US" sz="1050" b="1" dirty="0">
                <a:solidFill>
                  <a:srgbClr val="2E6BB8"/>
                </a:solidFill>
                <a:latin typeface="Meiryo" pitchFamily="34" charset="0"/>
                <a:ea typeface="Meiryo" pitchFamily="34" charset="-122"/>
                <a:cs typeface="Meiryo" pitchFamily="34" charset="-120"/>
              </a:rPr>
              <a:t>▶</a:t>
            </a:r>
            <a:r>
              <a:rPr lang="en-US" sz="1050" b="1" dirty="0">
                <a:solidFill>
                  <a:srgbClr val="222222"/>
                </a:solidFill>
                <a:latin typeface="Meiryo" pitchFamily="34" charset="0"/>
                <a:ea typeface="Meiryo" pitchFamily="34" charset="-122"/>
                <a:cs typeface="Meiryo" pitchFamily="34" charset="-120"/>
              </a:rPr>
              <a:t>定員／事業所番号：</a:t>
            </a:r>
            <a:r>
              <a:rPr lang="en-US" sz="1050" dirty="0">
                <a:solidFill>
                  <a:srgbClr val="222222"/>
                </a:solidFill>
                <a:latin typeface="Meiryo" pitchFamily="34" charset="0"/>
                <a:ea typeface="Meiryo" pitchFamily="34" charset="-122"/>
                <a:cs typeface="Meiryo" pitchFamily="34" charset="-120"/>
              </a:rPr>
              <a:t>各10名（計20名） ／ 1250800057（東金）・1250800172（第2東金）</a:t>
            </a:r>
            <a:endParaRPr lang="en-US" sz="1050" dirty="0"/>
          </a:p>
          <a:p>
            <a:pPr marL="0" indent="0">
              <a:lnSpc>
                <a:spcPct val="103000"/>
              </a:lnSpc>
              <a:spcAft>
                <a:spcPts val="500"/>
              </a:spcAft>
              <a:buNone/>
            </a:pPr>
            <a:endParaRPr lang="en-US" sz="1050" dirty="0"/>
          </a:p>
          <a:p>
            <a:pPr marL="0" indent="0">
              <a:lnSpc>
                <a:spcPct val="103000"/>
              </a:lnSpc>
              <a:buNone/>
            </a:pPr>
            <a:r>
              <a:rPr lang="en-US" sz="1050" b="1" dirty="0">
                <a:solidFill>
                  <a:srgbClr val="2E6BB8"/>
                </a:solidFill>
                <a:latin typeface="Meiryo" pitchFamily="34" charset="0"/>
                <a:ea typeface="Meiryo" pitchFamily="34" charset="-122"/>
                <a:cs typeface="Meiryo" pitchFamily="34" charset="-120"/>
              </a:rPr>
              <a:t>▶</a:t>
            </a:r>
            <a:r>
              <a:rPr lang="en-US" sz="1050" b="1" dirty="0">
                <a:solidFill>
                  <a:srgbClr val="222222"/>
                </a:solidFill>
                <a:latin typeface="Meiryo" pitchFamily="34" charset="0"/>
                <a:ea typeface="Meiryo" pitchFamily="34" charset="-122"/>
                <a:cs typeface="Meiryo" pitchFamily="34" charset="-120"/>
              </a:rPr>
              <a:t>療育プログラムの特徴：</a:t>
            </a:r>
            <a:r>
              <a:rPr lang="en-US" sz="1050" dirty="0">
                <a:solidFill>
                  <a:srgbClr val="222222"/>
                </a:solidFill>
                <a:latin typeface="Meiryo" pitchFamily="34" charset="0"/>
                <a:ea typeface="Meiryo" pitchFamily="34" charset="-122"/>
                <a:cs typeface="Meiryo" pitchFamily="34" charset="-120"/>
              </a:rPr>
              <a:t>運動療育を主軸に、学習・あそびを取り入れた総合的な療育を提供。</a:t>
            </a:r>
            <a:endParaRPr lang="en-US" sz="1050" dirty="0"/>
          </a:p>
          <a:p>
            <a:pPr marL="0" indent="0">
              <a:lnSpc>
                <a:spcPct val="103000"/>
              </a:lnSpc>
              <a:spcAft>
                <a:spcPts val="500"/>
              </a:spcAft>
              <a:buNone/>
            </a:pPr>
            <a:r>
              <a:rPr lang="en-US" sz="1050" dirty="0">
                <a:solidFill>
                  <a:srgbClr val="222222"/>
                </a:solidFill>
                <a:latin typeface="Meiryo" pitchFamily="34" charset="0"/>
                <a:ea typeface="Meiryo" pitchFamily="34" charset="-122"/>
                <a:cs typeface="Meiryo" pitchFamily="34" charset="-120"/>
              </a:rPr>
              <a:t>・「柳沢運動プログラム」を導入。運動あそびが大脳活動の発達を促すという理論に基づくカリキュラム。</a:t>
            </a:r>
            <a:endParaRPr lang="en-US" sz="1050" dirty="0"/>
          </a:p>
          <a:p>
            <a:pPr marL="0" indent="0">
              <a:lnSpc>
                <a:spcPct val="103000"/>
              </a:lnSpc>
              <a:spcAft>
                <a:spcPts val="500"/>
              </a:spcAft>
              <a:buNone/>
            </a:pPr>
            <a:r>
              <a:rPr lang="en-US" sz="1050" dirty="0">
                <a:solidFill>
                  <a:srgbClr val="222222"/>
                </a:solidFill>
                <a:latin typeface="Meiryo" pitchFamily="34" charset="0"/>
                <a:ea typeface="Meiryo" pitchFamily="34" charset="-122"/>
                <a:cs typeface="Meiryo" pitchFamily="34" charset="-120"/>
              </a:rPr>
              <a:t>・法人は千葉県内に児発・放デイ・相談支援あわせて10事業所を展開（本社：東金市道庭925-1）。送迎あり。</a:t>
            </a:r>
            <a:endParaRPr lang="en-US" sz="1050" dirty="0"/>
          </a:p>
          <a:p>
            <a:pPr marL="0" indent="0">
              <a:lnSpc>
                <a:spcPct val="103000"/>
              </a:lnSpc>
              <a:spcAft>
                <a:spcPts val="500"/>
              </a:spcAft>
              <a:buNone/>
            </a:pPr>
            <a:endParaRPr lang="en-US" sz="1050" dirty="0"/>
          </a:p>
          <a:p>
            <a:pPr marL="0" indent="0">
              <a:lnSpc>
                <a:spcPct val="103000"/>
              </a:lnSpc>
              <a:buNone/>
            </a:pPr>
            <a:r>
              <a:rPr lang="en-US" sz="1050" b="1" dirty="0">
                <a:solidFill>
                  <a:srgbClr val="2E6BB8"/>
                </a:solidFill>
                <a:latin typeface="Meiryo" pitchFamily="34" charset="0"/>
                <a:ea typeface="Meiryo" pitchFamily="34" charset="-122"/>
                <a:cs typeface="Meiryo" pitchFamily="34" charset="-120"/>
              </a:rPr>
              <a:t>▶</a:t>
            </a:r>
            <a:r>
              <a:rPr lang="en-US" sz="1050" b="1" dirty="0">
                <a:solidFill>
                  <a:srgbClr val="222222"/>
                </a:solidFill>
                <a:latin typeface="Meiryo" pitchFamily="34" charset="0"/>
                <a:ea typeface="Meiryo" pitchFamily="34" charset="-122"/>
                <a:cs typeface="Meiryo" pitchFamily="34" charset="-120"/>
              </a:rPr>
              <a:t>出典：</a:t>
            </a:r>
            <a:r>
              <a:rPr lang="en-US" sz="1050" dirty="0">
                <a:solidFill>
                  <a:srgbClr val="222222"/>
                </a:solidFill>
                <a:latin typeface="Meiryo" pitchFamily="34" charset="0"/>
                <a:ea typeface="Meiryo" pitchFamily="34" charset="-122"/>
                <a:cs typeface="Meiryo" pitchFamily="34" charset="-120"/>
              </a:rPr>
              <a:t>千葉県 障害福祉サービス等情報公表システム／公式HP kp-tougane.com・kp-daini-tougane.com</a:t>
            </a:r>
            <a:endParaRPr lang="en-US" sz="1050" dirty="0"/>
          </a:p>
          <a:p>
            <a:pPr marL="0" indent="0">
              <a:lnSpc>
                <a:spcPct val="103000"/>
              </a:lnSpc>
              <a:buNone/>
            </a:pPr>
            <a:r>
              <a:rPr lang="en-US" sz="1050" b="1" dirty="0">
                <a:solidFill>
                  <a:srgbClr val="2E6BB8"/>
                </a:solidFill>
                <a:latin typeface="Meiryo" pitchFamily="34" charset="0"/>
                <a:ea typeface="Meiryo" pitchFamily="34" charset="-122"/>
                <a:cs typeface="Meiryo" pitchFamily="34" charset="-120"/>
              </a:rPr>
              <a:t>▶</a:t>
            </a:r>
            <a:r>
              <a:rPr lang="en-US" sz="1050" b="1" dirty="0">
                <a:solidFill>
                  <a:srgbClr val="222222"/>
                </a:solidFill>
                <a:latin typeface="Meiryo" pitchFamily="34" charset="0"/>
                <a:ea typeface="Meiryo" pitchFamily="34" charset="-122"/>
                <a:cs typeface="Meiryo" pitchFamily="34" charset="-120"/>
              </a:rPr>
              <a:t>要確認事項：</a:t>
            </a:r>
            <a:r>
              <a:rPr lang="en-US" sz="1050" dirty="0">
                <a:solidFill>
                  <a:srgbClr val="222222"/>
                </a:solidFill>
                <a:latin typeface="Meiryo" pitchFamily="34" charset="0"/>
                <a:ea typeface="Meiryo" pitchFamily="34" charset="-122"/>
                <a:cs typeface="Meiryo" pitchFamily="34" charset="-120"/>
              </a:rPr>
              <a:t>児発と放デイの時間帯区分、送迎範囲、両拠点の現在の空き状況</a:t>
            </a:r>
            <a:endParaRPr lang="en-US" sz="1050" dirty="0"/>
          </a:p>
        </p:txBody>
      </p:sp>
      <p:sp>
        <p:nvSpPr>
          <p:cNvPr id="13" name="Text 11"/>
          <p:cNvSpPr/>
          <p:nvPr/>
        </p:nvSpPr>
        <p:spPr>
          <a:xfrm>
            <a:off x="7635240" y="1783080"/>
            <a:ext cx="4069080" cy="2148840"/>
          </a:xfrm>
          <a:prstGeom prst="rect">
            <a:avLst/>
          </a:prstGeom>
          <a:solidFill>
            <a:srgbClr val="F4F6FA"/>
          </a:solidFill>
          <a:ln w="12700">
            <a:solidFill>
              <a:srgbClr val="9AA7B8"/>
            </a:solidFill>
            <a:prstDash val="dash"/>
          </a:ln>
        </p:spPr>
        <p:txBody>
          <a:bodyPr wrap="square" lIns="91440" tIns="45720" rIns="91440" bIns="45720" rtlCol="0" anchor="ctr"/>
          <a:lstStyle/>
          <a:p>
            <a:pPr marL="0" indent="0" algn="ctr">
              <a:lnSpc>
                <a:spcPct val="110000"/>
              </a:lnSpc>
              <a:buNone/>
            </a:pPr>
            <a:r>
              <a:rPr lang="en-US" sz="1200" b="1" dirty="0">
                <a:solidFill>
                  <a:srgbClr val="8A99AD"/>
                </a:solidFill>
                <a:latin typeface="Meiryo" pitchFamily="34" charset="0"/>
                <a:ea typeface="Meiryo" pitchFamily="34" charset="-122"/>
                <a:cs typeface="Meiryo" pitchFamily="34" charset="-120"/>
              </a:rPr>
              <a:t>［ 写真挿入エリア ］</a:t>
            </a:r>
            <a:endParaRPr lang="en-US" sz="1200" dirty="0"/>
          </a:p>
          <a:p>
            <a:pPr marL="0" indent="0" algn="ctr">
              <a:lnSpc>
                <a:spcPct val="110000"/>
              </a:lnSpc>
              <a:buNone/>
            </a:pPr>
            <a:r>
              <a:rPr lang="en-US" sz="950" dirty="0">
                <a:solidFill>
                  <a:srgbClr val="97A4B6"/>
                </a:solidFill>
                <a:latin typeface="Meiryo" pitchFamily="34" charset="0"/>
                <a:ea typeface="Meiryo" pitchFamily="34" charset="-122"/>
                <a:cs typeface="Meiryo" pitchFamily="34" charset="-120"/>
              </a:rPr>
              <a:t>（公式HP kp-tougane.com／kp-daini-tougane.com 掲載の教室・運動あそびの写真を挿入）</a:t>
            </a:r>
            <a:endParaRPr lang="en-US" sz="1200" dirty="0"/>
          </a:p>
        </p:txBody>
      </p:sp>
      <p:sp>
        <p:nvSpPr>
          <p:cNvPr id="14" name="Shape 12"/>
          <p:cNvSpPr/>
          <p:nvPr/>
        </p:nvSpPr>
        <p:spPr>
          <a:xfrm>
            <a:off x="7635240" y="4069080"/>
            <a:ext cx="4069080" cy="2148840"/>
          </a:xfrm>
          <a:prstGeom prst="rect">
            <a:avLst/>
          </a:prstGeom>
          <a:solidFill>
            <a:srgbClr val="EEF2F8"/>
          </a:solidFill>
          <a:ln w="12700">
            <a:solidFill>
              <a:srgbClr val="9AA7B8"/>
            </a:solidFill>
            <a:prstDash val="solid"/>
          </a:ln>
        </p:spPr>
      </p:sp>
      <p:sp>
        <p:nvSpPr>
          <p:cNvPr id="15" name="Text 13"/>
          <p:cNvSpPr/>
          <p:nvPr/>
        </p:nvSpPr>
        <p:spPr>
          <a:xfrm>
            <a:off x="7818120" y="4187952"/>
            <a:ext cx="3703320" cy="320040"/>
          </a:xfrm>
          <a:prstGeom prst="rect">
            <a:avLst/>
          </a:prstGeom>
          <a:noFill/>
          <a:ln/>
        </p:spPr>
        <p:txBody>
          <a:bodyPr wrap="square" lIns="0" tIns="0" rIns="0" bIns="0" rtlCol="0" anchor="ctr"/>
          <a:lstStyle/>
          <a:p>
            <a:pPr marL="0" indent="0">
              <a:buNone/>
            </a:pPr>
            <a:r>
              <a:rPr lang="en-US" sz="1250" b="1" dirty="0">
                <a:solidFill>
                  <a:srgbClr val="1B3A6B"/>
                </a:solidFill>
                <a:latin typeface="Meiryo" pitchFamily="34" charset="0"/>
                <a:ea typeface="Meiryo" pitchFamily="34" charset="-122"/>
                <a:cs typeface="Meiryo" pitchFamily="34" charset="-120"/>
              </a:rPr>
              <a:t>注目ポイント</a:t>
            </a:r>
            <a:endParaRPr lang="en-US" sz="1250" dirty="0"/>
          </a:p>
        </p:txBody>
      </p:sp>
      <p:sp>
        <p:nvSpPr>
          <p:cNvPr id="16" name="Text 14"/>
          <p:cNvSpPr/>
          <p:nvPr/>
        </p:nvSpPr>
        <p:spPr>
          <a:xfrm>
            <a:off x="7818120" y="4553712"/>
            <a:ext cx="3703320" cy="1554480"/>
          </a:xfrm>
          <a:prstGeom prst="rect">
            <a:avLst/>
          </a:prstGeom>
          <a:noFill/>
          <a:ln/>
        </p:spPr>
        <p:txBody>
          <a:bodyPr wrap="square" lIns="0" tIns="0" rIns="0" bIns="0" rtlCol="0" anchor="t"/>
          <a:lstStyle/>
          <a:p>
            <a:pPr marL="342900" indent="-342900">
              <a:spcAft>
                <a:spcPts val="700"/>
              </a:spcAft>
              <a:buSzPct val="100000"/>
              <a:buChar char="•"/>
            </a:pPr>
            <a:r>
              <a:rPr lang="en-US" sz="950" dirty="0">
                <a:solidFill>
                  <a:srgbClr val="222222"/>
                </a:solidFill>
                <a:latin typeface="メイリオ" panose="020B0604030504040204" pitchFamily="50" charset="-128"/>
                <a:ea typeface="メイリオ" panose="020B0604030504040204" pitchFamily="50" charset="-128"/>
                <a:cs typeface="Meiryo" pitchFamily="34" charset="-120"/>
              </a:rPr>
              <a:t>「運動療育（柳沢運動プログラム）」という市内で最も明確なプログラム軸を持ち、Webでの情報発信量も最大級。</a:t>
            </a:r>
            <a:endParaRPr lang="en-US" sz="1000" dirty="0">
              <a:latin typeface="メイリオ" panose="020B0604030504040204" pitchFamily="50" charset="-128"/>
              <a:ea typeface="メイリオ" panose="020B0604030504040204" pitchFamily="50" charset="-128"/>
            </a:endParaRPr>
          </a:p>
          <a:p>
            <a:pPr marL="342900" indent="-342900">
              <a:spcAft>
                <a:spcPts val="700"/>
              </a:spcAft>
              <a:buSzPct val="100000"/>
              <a:buChar char="•"/>
            </a:pPr>
            <a:r>
              <a:rPr lang="en-US" sz="950" dirty="0">
                <a:solidFill>
                  <a:srgbClr val="222222"/>
                </a:solidFill>
                <a:latin typeface="メイリオ" panose="020B0604030504040204" pitchFamily="50" charset="-128"/>
                <a:ea typeface="メイリオ" panose="020B0604030504040204" pitchFamily="50" charset="-128"/>
                <a:cs typeface="Meiryo" pitchFamily="34" charset="-120"/>
              </a:rPr>
              <a:t>児発の提供時間は平日9:00〜13:00と午前中心。午後は放課後等デイサービスに充てる時間割とみられる。</a:t>
            </a:r>
            <a:endParaRPr lang="en-US" sz="1000" dirty="0">
              <a:latin typeface="メイリオ" panose="020B0604030504040204" pitchFamily="50" charset="-128"/>
              <a:ea typeface="メイリオ" panose="020B0604030504040204" pitchFamily="50" charset="-128"/>
            </a:endParaRPr>
          </a:p>
          <a:p>
            <a:pPr marL="342900" indent="-342900">
              <a:spcAft>
                <a:spcPts val="700"/>
              </a:spcAft>
              <a:buSzPct val="100000"/>
              <a:buChar char="•"/>
            </a:pPr>
            <a:r>
              <a:rPr lang="en-US" sz="950" dirty="0">
                <a:solidFill>
                  <a:srgbClr val="222222"/>
                </a:solidFill>
                <a:latin typeface="メイリオ" panose="020B0604030504040204" pitchFamily="50" charset="-128"/>
                <a:ea typeface="メイリオ" panose="020B0604030504040204" pitchFamily="50" charset="-128"/>
                <a:cs typeface="Meiryo" pitchFamily="34" charset="-120"/>
              </a:rPr>
              <a:t>東金駅圏に2拠点を置き、同一法人の相談支援事業所と連携。相談から通所まで法人内で完結する導線を構築。</a:t>
            </a:r>
            <a:endParaRPr lang="en-US" sz="1000" dirty="0">
              <a:latin typeface="メイリオ" panose="020B0604030504040204" pitchFamily="50" charset="-128"/>
              <a:ea typeface="メイリオ" panose="020B0604030504040204" pitchFamily="50" charset="-128"/>
            </a:endParaRPr>
          </a:p>
          <a:p>
            <a:pPr marL="342900" indent="-342900">
              <a:spcAft>
                <a:spcPts val="700"/>
              </a:spcAft>
              <a:buSzPct val="100000"/>
              <a:buChar char="•"/>
            </a:pPr>
            <a:r>
              <a:rPr lang="en-US" sz="950" dirty="0">
                <a:solidFill>
                  <a:srgbClr val="222222"/>
                </a:solidFill>
                <a:latin typeface="メイリオ" panose="020B0604030504040204" pitchFamily="50" charset="-128"/>
                <a:ea typeface="メイリオ" panose="020B0604030504040204" pitchFamily="50" charset="-128"/>
                <a:cs typeface="Meiryo" pitchFamily="34" charset="-120"/>
              </a:rPr>
              <a:t>市内で最も認知度・集客力が高いと推察され、実質的なベンチマーク先となる事業者。</a:t>
            </a:r>
            <a:endParaRPr lang="en-US" sz="1000" dirty="0">
              <a:latin typeface="メイリオ" panose="020B0604030504040204" pitchFamily="50" charset="-128"/>
              <a:ea typeface="メイリオ" panose="020B0604030504040204" pitchFamily="50" charset="-128"/>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932688"/>
          </a:xfrm>
          <a:prstGeom prst="rect">
            <a:avLst/>
          </a:prstGeom>
          <a:solidFill>
            <a:srgbClr val="1B3A6B"/>
          </a:solidFill>
          <a:ln/>
        </p:spPr>
      </p:sp>
      <p:sp>
        <p:nvSpPr>
          <p:cNvPr id="3" name="Shape 1"/>
          <p:cNvSpPr/>
          <p:nvPr/>
        </p:nvSpPr>
        <p:spPr>
          <a:xfrm>
            <a:off x="0" y="0"/>
            <a:ext cx="164592" cy="932688"/>
          </a:xfrm>
          <a:prstGeom prst="rect">
            <a:avLst/>
          </a:prstGeom>
          <a:solidFill>
            <a:srgbClr val="13294B"/>
          </a:solidFill>
          <a:ln/>
        </p:spPr>
      </p:sp>
      <p:sp>
        <p:nvSpPr>
          <p:cNvPr id="4" name="Text 2"/>
          <p:cNvSpPr/>
          <p:nvPr/>
        </p:nvSpPr>
        <p:spPr>
          <a:xfrm>
            <a:off x="502920" y="54864"/>
            <a:ext cx="8686800" cy="822960"/>
          </a:xfrm>
          <a:prstGeom prst="rect">
            <a:avLst/>
          </a:prstGeom>
          <a:noFill/>
          <a:ln/>
        </p:spPr>
        <p:txBody>
          <a:bodyPr wrap="square" lIns="0" tIns="0" rIns="0" bIns="0" rtlCol="0" anchor="ctr"/>
          <a:lstStyle/>
          <a:p>
            <a:pPr marL="0" indent="0">
              <a:buNone/>
            </a:pPr>
            <a:r>
              <a:rPr lang="en-US" sz="3000" b="1" dirty="0">
                <a:solidFill>
                  <a:srgbClr val="FFFFFF"/>
                </a:solidFill>
                <a:latin typeface="Meiryo" pitchFamily="34" charset="0"/>
                <a:ea typeface="Meiryo" pitchFamily="34" charset="-122"/>
                <a:cs typeface="Meiryo" pitchFamily="34" charset="-120"/>
              </a:rPr>
              <a:t>II．　事業所別 詳細</a:t>
            </a:r>
            <a:endParaRPr lang="en-US" sz="3000" dirty="0"/>
          </a:p>
        </p:txBody>
      </p:sp>
      <p:sp>
        <p:nvSpPr>
          <p:cNvPr id="5" name="Text 3"/>
          <p:cNvSpPr/>
          <p:nvPr/>
        </p:nvSpPr>
        <p:spPr>
          <a:xfrm>
            <a:off x="502920" y="1115568"/>
            <a:ext cx="8503920" cy="457200"/>
          </a:xfrm>
          <a:prstGeom prst="rect">
            <a:avLst/>
          </a:prstGeom>
          <a:noFill/>
          <a:ln/>
        </p:spPr>
        <p:txBody>
          <a:bodyPr wrap="square" lIns="0" tIns="0" rIns="0" bIns="0" rtlCol="0" anchor="ctr"/>
          <a:lstStyle/>
          <a:p>
            <a:pPr marL="0" indent="0">
              <a:buNone/>
            </a:pPr>
            <a:r>
              <a:rPr lang="en-US" sz="2100" b="1" dirty="0">
                <a:solidFill>
                  <a:srgbClr val="222222"/>
                </a:solidFill>
                <a:latin typeface="Meiryo" pitchFamily="34" charset="0"/>
                <a:ea typeface="Meiryo" pitchFamily="34" charset="-122"/>
                <a:cs typeface="Meiryo" pitchFamily="34" charset="-120"/>
              </a:rPr>
              <a:t>④ 基本塾優遊 日吉台 ／ 西が丘 ／ 八坂西</a:t>
            </a:r>
            <a:endParaRPr lang="en-US" sz="2100" dirty="0"/>
          </a:p>
        </p:txBody>
      </p:sp>
      <p:sp>
        <p:nvSpPr>
          <p:cNvPr id="6" name="Shape 4"/>
          <p:cNvSpPr/>
          <p:nvPr/>
        </p:nvSpPr>
        <p:spPr>
          <a:xfrm>
            <a:off x="10104120" y="1170432"/>
            <a:ext cx="1600200" cy="457200"/>
          </a:xfrm>
          <a:prstGeom prst="rect">
            <a:avLst/>
          </a:prstGeom>
          <a:solidFill>
            <a:srgbClr val="FFFFFF"/>
          </a:solidFill>
          <a:ln w="15875">
            <a:solidFill>
              <a:srgbClr val="1B3A6B"/>
            </a:solidFill>
            <a:prstDash val="solid"/>
          </a:ln>
        </p:spPr>
      </p:sp>
      <p:sp>
        <p:nvSpPr>
          <p:cNvPr id="7" name="Text 5"/>
          <p:cNvSpPr/>
          <p:nvPr/>
        </p:nvSpPr>
        <p:spPr>
          <a:xfrm>
            <a:off x="10104120" y="1170432"/>
            <a:ext cx="1600200" cy="457200"/>
          </a:xfrm>
          <a:prstGeom prst="rect">
            <a:avLst/>
          </a:prstGeom>
          <a:noFill/>
          <a:ln/>
        </p:spPr>
        <p:txBody>
          <a:bodyPr wrap="square" lIns="0" tIns="0" rIns="0" bIns="0" rtlCol="0" anchor="ctr"/>
          <a:lstStyle/>
          <a:p>
            <a:pPr marL="0" indent="0" algn="ctr">
              <a:buNone/>
            </a:pPr>
            <a:r>
              <a:rPr lang="en-US" sz="1400" b="1" dirty="0">
                <a:solidFill>
                  <a:srgbClr val="1B3A6B"/>
                </a:solidFill>
                <a:latin typeface="Meiryo" pitchFamily="34" charset="0"/>
                <a:ea typeface="Meiryo" pitchFamily="34" charset="-122"/>
                <a:cs typeface="Meiryo" pitchFamily="34" charset="-120"/>
              </a:rPr>
              <a:t>東金市</a:t>
            </a:r>
            <a:endParaRPr lang="en-US" sz="1400" dirty="0"/>
          </a:p>
        </p:txBody>
      </p:sp>
      <p:sp>
        <p:nvSpPr>
          <p:cNvPr id="8" name="Text 6"/>
          <p:cNvSpPr/>
          <p:nvPr/>
        </p:nvSpPr>
        <p:spPr>
          <a:xfrm>
            <a:off x="502920" y="6510528"/>
            <a:ext cx="7315200" cy="274320"/>
          </a:xfrm>
          <a:prstGeom prst="rect">
            <a:avLst/>
          </a:prstGeom>
          <a:noFill/>
          <a:ln/>
        </p:spPr>
        <p:txBody>
          <a:bodyPr wrap="square" lIns="0" tIns="0" rIns="0" bIns="0" rtlCol="0" anchor="ctr"/>
          <a:lstStyle/>
          <a:p>
            <a:pPr marL="0" indent="0">
              <a:buNone/>
            </a:pPr>
            <a:r>
              <a:rPr lang="en-US" sz="850" dirty="0">
                <a:solidFill>
                  <a:srgbClr val="666666"/>
                </a:solidFill>
                <a:latin typeface="Meiryo" pitchFamily="34" charset="0"/>
                <a:ea typeface="Meiryo" pitchFamily="34" charset="-122"/>
                <a:cs typeface="Meiryo" pitchFamily="34" charset="-120"/>
              </a:rPr>
              <a:t>Copyright Funai Soken Group. All rights reserved.</a:t>
            </a:r>
            <a:endParaRPr lang="en-US" sz="850" dirty="0"/>
          </a:p>
        </p:txBody>
      </p:sp>
      <p:sp>
        <p:nvSpPr>
          <p:cNvPr id="9" name="Shape 7"/>
          <p:cNvSpPr/>
          <p:nvPr/>
        </p:nvSpPr>
        <p:spPr>
          <a:xfrm>
            <a:off x="502920" y="1783080"/>
            <a:ext cx="6903720" cy="4434840"/>
          </a:xfrm>
          <a:prstGeom prst="rect">
            <a:avLst/>
          </a:prstGeom>
          <a:solidFill>
            <a:srgbClr val="FFFFFF"/>
          </a:solidFill>
          <a:ln w="12700">
            <a:solidFill>
              <a:srgbClr val="9AA7B8"/>
            </a:solidFill>
            <a:prstDash val="solid"/>
          </a:ln>
          <a:effectLst>
            <a:outerShdw blurRad="63500" dist="25400" dir="8100000" algn="bl" rotWithShape="0">
              <a:srgbClr val="000000">
                <a:alpha val="12000"/>
              </a:srgbClr>
            </a:outerShdw>
          </a:effectLst>
        </p:spPr>
      </p:sp>
      <p:sp>
        <p:nvSpPr>
          <p:cNvPr id="10" name="Text 8"/>
          <p:cNvSpPr/>
          <p:nvPr/>
        </p:nvSpPr>
        <p:spPr>
          <a:xfrm>
            <a:off x="704088" y="1911096"/>
            <a:ext cx="6501384" cy="384048"/>
          </a:xfrm>
          <a:prstGeom prst="rect">
            <a:avLst/>
          </a:prstGeom>
          <a:noFill/>
          <a:ln/>
        </p:spPr>
        <p:txBody>
          <a:bodyPr wrap="square" lIns="0" tIns="0" rIns="0" bIns="0" rtlCol="0" anchor="ctr"/>
          <a:lstStyle/>
          <a:p>
            <a:pPr marL="0" indent="0">
              <a:buNone/>
            </a:pPr>
            <a:r>
              <a:rPr lang="en-US" sz="1400" b="1" dirty="0">
                <a:solidFill>
                  <a:srgbClr val="1B3A6B"/>
                </a:solidFill>
                <a:latin typeface="Meiryo" pitchFamily="34" charset="0"/>
                <a:ea typeface="Meiryo" pitchFamily="34" charset="-122"/>
                <a:cs typeface="Meiryo" pitchFamily="34" charset="-120"/>
              </a:rPr>
              <a:t>基本塾優遊 日吉台・西が丘・八坂西（運営：特定非営利活動法人 基本塾）</a:t>
            </a:r>
            <a:endParaRPr lang="en-US" sz="1400" dirty="0"/>
          </a:p>
        </p:txBody>
      </p:sp>
      <p:sp>
        <p:nvSpPr>
          <p:cNvPr id="11" name="Text 9"/>
          <p:cNvSpPr/>
          <p:nvPr/>
        </p:nvSpPr>
        <p:spPr>
          <a:xfrm>
            <a:off x="704088" y="2331720"/>
            <a:ext cx="6501384" cy="3813048"/>
          </a:xfrm>
          <a:prstGeom prst="rect">
            <a:avLst/>
          </a:prstGeom>
          <a:noFill/>
          <a:ln/>
        </p:spPr>
        <p:txBody>
          <a:bodyPr wrap="square" lIns="0" tIns="0" rIns="0" bIns="0" rtlCol="0" anchor="t"/>
          <a:lstStyle/>
          <a:p>
            <a:pPr marL="0" indent="0">
              <a:lnSpc>
                <a:spcPct val="103000"/>
              </a:lnSpc>
              <a:buNone/>
            </a:pPr>
            <a:r>
              <a:rPr lang="en-US" sz="1050" b="1" dirty="0">
                <a:solidFill>
                  <a:srgbClr val="2E6BB8"/>
                </a:solidFill>
                <a:latin typeface="Meiryo" pitchFamily="34" charset="0"/>
                <a:ea typeface="Meiryo" pitchFamily="34" charset="-122"/>
                <a:cs typeface="Meiryo" pitchFamily="34" charset="-120"/>
              </a:rPr>
              <a:t>▶</a:t>
            </a:r>
            <a:r>
              <a:rPr lang="en-US" sz="1050" b="1" dirty="0">
                <a:solidFill>
                  <a:srgbClr val="222222"/>
                </a:solidFill>
                <a:latin typeface="Meiryo" pitchFamily="34" charset="0"/>
                <a:ea typeface="Meiryo" pitchFamily="34" charset="-122"/>
                <a:cs typeface="Meiryo" pitchFamily="34" charset="-120"/>
              </a:rPr>
              <a:t>対象：</a:t>
            </a:r>
            <a:r>
              <a:rPr lang="en-US" sz="1050" dirty="0">
                <a:solidFill>
                  <a:srgbClr val="222222"/>
                </a:solidFill>
                <a:latin typeface="Meiryo" pitchFamily="34" charset="0"/>
                <a:ea typeface="Meiryo" pitchFamily="34" charset="-122"/>
                <a:cs typeface="Meiryo" pitchFamily="34" charset="-120"/>
              </a:rPr>
              <a:t>未就学児（児童発達支援）　※いずれも放課後等デイサービスを併設</a:t>
            </a:r>
            <a:endParaRPr lang="en-US" sz="1050" dirty="0"/>
          </a:p>
          <a:p>
            <a:pPr marL="0" indent="0">
              <a:lnSpc>
                <a:spcPct val="103000"/>
              </a:lnSpc>
              <a:buNone/>
            </a:pPr>
            <a:r>
              <a:rPr lang="en-US" sz="1050" b="1" dirty="0">
                <a:solidFill>
                  <a:srgbClr val="2E6BB8"/>
                </a:solidFill>
                <a:latin typeface="Meiryo" pitchFamily="34" charset="0"/>
                <a:ea typeface="Meiryo" pitchFamily="34" charset="-122"/>
                <a:cs typeface="Meiryo" pitchFamily="34" charset="-120"/>
              </a:rPr>
              <a:t>▶</a:t>
            </a:r>
            <a:r>
              <a:rPr lang="en-US" sz="1050" b="1" dirty="0">
                <a:solidFill>
                  <a:srgbClr val="222222"/>
                </a:solidFill>
                <a:latin typeface="Meiryo" pitchFamily="34" charset="0"/>
                <a:ea typeface="Meiryo" pitchFamily="34" charset="-122"/>
                <a:cs typeface="Meiryo" pitchFamily="34" charset="-120"/>
              </a:rPr>
              <a:t>所在地：</a:t>
            </a:r>
            <a:r>
              <a:rPr lang="en-US" sz="1050" dirty="0">
                <a:solidFill>
                  <a:srgbClr val="222222"/>
                </a:solidFill>
                <a:latin typeface="Meiryo" pitchFamily="34" charset="0"/>
                <a:ea typeface="Meiryo" pitchFamily="34" charset="-122"/>
                <a:cs typeface="Meiryo" pitchFamily="34" charset="-120"/>
              </a:rPr>
              <a:t>【日吉台】日吉台2-26-3　【西が丘】日吉台5-15-2　【八坂西】八坂台4-2-4　※法人本部：日吉台2-26-3</a:t>
            </a:r>
            <a:endParaRPr lang="en-US" sz="1050" dirty="0"/>
          </a:p>
          <a:p>
            <a:pPr marL="0" indent="0">
              <a:lnSpc>
                <a:spcPct val="103000"/>
              </a:lnSpc>
              <a:buNone/>
            </a:pPr>
            <a:r>
              <a:rPr lang="en-US" sz="1050" b="1" dirty="0">
                <a:solidFill>
                  <a:srgbClr val="2E6BB8"/>
                </a:solidFill>
                <a:latin typeface="Meiryo" pitchFamily="34" charset="0"/>
                <a:ea typeface="Meiryo" pitchFamily="34" charset="-122"/>
                <a:cs typeface="Meiryo" pitchFamily="34" charset="-120"/>
              </a:rPr>
              <a:t>▶</a:t>
            </a:r>
            <a:r>
              <a:rPr lang="en-US" sz="1050" b="1" dirty="0">
                <a:solidFill>
                  <a:srgbClr val="222222"/>
                </a:solidFill>
                <a:latin typeface="Meiryo" pitchFamily="34" charset="0"/>
                <a:ea typeface="Meiryo" pitchFamily="34" charset="-122"/>
                <a:cs typeface="Meiryo" pitchFamily="34" charset="-120"/>
              </a:rPr>
              <a:t>TEL／HP：</a:t>
            </a:r>
            <a:r>
              <a:rPr lang="en-US" sz="1050" dirty="0">
                <a:solidFill>
                  <a:srgbClr val="222222"/>
                </a:solidFill>
                <a:latin typeface="Meiryo" pitchFamily="34" charset="0"/>
                <a:ea typeface="Meiryo" pitchFamily="34" charset="-122"/>
                <a:cs typeface="Meiryo" pitchFamily="34" charset="-120"/>
              </a:rPr>
              <a:t>【日吉台】0475-52-6414　【西が丘】0475-51-6845　【八坂西】0475-51-6631 ／ kihonjuku-yuuyuu.com</a:t>
            </a:r>
            <a:endParaRPr lang="en-US" sz="1050" dirty="0"/>
          </a:p>
          <a:p>
            <a:pPr marL="0" indent="0">
              <a:lnSpc>
                <a:spcPct val="103000"/>
              </a:lnSpc>
              <a:buNone/>
            </a:pPr>
            <a:r>
              <a:rPr lang="en-US" sz="1050" b="1" dirty="0">
                <a:solidFill>
                  <a:srgbClr val="2E6BB8"/>
                </a:solidFill>
                <a:latin typeface="Meiryo" pitchFamily="34" charset="0"/>
                <a:ea typeface="Meiryo" pitchFamily="34" charset="-122"/>
                <a:cs typeface="Meiryo" pitchFamily="34" charset="-120"/>
              </a:rPr>
              <a:t>▶</a:t>
            </a:r>
            <a:r>
              <a:rPr lang="en-US" sz="1050" b="1" dirty="0">
                <a:solidFill>
                  <a:srgbClr val="222222"/>
                </a:solidFill>
                <a:latin typeface="Meiryo" pitchFamily="34" charset="0"/>
                <a:ea typeface="Meiryo" pitchFamily="34" charset="-122"/>
                <a:cs typeface="Meiryo" pitchFamily="34" charset="-120"/>
              </a:rPr>
              <a:t>提供時間：</a:t>
            </a:r>
            <a:r>
              <a:rPr lang="en-US" sz="1050" dirty="0">
                <a:solidFill>
                  <a:srgbClr val="222222"/>
                </a:solidFill>
                <a:latin typeface="Meiryo" pitchFamily="34" charset="0"/>
                <a:ea typeface="Meiryo" pitchFamily="34" charset="-122"/>
                <a:cs typeface="Meiryo" pitchFamily="34" charset="-120"/>
              </a:rPr>
              <a:t>平日・土曜 10:00〜18:00（3拠点共通）　※市内で最も遅くまで開所</a:t>
            </a:r>
            <a:endParaRPr lang="en-US" sz="1050" dirty="0"/>
          </a:p>
          <a:p>
            <a:pPr marL="0" indent="0">
              <a:lnSpc>
                <a:spcPct val="103000"/>
              </a:lnSpc>
              <a:buNone/>
            </a:pPr>
            <a:r>
              <a:rPr lang="en-US" sz="1050" b="1" dirty="0">
                <a:solidFill>
                  <a:srgbClr val="2E6BB8"/>
                </a:solidFill>
                <a:latin typeface="Meiryo" pitchFamily="34" charset="0"/>
                <a:ea typeface="Meiryo" pitchFamily="34" charset="-122"/>
                <a:cs typeface="Meiryo" pitchFamily="34" charset="-120"/>
              </a:rPr>
              <a:t>▶</a:t>
            </a:r>
            <a:r>
              <a:rPr lang="en-US" sz="1050" b="1" dirty="0">
                <a:solidFill>
                  <a:srgbClr val="222222"/>
                </a:solidFill>
                <a:latin typeface="Meiryo" pitchFamily="34" charset="0"/>
                <a:ea typeface="Meiryo" pitchFamily="34" charset="-122"/>
                <a:cs typeface="Meiryo" pitchFamily="34" charset="-120"/>
              </a:rPr>
              <a:t>定休日：</a:t>
            </a:r>
            <a:r>
              <a:rPr lang="en-US" sz="1050" dirty="0">
                <a:solidFill>
                  <a:srgbClr val="222222"/>
                </a:solidFill>
                <a:latin typeface="Meiryo" pitchFamily="34" charset="0"/>
                <a:ea typeface="Meiryo" pitchFamily="34" charset="-122"/>
                <a:cs typeface="Meiryo" pitchFamily="34" charset="-120"/>
              </a:rPr>
              <a:t>日曜・祝日・年末年始</a:t>
            </a:r>
            <a:endParaRPr lang="en-US" sz="1050" dirty="0"/>
          </a:p>
          <a:p>
            <a:pPr marL="0" indent="0">
              <a:lnSpc>
                <a:spcPct val="103000"/>
              </a:lnSpc>
              <a:buNone/>
            </a:pPr>
            <a:r>
              <a:rPr lang="en-US" sz="1050" b="1" dirty="0">
                <a:solidFill>
                  <a:srgbClr val="2E6BB8"/>
                </a:solidFill>
                <a:latin typeface="Meiryo" pitchFamily="34" charset="0"/>
                <a:ea typeface="Meiryo" pitchFamily="34" charset="-122"/>
                <a:cs typeface="Meiryo" pitchFamily="34" charset="-120"/>
              </a:rPr>
              <a:t>▶</a:t>
            </a:r>
            <a:r>
              <a:rPr lang="en-US" sz="1050" b="1" dirty="0">
                <a:solidFill>
                  <a:srgbClr val="222222"/>
                </a:solidFill>
                <a:latin typeface="Meiryo" pitchFamily="34" charset="0"/>
                <a:ea typeface="Meiryo" pitchFamily="34" charset="-122"/>
                <a:cs typeface="Meiryo" pitchFamily="34" charset="-120"/>
              </a:rPr>
              <a:t>定員／事業所番号：</a:t>
            </a:r>
            <a:r>
              <a:rPr lang="en-US" sz="1050" dirty="0">
                <a:solidFill>
                  <a:srgbClr val="222222"/>
                </a:solidFill>
                <a:latin typeface="Meiryo" pitchFamily="34" charset="0"/>
                <a:ea typeface="Meiryo" pitchFamily="34" charset="-122"/>
                <a:cs typeface="Meiryo" pitchFamily="34" charset="-120"/>
              </a:rPr>
              <a:t>各10名（計30名） ／ 1250800115・1250800180・1250800156</a:t>
            </a:r>
            <a:endParaRPr lang="en-US" sz="1050" dirty="0"/>
          </a:p>
          <a:p>
            <a:pPr marL="0" indent="0">
              <a:lnSpc>
                <a:spcPct val="103000"/>
              </a:lnSpc>
              <a:spcAft>
                <a:spcPts val="500"/>
              </a:spcAft>
              <a:buNone/>
            </a:pPr>
            <a:endParaRPr lang="en-US" sz="1050" dirty="0"/>
          </a:p>
          <a:p>
            <a:pPr marL="0" indent="0">
              <a:lnSpc>
                <a:spcPct val="103000"/>
              </a:lnSpc>
              <a:buNone/>
            </a:pPr>
            <a:r>
              <a:rPr lang="en-US" sz="1050" b="1" dirty="0">
                <a:solidFill>
                  <a:srgbClr val="2E6BB8"/>
                </a:solidFill>
                <a:latin typeface="Meiryo" pitchFamily="34" charset="0"/>
                <a:ea typeface="Meiryo" pitchFamily="34" charset="-122"/>
                <a:cs typeface="Meiryo" pitchFamily="34" charset="-120"/>
              </a:rPr>
              <a:t>▶</a:t>
            </a:r>
            <a:r>
              <a:rPr lang="en-US" sz="1050" b="1" dirty="0">
                <a:solidFill>
                  <a:srgbClr val="222222"/>
                </a:solidFill>
                <a:latin typeface="Meiryo" pitchFamily="34" charset="0"/>
                <a:ea typeface="Meiryo" pitchFamily="34" charset="-122"/>
                <a:cs typeface="Meiryo" pitchFamily="34" charset="-120"/>
              </a:rPr>
              <a:t>療育プログラムの特徴：</a:t>
            </a:r>
            <a:r>
              <a:rPr lang="en-US" sz="1050" dirty="0">
                <a:solidFill>
                  <a:srgbClr val="222222"/>
                </a:solidFill>
                <a:latin typeface="Meiryo" pitchFamily="34" charset="0"/>
                <a:ea typeface="Meiryo" pitchFamily="34" charset="-122"/>
                <a:cs typeface="Meiryo" pitchFamily="34" charset="-120"/>
              </a:rPr>
              <a:t>個々のニーズに応じた個別支援プログラムと「10の活動」を全拠点共通の基本形とする。</a:t>
            </a:r>
            <a:endParaRPr lang="en-US" sz="1050" dirty="0"/>
          </a:p>
          <a:p>
            <a:pPr marL="0" indent="0">
              <a:lnSpc>
                <a:spcPct val="103000"/>
              </a:lnSpc>
              <a:spcAft>
                <a:spcPts val="500"/>
              </a:spcAft>
              <a:buNone/>
            </a:pPr>
            <a:r>
              <a:rPr lang="en-US" sz="1050" dirty="0">
                <a:solidFill>
                  <a:srgbClr val="222222"/>
                </a:solidFill>
                <a:latin typeface="Meiryo" pitchFamily="34" charset="0"/>
                <a:ea typeface="Meiryo" pitchFamily="34" charset="-122"/>
                <a:cs typeface="Meiryo" pitchFamily="34" charset="-120"/>
              </a:rPr>
              <a:t>・日吉台＝園庭あり。リトミック・体操・英語教育。小学校校長／幼稚園園長経験者、特別支援教育士、心理検査士、言語聴覚士が在籍。</a:t>
            </a:r>
            <a:endParaRPr lang="en-US" sz="1050" dirty="0"/>
          </a:p>
          <a:p>
            <a:pPr marL="0" indent="0">
              <a:lnSpc>
                <a:spcPct val="103000"/>
              </a:lnSpc>
              <a:spcAft>
                <a:spcPts val="500"/>
              </a:spcAft>
              <a:buNone/>
            </a:pPr>
            <a:r>
              <a:rPr lang="en-US" sz="1050" dirty="0">
                <a:solidFill>
                  <a:srgbClr val="222222"/>
                </a:solidFill>
                <a:latin typeface="Meiryo" pitchFamily="34" charset="0"/>
                <a:ea typeface="Meiryo" pitchFamily="34" charset="-122"/>
                <a:cs typeface="Meiryo" pitchFamily="34" charset="-120"/>
              </a:rPr>
              <a:t>・日吉台エリアに2拠点、八坂台に1拠点。市西部のニュータウン側を面で押さえる配置。</a:t>
            </a:r>
            <a:endParaRPr lang="en-US" sz="1050" dirty="0"/>
          </a:p>
          <a:p>
            <a:pPr marL="0" indent="0">
              <a:lnSpc>
                <a:spcPct val="103000"/>
              </a:lnSpc>
              <a:spcAft>
                <a:spcPts val="500"/>
              </a:spcAft>
              <a:buNone/>
            </a:pPr>
            <a:endParaRPr lang="en-US" sz="1050" dirty="0"/>
          </a:p>
          <a:p>
            <a:pPr marL="0" indent="0">
              <a:lnSpc>
                <a:spcPct val="103000"/>
              </a:lnSpc>
              <a:buNone/>
            </a:pPr>
            <a:r>
              <a:rPr lang="en-US" sz="1050" b="1" dirty="0">
                <a:solidFill>
                  <a:srgbClr val="2E6BB8"/>
                </a:solidFill>
                <a:latin typeface="Meiryo" pitchFamily="34" charset="0"/>
                <a:ea typeface="Meiryo" pitchFamily="34" charset="-122"/>
                <a:cs typeface="Meiryo" pitchFamily="34" charset="-120"/>
              </a:rPr>
              <a:t>▶</a:t>
            </a:r>
            <a:r>
              <a:rPr lang="en-US" sz="1050" b="1" dirty="0">
                <a:solidFill>
                  <a:srgbClr val="222222"/>
                </a:solidFill>
                <a:latin typeface="Meiryo" pitchFamily="34" charset="0"/>
                <a:ea typeface="Meiryo" pitchFamily="34" charset="-122"/>
                <a:cs typeface="Meiryo" pitchFamily="34" charset="-120"/>
              </a:rPr>
              <a:t>出典：</a:t>
            </a:r>
            <a:r>
              <a:rPr lang="en-US" sz="1050" dirty="0">
                <a:solidFill>
                  <a:srgbClr val="222222"/>
                </a:solidFill>
                <a:latin typeface="Meiryo" pitchFamily="34" charset="0"/>
                <a:ea typeface="Meiryo" pitchFamily="34" charset="-122"/>
                <a:cs typeface="Meiryo" pitchFamily="34" charset="-120"/>
              </a:rPr>
              <a:t>千葉県 障害福祉サービス等情報公表システム／公式HP kihonjuku-yuuyuu.com／ホイシル</a:t>
            </a:r>
            <a:endParaRPr lang="en-US" sz="1050" dirty="0"/>
          </a:p>
          <a:p>
            <a:pPr marL="0" indent="0">
              <a:lnSpc>
                <a:spcPct val="103000"/>
              </a:lnSpc>
              <a:buNone/>
            </a:pPr>
            <a:r>
              <a:rPr lang="en-US" sz="1050" b="1" dirty="0">
                <a:solidFill>
                  <a:srgbClr val="2E6BB8"/>
                </a:solidFill>
                <a:latin typeface="Meiryo" pitchFamily="34" charset="0"/>
                <a:ea typeface="Meiryo" pitchFamily="34" charset="-122"/>
                <a:cs typeface="Meiryo" pitchFamily="34" charset="-120"/>
              </a:rPr>
              <a:t>▶</a:t>
            </a:r>
            <a:r>
              <a:rPr lang="en-US" sz="1050" b="1" dirty="0">
                <a:solidFill>
                  <a:srgbClr val="222222"/>
                </a:solidFill>
                <a:latin typeface="Meiryo" pitchFamily="34" charset="0"/>
                <a:ea typeface="Meiryo" pitchFamily="34" charset="-122"/>
                <a:cs typeface="Meiryo" pitchFamily="34" charset="-120"/>
              </a:rPr>
              <a:t>要確認事項：</a:t>
            </a:r>
            <a:r>
              <a:rPr lang="en-US" sz="1050" dirty="0">
                <a:solidFill>
                  <a:srgbClr val="222222"/>
                </a:solidFill>
                <a:latin typeface="Meiryo" pitchFamily="34" charset="0"/>
                <a:ea typeface="Meiryo" pitchFamily="34" charset="-122"/>
                <a:cs typeface="Meiryo" pitchFamily="34" charset="-120"/>
              </a:rPr>
              <a:t>各拠点の空き状況、送迎範囲、児発と放デイの時間帯区分、拠点ごとの専門職の配置</a:t>
            </a:r>
            <a:endParaRPr lang="en-US" sz="1050" dirty="0"/>
          </a:p>
        </p:txBody>
      </p:sp>
      <p:sp>
        <p:nvSpPr>
          <p:cNvPr id="13" name="Text 11"/>
          <p:cNvSpPr/>
          <p:nvPr/>
        </p:nvSpPr>
        <p:spPr>
          <a:xfrm>
            <a:off x="7635240" y="1783080"/>
            <a:ext cx="4069080" cy="2148840"/>
          </a:xfrm>
          <a:prstGeom prst="rect">
            <a:avLst/>
          </a:prstGeom>
          <a:solidFill>
            <a:srgbClr val="F4F6FA"/>
          </a:solidFill>
          <a:ln w="12700">
            <a:solidFill>
              <a:srgbClr val="9AA7B8"/>
            </a:solidFill>
            <a:prstDash val="dash"/>
          </a:ln>
        </p:spPr>
        <p:txBody>
          <a:bodyPr wrap="square" lIns="91440" tIns="45720" rIns="91440" bIns="45720" rtlCol="0" anchor="ctr"/>
          <a:lstStyle/>
          <a:p>
            <a:pPr marL="0" indent="0" algn="ctr">
              <a:lnSpc>
                <a:spcPct val="110000"/>
              </a:lnSpc>
              <a:buNone/>
            </a:pPr>
            <a:r>
              <a:rPr lang="en-US" sz="1200" b="1" dirty="0">
                <a:solidFill>
                  <a:srgbClr val="8A99AD"/>
                </a:solidFill>
                <a:latin typeface="Meiryo" pitchFamily="34" charset="0"/>
                <a:ea typeface="Meiryo" pitchFamily="34" charset="-122"/>
                <a:cs typeface="Meiryo" pitchFamily="34" charset="-120"/>
              </a:rPr>
              <a:t>［ 写真挿入エリア ］</a:t>
            </a:r>
            <a:endParaRPr lang="en-US" sz="1200" dirty="0"/>
          </a:p>
          <a:p>
            <a:pPr marL="0" indent="0" algn="ctr">
              <a:lnSpc>
                <a:spcPct val="110000"/>
              </a:lnSpc>
              <a:buNone/>
            </a:pPr>
            <a:r>
              <a:rPr lang="en-US" sz="950" dirty="0">
                <a:solidFill>
                  <a:srgbClr val="97A4B6"/>
                </a:solidFill>
                <a:latin typeface="Meiryo" pitchFamily="34" charset="0"/>
                <a:ea typeface="Meiryo" pitchFamily="34" charset="-122"/>
                <a:cs typeface="Meiryo" pitchFamily="34" charset="-120"/>
              </a:rPr>
              <a:t>（公式HP kihonjuku-yuuyuu.com 掲載の各拠点の教室・園庭・活動写真を挿入）</a:t>
            </a:r>
            <a:endParaRPr lang="en-US" sz="1200" dirty="0"/>
          </a:p>
        </p:txBody>
      </p:sp>
      <p:sp>
        <p:nvSpPr>
          <p:cNvPr id="14" name="Shape 12"/>
          <p:cNvSpPr/>
          <p:nvPr/>
        </p:nvSpPr>
        <p:spPr>
          <a:xfrm>
            <a:off x="7635240" y="4069080"/>
            <a:ext cx="4069080" cy="2148840"/>
          </a:xfrm>
          <a:prstGeom prst="rect">
            <a:avLst/>
          </a:prstGeom>
          <a:solidFill>
            <a:srgbClr val="EEF2F8"/>
          </a:solidFill>
          <a:ln w="12700">
            <a:solidFill>
              <a:srgbClr val="9AA7B8"/>
            </a:solidFill>
            <a:prstDash val="solid"/>
          </a:ln>
        </p:spPr>
      </p:sp>
      <p:sp>
        <p:nvSpPr>
          <p:cNvPr id="15" name="Text 13"/>
          <p:cNvSpPr/>
          <p:nvPr/>
        </p:nvSpPr>
        <p:spPr>
          <a:xfrm>
            <a:off x="7818120" y="4187952"/>
            <a:ext cx="3703320" cy="320040"/>
          </a:xfrm>
          <a:prstGeom prst="rect">
            <a:avLst/>
          </a:prstGeom>
          <a:noFill/>
          <a:ln/>
        </p:spPr>
        <p:txBody>
          <a:bodyPr wrap="square" lIns="0" tIns="0" rIns="0" bIns="0" rtlCol="0" anchor="ctr"/>
          <a:lstStyle/>
          <a:p>
            <a:pPr marL="0" indent="0">
              <a:buNone/>
            </a:pPr>
            <a:r>
              <a:rPr lang="en-US" sz="1250" b="1" dirty="0">
                <a:solidFill>
                  <a:srgbClr val="1B3A6B"/>
                </a:solidFill>
                <a:latin typeface="Meiryo" pitchFamily="34" charset="0"/>
                <a:ea typeface="Meiryo" pitchFamily="34" charset="-122"/>
                <a:cs typeface="Meiryo" pitchFamily="34" charset="-120"/>
              </a:rPr>
              <a:t>注目ポイント</a:t>
            </a:r>
            <a:endParaRPr lang="en-US" sz="1250" dirty="0"/>
          </a:p>
        </p:txBody>
      </p:sp>
      <p:sp>
        <p:nvSpPr>
          <p:cNvPr id="16" name="Text 14"/>
          <p:cNvSpPr/>
          <p:nvPr/>
        </p:nvSpPr>
        <p:spPr>
          <a:xfrm>
            <a:off x="7818120" y="4553712"/>
            <a:ext cx="3703320" cy="1554480"/>
          </a:xfrm>
          <a:prstGeom prst="rect">
            <a:avLst/>
          </a:prstGeom>
          <a:noFill/>
          <a:ln/>
        </p:spPr>
        <p:txBody>
          <a:bodyPr wrap="square" lIns="0" tIns="0" rIns="0" bIns="0" rtlCol="0" anchor="t"/>
          <a:lstStyle/>
          <a:p>
            <a:pPr marL="342900" indent="-342900">
              <a:spcAft>
                <a:spcPts val="700"/>
              </a:spcAft>
              <a:buSzPct val="100000"/>
              <a:buChar char="•"/>
            </a:pPr>
            <a:r>
              <a:rPr lang="en-US" sz="950" dirty="0">
                <a:solidFill>
                  <a:srgbClr val="222222"/>
                </a:solidFill>
                <a:latin typeface="メイリオ" panose="020B0604030504040204" pitchFamily="50" charset="-128"/>
                <a:ea typeface="メイリオ" panose="020B0604030504040204" pitchFamily="50" charset="-128"/>
                <a:cs typeface="Meiryo" pitchFamily="34" charset="-120"/>
              </a:rPr>
              <a:t>児発3拠点・定員計30名で市内最大手。1法人で市内の公表定員（計105名）の約3割を占める。</a:t>
            </a:r>
            <a:endParaRPr lang="en-US" sz="1000" dirty="0">
              <a:latin typeface="メイリオ" panose="020B0604030504040204" pitchFamily="50" charset="-128"/>
              <a:ea typeface="メイリオ" panose="020B0604030504040204" pitchFamily="50" charset="-128"/>
            </a:endParaRPr>
          </a:p>
          <a:p>
            <a:pPr marL="342900" indent="-342900">
              <a:spcAft>
                <a:spcPts val="700"/>
              </a:spcAft>
              <a:buSzPct val="100000"/>
              <a:buChar char="•"/>
            </a:pPr>
            <a:r>
              <a:rPr lang="en-US" sz="950" dirty="0">
                <a:solidFill>
                  <a:srgbClr val="222222"/>
                </a:solidFill>
                <a:latin typeface="メイリオ" panose="020B0604030504040204" pitchFamily="50" charset="-128"/>
                <a:ea typeface="メイリオ" panose="020B0604030504040204" pitchFamily="50" charset="-128"/>
                <a:cs typeface="Meiryo" pitchFamily="34" charset="-120"/>
              </a:rPr>
              <a:t>提供時間10:00〜18:00は市内で最も遅くまで開所。午後〜夕方の枠が厚く、他法人と時間帯で棲み分けている。</a:t>
            </a:r>
            <a:endParaRPr lang="en-US" sz="1000" dirty="0">
              <a:latin typeface="メイリオ" panose="020B0604030504040204" pitchFamily="50" charset="-128"/>
              <a:ea typeface="メイリオ" panose="020B0604030504040204" pitchFamily="50" charset="-128"/>
            </a:endParaRPr>
          </a:p>
          <a:p>
            <a:pPr marL="342900" indent="-342900">
              <a:spcAft>
                <a:spcPts val="700"/>
              </a:spcAft>
              <a:buSzPct val="100000"/>
              <a:buChar char="•"/>
            </a:pPr>
            <a:r>
              <a:rPr lang="en-US" sz="950" dirty="0">
                <a:solidFill>
                  <a:srgbClr val="222222"/>
                </a:solidFill>
                <a:latin typeface="メイリオ" panose="020B0604030504040204" pitchFamily="50" charset="-128"/>
                <a:ea typeface="メイリオ" panose="020B0604030504040204" pitchFamily="50" charset="-128"/>
                <a:cs typeface="Meiryo" pitchFamily="34" charset="-120"/>
              </a:rPr>
              <a:t>教育畑の専門人材（校長・園長経験者、言語聴覚士、心理検査士）の厚みが最大の差別化要素で、参入障壁も高い。</a:t>
            </a:r>
            <a:endParaRPr lang="en-US" sz="1000" dirty="0">
              <a:latin typeface="メイリオ" panose="020B0604030504040204" pitchFamily="50" charset="-128"/>
              <a:ea typeface="メイリオ" panose="020B0604030504040204" pitchFamily="50" charset="-128"/>
            </a:endParaRPr>
          </a:p>
          <a:p>
            <a:pPr marL="342900" indent="-342900">
              <a:spcAft>
                <a:spcPts val="700"/>
              </a:spcAft>
              <a:buSzPct val="100000"/>
              <a:buChar char="•"/>
            </a:pPr>
            <a:r>
              <a:rPr lang="en-US" sz="950" dirty="0">
                <a:solidFill>
                  <a:srgbClr val="222222"/>
                </a:solidFill>
                <a:latin typeface="メイリオ" panose="020B0604030504040204" pitchFamily="50" charset="-128"/>
                <a:ea typeface="メイリオ" panose="020B0604030504040204" pitchFamily="50" charset="-128"/>
                <a:cs typeface="Meiryo" pitchFamily="34" charset="-120"/>
              </a:rPr>
              <a:t>日吉台・八坂台のニュータウン側への新規出店は基本塾との正面競合となる。土曜開所・送迎圏の隙間が狙い目。</a:t>
            </a:r>
            <a:endParaRPr lang="en-US" sz="1000" dirty="0">
              <a:latin typeface="メイリオ" panose="020B0604030504040204" pitchFamily="50" charset="-128"/>
              <a:ea typeface="メイリオ" panose="020B0604030504040204" pitchFamily="50" charset="-128"/>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932688"/>
          </a:xfrm>
          <a:prstGeom prst="rect">
            <a:avLst/>
          </a:prstGeom>
          <a:solidFill>
            <a:srgbClr val="1B3A6B"/>
          </a:solidFill>
          <a:ln/>
        </p:spPr>
      </p:sp>
      <p:sp>
        <p:nvSpPr>
          <p:cNvPr id="3" name="Shape 1"/>
          <p:cNvSpPr/>
          <p:nvPr/>
        </p:nvSpPr>
        <p:spPr>
          <a:xfrm>
            <a:off x="0" y="0"/>
            <a:ext cx="164592" cy="932688"/>
          </a:xfrm>
          <a:prstGeom prst="rect">
            <a:avLst/>
          </a:prstGeom>
          <a:solidFill>
            <a:srgbClr val="13294B"/>
          </a:solidFill>
          <a:ln/>
        </p:spPr>
      </p:sp>
      <p:sp>
        <p:nvSpPr>
          <p:cNvPr id="4" name="Text 2"/>
          <p:cNvSpPr/>
          <p:nvPr/>
        </p:nvSpPr>
        <p:spPr>
          <a:xfrm>
            <a:off x="502920" y="54864"/>
            <a:ext cx="8686800" cy="822960"/>
          </a:xfrm>
          <a:prstGeom prst="rect">
            <a:avLst/>
          </a:prstGeom>
          <a:noFill/>
          <a:ln/>
        </p:spPr>
        <p:txBody>
          <a:bodyPr wrap="square" lIns="0" tIns="0" rIns="0" bIns="0" rtlCol="0" anchor="ctr"/>
          <a:lstStyle/>
          <a:p>
            <a:pPr marL="0" indent="0">
              <a:buNone/>
            </a:pPr>
            <a:r>
              <a:rPr lang="en-US" sz="3000" b="1" dirty="0">
                <a:solidFill>
                  <a:srgbClr val="FFFFFF"/>
                </a:solidFill>
                <a:latin typeface="Meiryo" pitchFamily="34" charset="0"/>
                <a:ea typeface="Meiryo" pitchFamily="34" charset="-122"/>
                <a:cs typeface="Meiryo" pitchFamily="34" charset="-120"/>
              </a:rPr>
              <a:t>II．　事業所別 詳細</a:t>
            </a:r>
            <a:endParaRPr lang="en-US" sz="3000" dirty="0"/>
          </a:p>
        </p:txBody>
      </p:sp>
      <p:sp>
        <p:nvSpPr>
          <p:cNvPr id="5" name="Text 3"/>
          <p:cNvSpPr/>
          <p:nvPr/>
        </p:nvSpPr>
        <p:spPr>
          <a:xfrm>
            <a:off x="502920" y="1115568"/>
            <a:ext cx="8503920" cy="457200"/>
          </a:xfrm>
          <a:prstGeom prst="rect">
            <a:avLst/>
          </a:prstGeom>
          <a:noFill/>
          <a:ln/>
        </p:spPr>
        <p:txBody>
          <a:bodyPr wrap="square" lIns="0" tIns="0" rIns="0" bIns="0" rtlCol="0" anchor="ctr"/>
          <a:lstStyle/>
          <a:p>
            <a:pPr marL="0" indent="0">
              <a:buNone/>
            </a:pPr>
            <a:r>
              <a:rPr lang="en-US" sz="2100" b="1" dirty="0">
                <a:solidFill>
                  <a:srgbClr val="222222"/>
                </a:solidFill>
                <a:latin typeface="Meiryo" pitchFamily="34" charset="0"/>
                <a:ea typeface="Meiryo" pitchFamily="34" charset="-122"/>
                <a:cs typeface="Meiryo" pitchFamily="34" charset="-120"/>
              </a:rPr>
              <a:t>⑤ エスポワール ／ エスポワール第2</a:t>
            </a:r>
            <a:endParaRPr lang="en-US" sz="2100" dirty="0"/>
          </a:p>
        </p:txBody>
      </p:sp>
      <p:sp>
        <p:nvSpPr>
          <p:cNvPr id="6" name="Shape 4"/>
          <p:cNvSpPr/>
          <p:nvPr/>
        </p:nvSpPr>
        <p:spPr>
          <a:xfrm>
            <a:off x="10104120" y="1170432"/>
            <a:ext cx="1600200" cy="457200"/>
          </a:xfrm>
          <a:prstGeom prst="rect">
            <a:avLst/>
          </a:prstGeom>
          <a:solidFill>
            <a:srgbClr val="FFFFFF"/>
          </a:solidFill>
          <a:ln w="15875">
            <a:solidFill>
              <a:srgbClr val="1B3A6B"/>
            </a:solidFill>
            <a:prstDash val="solid"/>
          </a:ln>
        </p:spPr>
      </p:sp>
      <p:sp>
        <p:nvSpPr>
          <p:cNvPr id="7" name="Text 5"/>
          <p:cNvSpPr/>
          <p:nvPr/>
        </p:nvSpPr>
        <p:spPr>
          <a:xfrm>
            <a:off x="10104120" y="1170432"/>
            <a:ext cx="1600200" cy="457200"/>
          </a:xfrm>
          <a:prstGeom prst="rect">
            <a:avLst/>
          </a:prstGeom>
          <a:noFill/>
          <a:ln/>
        </p:spPr>
        <p:txBody>
          <a:bodyPr wrap="square" lIns="0" tIns="0" rIns="0" bIns="0" rtlCol="0" anchor="ctr"/>
          <a:lstStyle/>
          <a:p>
            <a:pPr marL="0" indent="0" algn="ctr">
              <a:buNone/>
            </a:pPr>
            <a:r>
              <a:rPr lang="en-US" sz="1400" b="1" dirty="0">
                <a:solidFill>
                  <a:srgbClr val="1B3A6B"/>
                </a:solidFill>
                <a:latin typeface="Meiryo" pitchFamily="34" charset="0"/>
                <a:ea typeface="Meiryo" pitchFamily="34" charset="-122"/>
                <a:cs typeface="Meiryo" pitchFamily="34" charset="-120"/>
              </a:rPr>
              <a:t>東金市</a:t>
            </a:r>
            <a:endParaRPr lang="en-US" sz="1400" dirty="0"/>
          </a:p>
        </p:txBody>
      </p:sp>
      <p:sp>
        <p:nvSpPr>
          <p:cNvPr id="8" name="Text 6"/>
          <p:cNvSpPr/>
          <p:nvPr/>
        </p:nvSpPr>
        <p:spPr>
          <a:xfrm>
            <a:off x="502920" y="6510528"/>
            <a:ext cx="7315200" cy="274320"/>
          </a:xfrm>
          <a:prstGeom prst="rect">
            <a:avLst/>
          </a:prstGeom>
          <a:noFill/>
          <a:ln/>
        </p:spPr>
        <p:txBody>
          <a:bodyPr wrap="square" lIns="0" tIns="0" rIns="0" bIns="0" rtlCol="0" anchor="ctr"/>
          <a:lstStyle/>
          <a:p>
            <a:pPr marL="0" indent="0">
              <a:buNone/>
            </a:pPr>
            <a:r>
              <a:rPr lang="en-US" sz="850" dirty="0">
                <a:solidFill>
                  <a:srgbClr val="666666"/>
                </a:solidFill>
                <a:latin typeface="Meiryo" pitchFamily="34" charset="0"/>
                <a:ea typeface="Meiryo" pitchFamily="34" charset="-122"/>
                <a:cs typeface="Meiryo" pitchFamily="34" charset="-120"/>
              </a:rPr>
              <a:t>Copyright Funai Soken Group. All rights reserved.</a:t>
            </a:r>
            <a:endParaRPr lang="en-US" sz="850" dirty="0"/>
          </a:p>
        </p:txBody>
      </p:sp>
      <p:sp>
        <p:nvSpPr>
          <p:cNvPr id="9" name="Shape 7"/>
          <p:cNvSpPr/>
          <p:nvPr/>
        </p:nvSpPr>
        <p:spPr>
          <a:xfrm>
            <a:off x="502920" y="1783080"/>
            <a:ext cx="6903720" cy="4434840"/>
          </a:xfrm>
          <a:prstGeom prst="rect">
            <a:avLst/>
          </a:prstGeom>
          <a:solidFill>
            <a:srgbClr val="FFFFFF"/>
          </a:solidFill>
          <a:ln w="12700">
            <a:solidFill>
              <a:srgbClr val="9AA7B8"/>
            </a:solidFill>
            <a:prstDash val="solid"/>
          </a:ln>
          <a:effectLst>
            <a:outerShdw blurRad="63500" dist="25400" dir="8100000" algn="bl" rotWithShape="0">
              <a:srgbClr val="000000">
                <a:alpha val="12000"/>
              </a:srgbClr>
            </a:outerShdw>
          </a:effectLst>
        </p:spPr>
      </p:sp>
      <p:sp>
        <p:nvSpPr>
          <p:cNvPr id="10" name="Text 8"/>
          <p:cNvSpPr/>
          <p:nvPr/>
        </p:nvSpPr>
        <p:spPr>
          <a:xfrm>
            <a:off x="704088" y="1911096"/>
            <a:ext cx="6501384" cy="384048"/>
          </a:xfrm>
          <a:prstGeom prst="rect">
            <a:avLst/>
          </a:prstGeom>
          <a:noFill/>
          <a:ln/>
        </p:spPr>
        <p:txBody>
          <a:bodyPr wrap="square" lIns="0" tIns="0" rIns="0" bIns="0" rtlCol="0" anchor="ctr"/>
          <a:lstStyle/>
          <a:p>
            <a:pPr marL="0" indent="0">
              <a:buNone/>
            </a:pPr>
            <a:r>
              <a:rPr lang="en-US" sz="1400" b="1" dirty="0">
                <a:solidFill>
                  <a:srgbClr val="1B3A6B"/>
                </a:solidFill>
                <a:latin typeface="Meiryo" pitchFamily="34" charset="0"/>
                <a:ea typeface="Meiryo" pitchFamily="34" charset="-122"/>
                <a:cs typeface="Meiryo" pitchFamily="34" charset="-120"/>
              </a:rPr>
              <a:t>エスポワール・エスポワール第2（運営：コーエキ合同会社）</a:t>
            </a:r>
            <a:endParaRPr lang="en-US" sz="1400" dirty="0"/>
          </a:p>
        </p:txBody>
      </p:sp>
      <p:sp>
        <p:nvSpPr>
          <p:cNvPr id="11" name="Text 9"/>
          <p:cNvSpPr/>
          <p:nvPr/>
        </p:nvSpPr>
        <p:spPr>
          <a:xfrm>
            <a:off x="704088" y="2331720"/>
            <a:ext cx="6501384" cy="3813048"/>
          </a:xfrm>
          <a:prstGeom prst="rect">
            <a:avLst/>
          </a:prstGeom>
          <a:noFill/>
          <a:ln/>
        </p:spPr>
        <p:txBody>
          <a:bodyPr wrap="square" lIns="0" tIns="0" rIns="0" bIns="0" rtlCol="0" anchor="t"/>
          <a:lstStyle/>
          <a:p>
            <a:pPr marL="0" indent="0">
              <a:lnSpc>
                <a:spcPct val="103000"/>
              </a:lnSpc>
              <a:buNone/>
            </a:pPr>
            <a:r>
              <a:rPr lang="en-US" sz="1050" b="1" dirty="0">
                <a:solidFill>
                  <a:srgbClr val="2E6BB8"/>
                </a:solidFill>
                <a:latin typeface="Meiryo" pitchFamily="34" charset="0"/>
                <a:ea typeface="Meiryo" pitchFamily="34" charset="-122"/>
                <a:cs typeface="Meiryo" pitchFamily="34" charset="-120"/>
              </a:rPr>
              <a:t>▶</a:t>
            </a:r>
            <a:r>
              <a:rPr lang="en-US" sz="1050" b="1" dirty="0">
                <a:solidFill>
                  <a:srgbClr val="222222"/>
                </a:solidFill>
                <a:latin typeface="Meiryo" pitchFamily="34" charset="0"/>
                <a:ea typeface="Meiryo" pitchFamily="34" charset="-122"/>
                <a:cs typeface="Meiryo" pitchFamily="34" charset="-120"/>
              </a:rPr>
              <a:t>対象：</a:t>
            </a:r>
            <a:r>
              <a:rPr lang="en-US" sz="1050" dirty="0">
                <a:solidFill>
                  <a:srgbClr val="222222"/>
                </a:solidFill>
                <a:latin typeface="Meiryo" pitchFamily="34" charset="0"/>
                <a:ea typeface="Meiryo" pitchFamily="34" charset="-122"/>
                <a:cs typeface="Meiryo" pitchFamily="34" charset="-120"/>
              </a:rPr>
              <a:t>未就学児（児童発達支援）　※放課後等デイサービスを併設</a:t>
            </a:r>
            <a:endParaRPr lang="en-US" sz="1050" dirty="0"/>
          </a:p>
          <a:p>
            <a:pPr marL="0" indent="0">
              <a:lnSpc>
                <a:spcPct val="103000"/>
              </a:lnSpc>
              <a:buNone/>
            </a:pPr>
            <a:r>
              <a:rPr lang="en-US" sz="1050" b="1" dirty="0">
                <a:solidFill>
                  <a:srgbClr val="2E6BB8"/>
                </a:solidFill>
                <a:latin typeface="Meiryo" pitchFamily="34" charset="0"/>
                <a:ea typeface="Meiryo" pitchFamily="34" charset="-122"/>
                <a:cs typeface="Meiryo" pitchFamily="34" charset="-120"/>
              </a:rPr>
              <a:t>▶</a:t>
            </a:r>
            <a:r>
              <a:rPr lang="en-US" sz="1050" b="1" dirty="0">
                <a:solidFill>
                  <a:srgbClr val="222222"/>
                </a:solidFill>
                <a:latin typeface="Meiryo" pitchFamily="34" charset="0"/>
                <a:ea typeface="Meiryo" pitchFamily="34" charset="-122"/>
                <a:cs typeface="Meiryo" pitchFamily="34" charset="-120"/>
              </a:rPr>
              <a:t>所在地：</a:t>
            </a:r>
            <a:r>
              <a:rPr lang="en-US" sz="1050" dirty="0">
                <a:solidFill>
                  <a:srgbClr val="222222"/>
                </a:solidFill>
                <a:latin typeface="Meiryo" pitchFamily="34" charset="0"/>
                <a:ea typeface="Meiryo" pitchFamily="34" charset="-122"/>
                <a:cs typeface="Meiryo" pitchFamily="34" charset="-120"/>
              </a:rPr>
              <a:t>【エスポワール】田間2-56-10　【第2】道庭987-63（求名駅寄り・市北東部）　※法人本部：田間2-56-18</a:t>
            </a:r>
            <a:endParaRPr lang="en-US" sz="1050" dirty="0"/>
          </a:p>
          <a:p>
            <a:pPr marL="0" indent="0">
              <a:lnSpc>
                <a:spcPct val="103000"/>
              </a:lnSpc>
              <a:buNone/>
            </a:pPr>
            <a:r>
              <a:rPr lang="en-US" sz="1050" b="1" dirty="0">
                <a:solidFill>
                  <a:srgbClr val="2E6BB8"/>
                </a:solidFill>
                <a:latin typeface="Meiryo" pitchFamily="34" charset="0"/>
                <a:ea typeface="Meiryo" pitchFamily="34" charset="-122"/>
                <a:cs typeface="Meiryo" pitchFamily="34" charset="-120"/>
              </a:rPr>
              <a:t>▶</a:t>
            </a:r>
            <a:r>
              <a:rPr lang="en-US" sz="1050" b="1" dirty="0">
                <a:solidFill>
                  <a:srgbClr val="222222"/>
                </a:solidFill>
                <a:latin typeface="Meiryo" pitchFamily="34" charset="0"/>
                <a:ea typeface="Meiryo" pitchFamily="34" charset="-122"/>
                <a:cs typeface="Meiryo" pitchFamily="34" charset="-120"/>
              </a:rPr>
              <a:t>TEL／HP：</a:t>
            </a:r>
            <a:r>
              <a:rPr lang="en-US" sz="1050" dirty="0">
                <a:solidFill>
                  <a:srgbClr val="222222"/>
                </a:solidFill>
                <a:latin typeface="Meiryo" pitchFamily="34" charset="0"/>
                <a:ea typeface="Meiryo" pitchFamily="34" charset="-122"/>
                <a:cs typeface="Meiryo" pitchFamily="34" charset="-120"/>
              </a:rPr>
              <a:t>【エスポワール】0475-86-7988　【第2】0475-55-6678 ／ futaba-oami.com</a:t>
            </a:r>
            <a:endParaRPr lang="en-US" sz="1050" dirty="0"/>
          </a:p>
          <a:p>
            <a:pPr marL="0" indent="0">
              <a:lnSpc>
                <a:spcPct val="103000"/>
              </a:lnSpc>
              <a:buNone/>
            </a:pPr>
            <a:r>
              <a:rPr lang="en-US" sz="1050" b="1" dirty="0">
                <a:solidFill>
                  <a:srgbClr val="2E6BB8"/>
                </a:solidFill>
                <a:latin typeface="Meiryo" pitchFamily="34" charset="0"/>
                <a:ea typeface="Meiryo" pitchFamily="34" charset="-122"/>
                <a:cs typeface="Meiryo" pitchFamily="34" charset="-120"/>
              </a:rPr>
              <a:t>▶</a:t>
            </a:r>
            <a:r>
              <a:rPr lang="en-US" sz="1050" b="1" dirty="0">
                <a:solidFill>
                  <a:srgbClr val="222222"/>
                </a:solidFill>
                <a:latin typeface="Meiryo" pitchFamily="34" charset="0"/>
                <a:ea typeface="Meiryo" pitchFamily="34" charset="-122"/>
                <a:cs typeface="Meiryo" pitchFamily="34" charset="-120"/>
              </a:rPr>
              <a:t>提供時間：</a:t>
            </a:r>
            <a:r>
              <a:rPr lang="en-US" sz="1050" dirty="0">
                <a:solidFill>
                  <a:srgbClr val="222222"/>
                </a:solidFill>
                <a:latin typeface="Meiryo" pitchFamily="34" charset="0"/>
                <a:ea typeface="Meiryo" pitchFamily="34" charset="-122"/>
                <a:cs typeface="Meiryo" pitchFamily="34" charset="-120"/>
              </a:rPr>
              <a:t>平日・祝日 10:00〜14:00（2拠点共通）</a:t>
            </a:r>
            <a:endParaRPr lang="en-US" sz="1050" dirty="0"/>
          </a:p>
          <a:p>
            <a:pPr marL="0" indent="0">
              <a:lnSpc>
                <a:spcPct val="103000"/>
              </a:lnSpc>
              <a:buNone/>
            </a:pPr>
            <a:r>
              <a:rPr lang="en-US" sz="1050" b="1" dirty="0">
                <a:solidFill>
                  <a:srgbClr val="2E6BB8"/>
                </a:solidFill>
                <a:latin typeface="Meiryo" pitchFamily="34" charset="0"/>
                <a:ea typeface="Meiryo" pitchFamily="34" charset="-122"/>
                <a:cs typeface="Meiryo" pitchFamily="34" charset="-120"/>
              </a:rPr>
              <a:t>▶</a:t>
            </a:r>
            <a:r>
              <a:rPr lang="en-US" sz="1050" b="1" dirty="0">
                <a:solidFill>
                  <a:srgbClr val="222222"/>
                </a:solidFill>
                <a:latin typeface="Meiryo" pitchFamily="34" charset="0"/>
                <a:ea typeface="Meiryo" pitchFamily="34" charset="-122"/>
                <a:cs typeface="Meiryo" pitchFamily="34" charset="-120"/>
              </a:rPr>
              <a:t>定休日：</a:t>
            </a:r>
            <a:r>
              <a:rPr lang="en-US" sz="1050" dirty="0">
                <a:solidFill>
                  <a:srgbClr val="222222"/>
                </a:solidFill>
                <a:latin typeface="Meiryo" pitchFamily="34" charset="0"/>
                <a:ea typeface="Meiryo" pitchFamily="34" charset="-122"/>
                <a:cs typeface="Meiryo" pitchFamily="34" charset="-120"/>
              </a:rPr>
              <a:t>土曜・日曜、8月13〜15日、12月30日〜1月3日</a:t>
            </a:r>
            <a:endParaRPr lang="en-US" sz="1050" dirty="0"/>
          </a:p>
          <a:p>
            <a:pPr marL="0" indent="0">
              <a:lnSpc>
                <a:spcPct val="103000"/>
              </a:lnSpc>
              <a:buNone/>
            </a:pPr>
            <a:r>
              <a:rPr lang="en-US" sz="1050" b="1" dirty="0">
                <a:solidFill>
                  <a:srgbClr val="2E6BB8"/>
                </a:solidFill>
                <a:latin typeface="Meiryo" pitchFamily="34" charset="0"/>
                <a:ea typeface="Meiryo" pitchFamily="34" charset="-122"/>
                <a:cs typeface="Meiryo" pitchFamily="34" charset="-120"/>
              </a:rPr>
              <a:t>▶</a:t>
            </a:r>
            <a:r>
              <a:rPr lang="en-US" sz="1050" b="1" dirty="0">
                <a:solidFill>
                  <a:srgbClr val="222222"/>
                </a:solidFill>
                <a:latin typeface="Meiryo" pitchFamily="34" charset="0"/>
                <a:ea typeface="Meiryo" pitchFamily="34" charset="-122"/>
                <a:cs typeface="Meiryo" pitchFamily="34" charset="-120"/>
              </a:rPr>
              <a:t>定員／事業所番号：</a:t>
            </a:r>
            <a:r>
              <a:rPr lang="en-US" sz="1050" dirty="0">
                <a:solidFill>
                  <a:srgbClr val="222222"/>
                </a:solidFill>
                <a:latin typeface="Meiryo" pitchFamily="34" charset="0"/>
                <a:ea typeface="Meiryo" pitchFamily="34" charset="-122"/>
                <a:cs typeface="Meiryo" pitchFamily="34" charset="-120"/>
              </a:rPr>
              <a:t>各10名（計20名） ／ 1250800206・1250800222</a:t>
            </a:r>
            <a:endParaRPr lang="en-US" sz="1050" dirty="0"/>
          </a:p>
          <a:p>
            <a:pPr marL="0" indent="0">
              <a:lnSpc>
                <a:spcPct val="103000"/>
              </a:lnSpc>
              <a:spcAft>
                <a:spcPts val="500"/>
              </a:spcAft>
              <a:buNone/>
            </a:pPr>
            <a:endParaRPr lang="en-US" sz="1050" dirty="0"/>
          </a:p>
          <a:p>
            <a:pPr marL="0" indent="0">
              <a:lnSpc>
                <a:spcPct val="103000"/>
              </a:lnSpc>
              <a:buNone/>
            </a:pPr>
            <a:r>
              <a:rPr lang="en-US" sz="1050" b="1" dirty="0">
                <a:solidFill>
                  <a:srgbClr val="2E6BB8"/>
                </a:solidFill>
                <a:latin typeface="Meiryo" pitchFamily="34" charset="0"/>
                <a:ea typeface="Meiryo" pitchFamily="34" charset="-122"/>
                <a:cs typeface="Meiryo" pitchFamily="34" charset="-120"/>
              </a:rPr>
              <a:t>▶</a:t>
            </a:r>
            <a:r>
              <a:rPr lang="en-US" sz="1050" b="1" dirty="0">
                <a:solidFill>
                  <a:srgbClr val="222222"/>
                </a:solidFill>
                <a:latin typeface="Meiryo" pitchFamily="34" charset="0"/>
                <a:ea typeface="Meiryo" pitchFamily="34" charset="-122"/>
                <a:cs typeface="Meiryo" pitchFamily="34" charset="-120"/>
              </a:rPr>
              <a:t>療育プログラムの特徴：</a:t>
            </a:r>
            <a:r>
              <a:rPr lang="en-US" sz="1050" dirty="0">
                <a:solidFill>
                  <a:srgbClr val="222222"/>
                </a:solidFill>
                <a:latin typeface="Meiryo" pitchFamily="34" charset="0"/>
                <a:ea typeface="Meiryo" pitchFamily="34" charset="-122"/>
                <a:cs typeface="Meiryo" pitchFamily="34" charset="-120"/>
              </a:rPr>
              <a:t>公開情報が限られており、支援内容の詳細は事業所への直接確認が必要。</a:t>
            </a:r>
            <a:endParaRPr lang="en-US" sz="1050" dirty="0"/>
          </a:p>
          <a:p>
            <a:pPr marL="0" indent="0">
              <a:lnSpc>
                <a:spcPct val="103000"/>
              </a:lnSpc>
              <a:spcAft>
                <a:spcPts val="500"/>
              </a:spcAft>
              <a:buNone/>
            </a:pPr>
            <a:r>
              <a:rPr lang="en-US" sz="1050" dirty="0">
                <a:solidFill>
                  <a:srgbClr val="222222"/>
                </a:solidFill>
                <a:latin typeface="Meiryo" pitchFamily="34" charset="0"/>
                <a:ea typeface="Meiryo" pitchFamily="34" charset="-122"/>
                <a:cs typeface="Meiryo" pitchFamily="34" charset="-120"/>
              </a:rPr>
              <a:t>・田間（市街地）と道庭（市北東部）で商圏を分ける2拠点体制。法人本部も田間に所在。</a:t>
            </a:r>
            <a:endParaRPr lang="en-US" sz="1050" dirty="0"/>
          </a:p>
          <a:p>
            <a:pPr marL="0" indent="0">
              <a:lnSpc>
                <a:spcPct val="103000"/>
              </a:lnSpc>
              <a:spcAft>
                <a:spcPts val="500"/>
              </a:spcAft>
              <a:buNone/>
            </a:pPr>
            <a:r>
              <a:rPr lang="en-US" sz="1050" dirty="0">
                <a:solidFill>
                  <a:srgbClr val="222222"/>
                </a:solidFill>
                <a:latin typeface="Meiryo" pitchFamily="34" charset="0"/>
                <a:ea typeface="Meiryo" pitchFamily="34" charset="-122"/>
                <a:cs typeface="Meiryo" pitchFamily="34" charset="-120"/>
              </a:rPr>
              <a:t>・LITALICO発達ナビ上で「空きあり」表示（2026年8月時点）。</a:t>
            </a:r>
            <a:endParaRPr lang="en-US" sz="1050" dirty="0"/>
          </a:p>
          <a:p>
            <a:pPr marL="0" indent="0">
              <a:lnSpc>
                <a:spcPct val="103000"/>
              </a:lnSpc>
              <a:spcAft>
                <a:spcPts val="500"/>
              </a:spcAft>
              <a:buNone/>
            </a:pPr>
            <a:endParaRPr lang="en-US" sz="1050" dirty="0"/>
          </a:p>
          <a:p>
            <a:pPr marL="0" indent="0">
              <a:lnSpc>
                <a:spcPct val="103000"/>
              </a:lnSpc>
              <a:buNone/>
            </a:pPr>
            <a:r>
              <a:rPr lang="en-US" sz="1050" b="1" dirty="0">
                <a:solidFill>
                  <a:srgbClr val="2E6BB8"/>
                </a:solidFill>
                <a:latin typeface="Meiryo" pitchFamily="34" charset="0"/>
                <a:ea typeface="Meiryo" pitchFamily="34" charset="-122"/>
                <a:cs typeface="Meiryo" pitchFamily="34" charset="-120"/>
              </a:rPr>
              <a:t>▶</a:t>
            </a:r>
            <a:r>
              <a:rPr lang="en-US" sz="1050" b="1" dirty="0">
                <a:solidFill>
                  <a:srgbClr val="222222"/>
                </a:solidFill>
                <a:latin typeface="Meiryo" pitchFamily="34" charset="0"/>
                <a:ea typeface="Meiryo" pitchFamily="34" charset="-122"/>
                <a:cs typeface="Meiryo" pitchFamily="34" charset="-120"/>
              </a:rPr>
              <a:t>出典：</a:t>
            </a:r>
            <a:r>
              <a:rPr lang="en-US" sz="1050" dirty="0">
                <a:solidFill>
                  <a:srgbClr val="222222"/>
                </a:solidFill>
                <a:latin typeface="Meiryo" pitchFamily="34" charset="0"/>
                <a:ea typeface="Meiryo" pitchFamily="34" charset="-122"/>
                <a:cs typeface="Meiryo" pitchFamily="34" charset="-120"/>
              </a:rPr>
              <a:t>千葉県 障害福祉サービス等情報公表システム／LITALICO発達ナビ／futaba-oami.com</a:t>
            </a:r>
            <a:endParaRPr lang="en-US" sz="1050" dirty="0"/>
          </a:p>
          <a:p>
            <a:pPr marL="0" indent="0">
              <a:lnSpc>
                <a:spcPct val="103000"/>
              </a:lnSpc>
              <a:buNone/>
            </a:pPr>
            <a:r>
              <a:rPr lang="en-US" sz="1050" b="1" dirty="0">
                <a:solidFill>
                  <a:srgbClr val="2E6BB8"/>
                </a:solidFill>
                <a:latin typeface="Meiryo" pitchFamily="34" charset="0"/>
                <a:ea typeface="Meiryo" pitchFamily="34" charset="-122"/>
                <a:cs typeface="Meiryo" pitchFamily="34" charset="-120"/>
              </a:rPr>
              <a:t>▶</a:t>
            </a:r>
            <a:r>
              <a:rPr lang="en-US" sz="1050" b="1" dirty="0">
                <a:solidFill>
                  <a:srgbClr val="222222"/>
                </a:solidFill>
                <a:latin typeface="Meiryo" pitchFamily="34" charset="0"/>
                <a:ea typeface="Meiryo" pitchFamily="34" charset="-122"/>
                <a:cs typeface="Meiryo" pitchFamily="34" charset="-120"/>
              </a:rPr>
              <a:t>要確認事項：</a:t>
            </a:r>
            <a:r>
              <a:rPr lang="en-US" sz="1050" dirty="0">
                <a:solidFill>
                  <a:srgbClr val="222222"/>
                </a:solidFill>
                <a:latin typeface="Meiryo" pitchFamily="34" charset="0"/>
                <a:ea typeface="Meiryo" pitchFamily="34" charset="-122"/>
                <a:cs typeface="Meiryo" pitchFamily="34" charset="-120"/>
              </a:rPr>
              <a:t>プログラム内容、送迎の有無、両拠点の空き状況、放課後等デイサービスとの時間帯区分</a:t>
            </a:r>
            <a:endParaRPr lang="en-US" sz="1050" dirty="0"/>
          </a:p>
        </p:txBody>
      </p:sp>
      <p:sp>
        <p:nvSpPr>
          <p:cNvPr id="13" name="Text 11"/>
          <p:cNvSpPr/>
          <p:nvPr/>
        </p:nvSpPr>
        <p:spPr>
          <a:xfrm>
            <a:off x="7635240" y="1783080"/>
            <a:ext cx="4069080" cy="2148840"/>
          </a:xfrm>
          <a:prstGeom prst="rect">
            <a:avLst/>
          </a:prstGeom>
          <a:solidFill>
            <a:srgbClr val="F4F6FA"/>
          </a:solidFill>
          <a:ln w="12700">
            <a:solidFill>
              <a:srgbClr val="9AA7B8"/>
            </a:solidFill>
            <a:prstDash val="dash"/>
          </a:ln>
        </p:spPr>
        <p:txBody>
          <a:bodyPr wrap="square" lIns="91440" tIns="45720" rIns="91440" bIns="45720" rtlCol="0" anchor="ctr"/>
          <a:lstStyle/>
          <a:p>
            <a:pPr marL="0" indent="0" algn="ctr">
              <a:lnSpc>
                <a:spcPct val="110000"/>
              </a:lnSpc>
              <a:buNone/>
            </a:pPr>
            <a:r>
              <a:rPr lang="en-US" sz="1200" b="1" dirty="0">
                <a:solidFill>
                  <a:srgbClr val="8A99AD"/>
                </a:solidFill>
                <a:latin typeface="Meiryo" pitchFamily="34" charset="0"/>
                <a:ea typeface="Meiryo" pitchFamily="34" charset="-122"/>
                <a:cs typeface="Meiryo" pitchFamily="34" charset="-120"/>
              </a:rPr>
              <a:t>［ 写真挿入エリア ］</a:t>
            </a:r>
            <a:endParaRPr lang="en-US" sz="1200" dirty="0"/>
          </a:p>
          <a:p>
            <a:pPr marL="0" indent="0" algn="ctr">
              <a:lnSpc>
                <a:spcPct val="110000"/>
              </a:lnSpc>
              <a:buNone/>
            </a:pPr>
            <a:r>
              <a:rPr lang="en-US" sz="950" dirty="0">
                <a:solidFill>
                  <a:srgbClr val="97A4B6"/>
                </a:solidFill>
                <a:latin typeface="Meiryo" pitchFamily="34" charset="0"/>
                <a:ea typeface="Meiryo" pitchFamily="34" charset="-122"/>
                <a:cs typeface="Meiryo" pitchFamily="34" charset="-120"/>
              </a:rPr>
              <a:t>（futaba-oami.com／LITALICO発達ナビ掲載の教室写真を挿入）</a:t>
            </a:r>
            <a:endParaRPr lang="en-US" sz="1200" dirty="0"/>
          </a:p>
        </p:txBody>
      </p:sp>
      <p:sp>
        <p:nvSpPr>
          <p:cNvPr id="14" name="Shape 12"/>
          <p:cNvSpPr/>
          <p:nvPr/>
        </p:nvSpPr>
        <p:spPr>
          <a:xfrm>
            <a:off x="7635240" y="4069080"/>
            <a:ext cx="4069080" cy="2148840"/>
          </a:xfrm>
          <a:prstGeom prst="rect">
            <a:avLst/>
          </a:prstGeom>
          <a:solidFill>
            <a:srgbClr val="EEF2F8"/>
          </a:solidFill>
          <a:ln w="12700">
            <a:solidFill>
              <a:srgbClr val="9AA7B8"/>
            </a:solidFill>
            <a:prstDash val="solid"/>
          </a:ln>
        </p:spPr>
      </p:sp>
      <p:sp>
        <p:nvSpPr>
          <p:cNvPr id="15" name="Text 13"/>
          <p:cNvSpPr/>
          <p:nvPr/>
        </p:nvSpPr>
        <p:spPr>
          <a:xfrm>
            <a:off x="7818120" y="4187952"/>
            <a:ext cx="3703320" cy="320040"/>
          </a:xfrm>
          <a:prstGeom prst="rect">
            <a:avLst/>
          </a:prstGeom>
          <a:noFill/>
          <a:ln/>
        </p:spPr>
        <p:txBody>
          <a:bodyPr wrap="square" lIns="0" tIns="0" rIns="0" bIns="0" rtlCol="0" anchor="ctr"/>
          <a:lstStyle/>
          <a:p>
            <a:pPr marL="0" indent="0">
              <a:buNone/>
            </a:pPr>
            <a:r>
              <a:rPr lang="en-US" sz="1250" b="1" dirty="0">
                <a:solidFill>
                  <a:srgbClr val="1B3A6B"/>
                </a:solidFill>
                <a:latin typeface="Meiryo" pitchFamily="34" charset="0"/>
                <a:ea typeface="Meiryo" pitchFamily="34" charset="-122"/>
                <a:cs typeface="Meiryo" pitchFamily="34" charset="-120"/>
              </a:rPr>
              <a:t>注目ポイント</a:t>
            </a:r>
            <a:endParaRPr lang="en-US" sz="1250" dirty="0"/>
          </a:p>
        </p:txBody>
      </p:sp>
      <p:sp>
        <p:nvSpPr>
          <p:cNvPr id="16" name="Text 14"/>
          <p:cNvSpPr/>
          <p:nvPr/>
        </p:nvSpPr>
        <p:spPr>
          <a:xfrm>
            <a:off x="7818120" y="4553712"/>
            <a:ext cx="3703320" cy="1554480"/>
          </a:xfrm>
          <a:prstGeom prst="rect">
            <a:avLst/>
          </a:prstGeom>
          <a:noFill/>
          <a:ln/>
        </p:spPr>
        <p:txBody>
          <a:bodyPr wrap="square" lIns="0" tIns="0" rIns="0" bIns="0" rtlCol="0" anchor="t"/>
          <a:lstStyle/>
          <a:p>
            <a:pPr marL="342900" indent="-342900">
              <a:spcAft>
                <a:spcPts val="700"/>
              </a:spcAft>
              <a:buSzPct val="100000"/>
              <a:buChar char="•"/>
            </a:pPr>
            <a:r>
              <a:rPr lang="en-US" sz="950" dirty="0">
                <a:solidFill>
                  <a:srgbClr val="222222"/>
                </a:solidFill>
                <a:latin typeface="メイリオ" panose="020B0604030504040204" pitchFamily="50" charset="-128"/>
                <a:ea typeface="メイリオ" panose="020B0604030504040204" pitchFamily="50" charset="-128"/>
                <a:cs typeface="Meiryo" pitchFamily="34" charset="-120"/>
              </a:rPr>
              <a:t>市内で唯一「土曜が定休」の事業者。平日・祝日10:00〜14:00のみで、稼働枠は公立に次いで狭い。</a:t>
            </a:r>
            <a:endParaRPr lang="en-US" sz="1000" dirty="0">
              <a:latin typeface="メイリオ" panose="020B0604030504040204" pitchFamily="50" charset="-128"/>
              <a:ea typeface="メイリオ" panose="020B0604030504040204" pitchFamily="50" charset="-128"/>
            </a:endParaRPr>
          </a:p>
          <a:p>
            <a:pPr marL="342900" indent="-342900">
              <a:spcAft>
                <a:spcPts val="700"/>
              </a:spcAft>
              <a:buSzPct val="100000"/>
              <a:buChar char="•"/>
            </a:pPr>
            <a:r>
              <a:rPr lang="en-US" sz="950" dirty="0">
                <a:solidFill>
                  <a:srgbClr val="222222"/>
                </a:solidFill>
                <a:latin typeface="メイリオ" panose="020B0604030504040204" pitchFamily="50" charset="-128"/>
                <a:ea typeface="メイリオ" panose="020B0604030504040204" pitchFamily="50" charset="-128"/>
                <a:cs typeface="Meiryo" pitchFamily="34" charset="-120"/>
              </a:rPr>
              <a:t>田間（市街地）と道庭（市北東部・求名寄り）に各1拠点を置き、商圏を分ける配置をとる。</a:t>
            </a:r>
            <a:endParaRPr lang="en-US" sz="1000" dirty="0">
              <a:latin typeface="メイリオ" panose="020B0604030504040204" pitchFamily="50" charset="-128"/>
              <a:ea typeface="メイリオ" panose="020B0604030504040204" pitchFamily="50" charset="-128"/>
            </a:endParaRPr>
          </a:p>
          <a:p>
            <a:pPr marL="342900" indent="-342900">
              <a:spcAft>
                <a:spcPts val="700"/>
              </a:spcAft>
              <a:buSzPct val="100000"/>
              <a:buChar char="•"/>
            </a:pPr>
            <a:r>
              <a:rPr lang="en-US" sz="950" dirty="0">
                <a:solidFill>
                  <a:srgbClr val="222222"/>
                </a:solidFill>
                <a:latin typeface="メイリオ" panose="020B0604030504040204" pitchFamily="50" charset="-128"/>
                <a:ea typeface="メイリオ" panose="020B0604030504040204" pitchFamily="50" charset="-128"/>
                <a:cs typeface="Meiryo" pitchFamily="34" charset="-120"/>
              </a:rPr>
              <a:t>発達ナビ上で「空きあり」と表示されており、稼働に余力がある可能性がある。</a:t>
            </a:r>
            <a:endParaRPr lang="en-US" sz="1000" dirty="0">
              <a:latin typeface="メイリオ" panose="020B0604030504040204" pitchFamily="50" charset="-128"/>
              <a:ea typeface="メイリオ" panose="020B0604030504040204" pitchFamily="50" charset="-128"/>
            </a:endParaRPr>
          </a:p>
          <a:p>
            <a:pPr marL="342900" indent="-342900">
              <a:spcAft>
                <a:spcPts val="700"/>
              </a:spcAft>
              <a:buSzPct val="100000"/>
              <a:buChar char="•"/>
            </a:pPr>
            <a:r>
              <a:rPr lang="en-US" sz="950" dirty="0">
                <a:solidFill>
                  <a:srgbClr val="222222"/>
                </a:solidFill>
                <a:latin typeface="メイリオ" panose="020B0604030504040204" pitchFamily="50" charset="-128"/>
                <a:ea typeface="メイリオ" panose="020B0604030504040204" pitchFamily="50" charset="-128"/>
                <a:cs typeface="Meiryo" pitchFamily="34" charset="-120"/>
              </a:rPr>
              <a:t>公開情報が乏しく、プログラム内容の把握には直接ヒアリングが必要。</a:t>
            </a:r>
            <a:endParaRPr lang="en-US" sz="1000" dirty="0">
              <a:latin typeface="メイリオ" panose="020B0604030504040204" pitchFamily="50" charset="-128"/>
              <a:ea typeface="メイリオ" panose="020B0604030504040204" pitchFamily="50" charset="-128"/>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932688"/>
          </a:xfrm>
          <a:prstGeom prst="rect">
            <a:avLst/>
          </a:prstGeom>
          <a:solidFill>
            <a:srgbClr val="1B3A6B"/>
          </a:solidFill>
          <a:ln/>
        </p:spPr>
      </p:sp>
      <p:sp>
        <p:nvSpPr>
          <p:cNvPr id="3" name="Shape 1"/>
          <p:cNvSpPr/>
          <p:nvPr/>
        </p:nvSpPr>
        <p:spPr>
          <a:xfrm>
            <a:off x="0" y="0"/>
            <a:ext cx="164592" cy="932688"/>
          </a:xfrm>
          <a:prstGeom prst="rect">
            <a:avLst/>
          </a:prstGeom>
          <a:solidFill>
            <a:srgbClr val="13294B"/>
          </a:solidFill>
          <a:ln/>
        </p:spPr>
      </p:sp>
      <p:sp>
        <p:nvSpPr>
          <p:cNvPr id="4" name="Text 2"/>
          <p:cNvSpPr/>
          <p:nvPr/>
        </p:nvSpPr>
        <p:spPr>
          <a:xfrm>
            <a:off x="502920" y="54864"/>
            <a:ext cx="8686800" cy="822960"/>
          </a:xfrm>
          <a:prstGeom prst="rect">
            <a:avLst/>
          </a:prstGeom>
          <a:noFill/>
          <a:ln/>
        </p:spPr>
        <p:txBody>
          <a:bodyPr wrap="square" lIns="0" tIns="0" rIns="0" bIns="0" rtlCol="0" anchor="ctr"/>
          <a:lstStyle/>
          <a:p>
            <a:pPr marL="0" indent="0">
              <a:buNone/>
            </a:pPr>
            <a:r>
              <a:rPr lang="en-US" sz="3000" b="1" dirty="0">
                <a:solidFill>
                  <a:srgbClr val="FFFFFF"/>
                </a:solidFill>
                <a:latin typeface="Meiryo" pitchFamily="34" charset="0"/>
                <a:ea typeface="Meiryo" pitchFamily="34" charset="-122"/>
                <a:cs typeface="Meiryo" pitchFamily="34" charset="-120"/>
              </a:rPr>
              <a:t>II．　事業所別 詳細</a:t>
            </a:r>
            <a:endParaRPr lang="en-US" sz="3000" dirty="0"/>
          </a:p>
        </p:txBody>
      </p:sp>
      <p:sp>
        <p:nvSpPr>
          <p:cNvPr id="5" name="Text 3"/>
          <p:cNvSpPr/>
          <p:nvPr/>
        </p:nvSpPr>
        <p:spPr>
          <a:xfrm>
            <a:off x="502920" y="1115568"/>
            <a:ext cx="8503920" cy="457200"/>
          </a:xfrm>
          <a:prstGeom prst="rect">
            <a:avLst/>
          </a:prstGeom>
          <a:noFill/>
          <a:ln/>
        </p:spPr>
        <p:txBody>
          <a:bodyPr wrap="square" lIns="0" tIns="0" rIns="0" bIns="0" rtlCol="0" anchor="ctr"/>
          <a:lstStyle/>
          <a:p>
            <a:pPr marL="0" indent="0">
              <a:buNone/>
            </a:pPr>
            <a:r>
              <a:rPr lang="en-US" sz="2100" b="1" dirty="0">
                <a:solidFill>
                  <a:srgbClr val="222222"/>
                </a:solidFill>
                <a:latin typeface="Meiryo" pitchFamily="34" charset="0"/>
                <a:ea typeface="Meiryo" pitchFamily="34" charset="-122"/>
                <a:cs typeface="Meiryo" pitchFamily="34" charset="-120"/>
              </a:rPr>
              <a:t>⑥ 果実の木求名</a:t>
            </a:r>
            <a:endParaRPr lang="en-US" sz="2100" dirty="0"/>
          </a:p>
        </p:txBody>
      </p:sp>
      <p:sp>
        <p:nvSpPr>
          <p:cNvPr id="6" name="Shape 4"/>
          <p:cNvSpPr/>
          <p:nvPr/>
        </p:nvSpPr>
        <p:spPr>
          <a:xfrm>
            <a:off x="10104120" y="1170432"/>
            <a:ext cx="1600200" cy="457200"/>
          </a:xfrm>
          <a:prstGeom prst="rect">
            <a:avLst/>
          </a:prstGeom>
          <a:solidFill>
            <a:srgbClr val="FFFFFF"/>
          </a:solidFill>
          <a:ln w="15875">
            <a:solidFill>
              <a:srgbClr val="1B3A6B"/>
            </a:solidFill>
            <a:prstDash val="solid"/>
          </a:ln>
        </p:spPr>
      </p:sp>
      <p:sp>
        <p:nvSpPr>
          <p:cNvPr id="7" name="Text 5"/>
          <p:cNvSpPr/>
          <p:nvPr/>
        </p:nvSpPr>
        <p:spPr>
          <a:xfrm>
            <a:off x="10104120" y="1170432"/>
            <a:ext cx="1600200" cy="457200"/>
          </a:xfrm>
          <a:prstGeom prst="rect">
            <a:avLst/>
          </a:prstGeom>
          <a:noFill/>
          <a:ln/>
        </p:spPr>
        <p:txBody>
          <a:bodyPr wrap="square" lIns="0" tIns="0" rIns="0" bIns="0" rtlCol="0" anchor="ctr"/>
          <a:lstStyle/>
          <a:p>
            <a:pPr marL="0" indent="0" algn="ctr">
              <a:buNone/>
            </a:pPr>
            <a:r>
              <a:rPr lang="en-US" sz="1400" b="1" dirty="0">
                <a:solidFill>
                  <a:srgbClr val="1B3A6B"/>
                </a:solidFill>
                <a:latin typeface="Meiryo" pitchFamily="34" charset="0"/>
                <a:ea typeface="Meiryo" pitchFamily="34" charset="-122"/>
                <a:cs typeface="Meiryo" pitchFamily="34" charset="-120"/>
              </a:rPr>
              <a:t>東金市</a:t>
            </a:r>
            <a:endParaRPr lang="en-US" sz="1400" dirty="0"/>
          </a:p>
        </p:txBody>
      </p:sp>
      <p:sp>
        <p:nvSpPr>
          <p:cNvPr id="8" name="Text 6"/>
          <p:cNvSpPr/>
          <p:nvPr/>
        </p:nvSpPr>
        <p:spPr>
          <a:xfrm>
            <a:off x="502920" y="6510528"/>
            <a:ext cx="7315200" cy="274320"/>
          </a:xfrm>
          <a:prstGeom prst="rect">
            <a:avLst/>
          </a:prstGeom>
          <a:noFill/>
          <a:ln/>
        </p:spPr>
        <p:txBody>
          <a:bodyPr wrap="square" lIns="0" tIns="0" rIns="0" bIns="0" rtlCol="0" anchor="ctr"/>
          <a:lstStyle/>
          <a:p>
            <a:pPr marL="0" indent="0">
              <a:buNone/>
            </a:pPr>
            <a:r>
              <a:rPr lang="en-US" sz="850" dirty="0">
                <a:solidFill>
                  <a:srgbClr val="666666"/>
                </a:solidFill>
                <a:latin typeface="Meiryo" pitchFamily="34" charset="0"/>
                <a:ea typeface="Meiryo" pitchFamily="34" charset="-122"/>
                <a:cs typeface="Meiryo" pitchFamily="34" charset="-120"/>
              </a:rPr>
              <a:t>Copyright Funai Soken Group. All rights reserved.</a:t>
            </a:r>
            <a:endParaRPr lang="en-US" sz="850" dirty="0"/>
          </a:p>
        </p:txBody>
      </p:sp>
      <p:sp>
        <p:nvSpPr>
          <p:cNvPr id="9" name="Shape 7"/>
          <p:cNvSpPr/>
          <p:nvPr/>
        </p:nvSpPr>
        <p:spPr>
          <a:xfrm>
            <a:off x="502920" y="1783080"/>
            <a:ext cx="6903720" cy="4434840"/>
          </a:xfrm>
          <a:prstGeom prst="rect">
            <a:avLst/>
          </a:prstGeom>
          <a:solidFill>
            <a:srgbClr val="FFFFFF"/>
          </a:solidFill>
          <a:ln w="12700">
            <a:solidFill>
              <a:srgbClr val="9AA7B8"/>
            </a:solidFill>
            <a:prstDash val="solid"/>
          </a:ln>
          <a:effectLst>
            <a:outerShdw blurRad="63500" dist="25400" dir="8100000" algn="bl" rotWithShape="0">
              <a:srgbClr val="000000">
                <a:alpha val="12000"/>
              </a:srgbClr>
            </a:outerShdw>
          </a:effectLst>
        </p:spPr>
      </p:sp>
      <p:sp>
        <p:nvSpPr>
          <p:cNvPr id="10" name="Text 8"/>
          <p:cNvSpPr/>
          <p:nvPr/>
        </p:nvSpPr>
        <p:spPr>
          <a:xfrm>
            <a:off x="704088" y="1911096"/>
            <a:ext cx="6501384" cy="384048"/>
          </a:xfrm>
          <a:prstGeom prst="rect">
            <a:avLst/>
          </a:prstGeom>
          <a:noFill/>
          <a:ln/>
        </p:spPr>
        <p:txBody>
          <a:bodyPr wrap="square" lIns="0" tIns="0" rIns="0" bIns="0" rtlCol="0" anchor="ctr"/>
          <a:lstStyle/>
          <a:p>
            <a:pPr marL="0" indent="0">
              <a:buNone/>
            </a:pPr>
            <a:r>
              <a:rPr lang="en-US" sz="1400" b="1" dirty="0">
                <a:solidFill>
                  <a:srgbClr val="1B3A6B"/>
                </a:solidFill>
                <a:latin typeface="Meiryo" pitchFamily="34" charset="0"/>
                <a:ea typeface="Meiryo" pitchFamily="34" charset="-122"/>
                <a:cs typeface="Meiryo" pitchFamily="34" charset="-120"/>
              </a:rPr>
              <a:t>果実の木求名（運営：株式会社清宝）</a:t>
            </a:r>
            <a:endParaRPr lang="en-US" sz="1400" dirty="0"/>
          </a:p>
        </p:txBody>
      </p:sp>
      <p:sp>
        <p:nvSpPr>
          <p:cNvPr id="11" name="Text 9"/>
          <p:cNvSpPr/>
          <p:nvPr/>
        </p:nvSpPr>
        <p:spPr>
          <a:xfrm>
            <a:off x="704088" y="2331720"/>
            <a:ext cx="6501384" cy="3813048"/>
          </a:xfrm>
          <a:prstGeom prst="rect">
            <a:avLst/>
          </a:prstGeom>
          <a:noFill/>
          <a:ln/>
        </p:spPr>
        <p:txBody>
          <a:bodyPr wrap="square" lIns="0" tIns="0" rIns="0" bIns="0" rtlCol="0" anchor="t"/>
          <a:lstStyle/>
          <a:p>
            <a:pPr marL="0" indent="0">
              <a:lnSpc>
                <a:spcPct val="103000"/>
              </a:lnSpc>
              <a:buNone/>
            </a:pPr>
            <a:r>
              <a:rPr lang="en-US" sz="1050" b="1" dirty="0">
                <a:solidFill>
                  <a:srgbClr val="2E6BB8"/>
                </a:solidFill>
                <a:latin typeface="Meiryo" pitchFamily="34" charset="0"/>
                <a:ea typeface="Meiryo" pitchFamily="34" charset="-122"/>
                <a:cs typeface="Meiryo" pitchFamily="34" charset="-120"/>
              </a:rPr>
              <a:t>▶</a:t>
            </a:r>
            <a:r>
              <a:rPr lang="en-US" sz="1050" b="1" dirty="0">
                <a:solidFill>
                  <a:srgbClr val="222222"/>
                </a:solidFill>
                <a:latin typeface="Meiryo" pitchFamily="34" charset="0"/>
                <a:ea typeface="Meiryo" pitchFamily="34" charset="-122"/>
                <a:cs typeface="Meiryo" pitchFamily="34" charset="-120"/>
              </a:rPr>
              <a:t>対象：</a:t>
            </a:r>
            <a:r>
              <a:rPr lang="en-US" sz="1050" dirty="0">
                <a:solidFill>
                  <a:srgbClr val="222222"/>
                </a:solidFill>
                <a:latin typeface="Meiryo" pitchFamily="34" charset="0"/>
                <a:ea typeface="Meiryo" pitchFamily="34" charset="-122"/>
                <a:cs typeface="Meiryo" pitchFamily="34" charset="-120"/>
              </a:rPr>
              <a:t>未就学児（児童発達支援）</a:t>
            </a:r>
            <a:endParaRPr lang="en-US" sz="1050" dirty="0"/>
          </a:p>
          <a:p>
            <a:pPr marL="0" indent="0">
              <a:lnSpc>
                <a:spcPct val="103000"/>
              </a:lnSpc>
              <a:buNone/>
            </a:pPr>
            <a:r>
              <a:rPr lang="en-US" sz="1050" b="1" dirty="0">
                <a:solidFill>
                  <a:srgbClr val="2E6BB8"/>
                </a:solidFill>
                <a:latin typeface="Meiryo" pitchFamily="34" charset="0"/>
                <a:ea typeface="Meiryo" pitchFamily="34" charset="-122"/>
                <a:cs typeface="Meiryo" pitchFamily="34" charset="-120"/>
              </a:rPr>
              <a:t>▶</a:t>
            </a:r>
            <a:r>
              <a:rPr lang="en-US" sz="1050" b="1" dirty="0">
                <a:solidFill>
                  <a:srgbClr val="222222"/>
                </a:solidFill>
                <a:latin typeface="Meiryo" pitchFamily="34" charset="0"/>
                <a:ea typeface="Meiryo" pitchFamily="34" charset="-122"/>
                <a:cs typeface="Meiryo" pitchFamily="34" charset="-120"/>
              </a:rPr>
              <a:t>所在地：</a:t>
            </a:r>
            <a:r>
              <a:rPr lang="en-US" sz="1050" dirty="0">
                <a:solidFill>
                  <a:srgbClr val="222222"/>
                </a:solidFill>
                <a:latin typeface="Meiryo" pitchFamily="34" charset="0"/>
                <a:ea typeface="Meiryo" pitchFamily="34" charset="-122"/>
                <a:cs typeface="Meiryo" pitchFamily="34" charset="-120"/>
              </a:rPr>
              <a:t>千葉県東金市求名465-14（JR東金線 求名駅 圏域）　※法人本部：東金市堀之内540-6</a:t>
            </a:r>
            <a:endParaRPr lang="en-US" sz="1050" dirty="0"/>
          </a:p>
          <a:p>
            <a:pPr marL="0" indent="0">
              <a:lnSpc>
                <a:spcPct val="103000"/>
              </a:lnSpc>
              <a:buNone/>
            </a:pPr>
            <a:r>
              <a:rPr lang="en-US" sz="1050" b="1" dirty="0">
                <a:solidFill>
                  <a:srgbClr val="2E6BB8"/>
                </a:solidFill>
                <a:latin typeface="Meiryo" pitchFamily="34" charset="0"/>
                <a:ea typeface="Meiryo" pitchFamily="34" charset="-122"/>
                <a:cs typeface="Meiryo" pitchFamily="34" charset="-120"/>
              </a:rPr>
              <a:t>▶</a:t>
            </a:r>
            <a:r>
              <a:rPr lang="en-US" sz="1050" b="1" dirty="0">
                <a:solidFill>
                  <a:srgbClr val="222222"/>
                </a:solidFill>
                <a:latin typeface="Meiryo" pitchFamily="34" charset="0"/>
                <a:ea typeface="Meiryo" pitchFamily="34" charset="-122"/>
                <a:cs typeface="Meiryo" pitchFamily="34" charset="-120"/>
              </a:rPr>
              <a:t>TEL／HP：</a:t>
            </a:r>
            <a:r>
              <a:rPr lang="en-US" sz="1050" dirty="0">
                <a:solidFill>
                  <a:srgbClr val="222222"/>
                </a:solidFill>
                <a:latin typeface="Meiryo" pitchFamily="34" charset="0"/>
                <a:ea typeface="Meiryo" pitchFamily="34" charset="-122"/>
                <a:cs typeface="Meiryo" pitchFamily="34" charset="-120"/>
              </a:rPr>
              <a:t>080-3479-0543（法人 0475-53-3401） ／ houkagodei.com</a:t>
            </a:r>
            <a:endParaRPr lang="en-US" sz="1050" dirty="0"/>
          </a:p>
          <a:p>
            <a:pPr marL="0" indent="0">
              <a:lnSpc>
                <a:spcPct val="103000"/>
              </a:lnSpc>
              <a:buNone/>
            </a:pPr>
            <a:r>
              <a:rPr lang="en-US" sz="1050" b="1" dirty="0">
                <a:solidFill>
                  <a:srgbClr val="2E6BB8"/>
                </a:solidFill>
                <a:latin typeface="Meiryo" pitchFamily="34" charset="0"/>
                <a:ea typeface="Meiryo" pitchFamily="34" charset="-122"/>
                <a:cs typeface="Meiryo" pitchFamily="34" charset="-120"/>
              </a:rPr>
              <a:t>▶</a:t>
            </a:r>
            <a:r>
              <a:rPr lang="en-US" sz="1050" b="1" dirty="0">
                <a:solidFill>
                  <a:srgbClr val="222222"/>
                </a:solidFill>
                <a:latin typeface="Meiryo" pitchFamily="34" charset="0"/>
                <a:ea typeface="Meiryo" pitchFamily="34" charset="-122"/>
                <a:cs typeface="Meiryo" pitchFamily="34" charset="-120"/>
              </a:rPr>
              <a:t>提供時間／定休日：</a:t>
            </a:r>
            <a:r>
              <a:rPr lang="en-US" sz="1050" dirty="0">
                <a:solidFill>
                  <a:srgbClr val="222222"/>
                </a:solidFill>
                <a:latin typeface="Meiryo" pitchFamily="34" charset="0"/>
                <a:ea typeface="Meiryo" pitchFamily="34" charset="-122"/>
                <a:cs typeface="Meiryo" pitchFamily="34" charset="-120"/>
              </a:rPr>
              <a:t>公表データに未登録（要確認）</a:t>
            </a:r>
            <a:endParaRPr lang="en-US" sz="1050" dirty="0"/>
          </a:p>
          <a:p>
            <a:pPr marL="0" indent="0">
              <a:lnSpc>
                <a:spcPct val="103000"/>
              </a:lnSpc>
              <a:buNone/>
            </a:pPr>
            <a:r>
              <a:rPr lang="en-US" sz="1050" b="1" dirty="0">
                <a:solidFill>
                  <a:srgbClr val="2E6BB8"/>
                </a:solidFill>
                <a:latin typeface="Meiryo" pitchFamily="34" charset="0"/>
                <a:ea typeface="Meiryo" pitchFamily="34" charset="-122"/>
                <a:cs typeface="Meiryo" pitchFamily="34" charset="-120"/>
              </a:rPr>
              <a:t>▶</a:t>
            </a:r>
            <a:r>
              <a:rPr lang="en-US" sz="1050" b="1" dirty="0">
                <a:solidFill>
                  <a:srgbClr val="222222"/>
                </a:solidFill>
                <a:latin typeface="Meiryo" pitchFamily="34" charset="0"/>
                <a:ea typeface="Meiryo" pitchFamily="34" charset="-122"/>
                <a:cs typeface="Meiryo" pitchFamily="34" charset="-120"/>
              </a:rPr>
              <a:t>定員／事業所番号：</a:t>
            </a:r>
            <a:r>
              <a:rPr lang="en-US" sz="1050" dirty="0">
                <a:solidFill>
                  <a:srgbClr val="222222"/>
                </a:solidFill>
                <a:latin typeface="Meiryo" pitchFamily="34" charset="0"/>
                <a:ea typeface="Meiryo" pitchFamily="34" charset="-122"/>
                <a:cs typeface="Meiryo" pitchFamily="34" charset="-120"/>
              </a:rPr>
              <a:t>公表データに未登録（要確認） ／ 1250800248</a:t>
            </a:r>
            <a:endParaRPr lang="en-US" sz="1050" dirty="0"/>
          </a:p>
          <a:p>
            <a:pPr marL="0" indent="0">
              <a:lnSpc>
                <a:spcPct val="103000"/>
              </a:lnSpc>
              <a:spcAft>
                <a:spcPts val="500"/>
              </a:spcAft>
              <a:buNone/>
            </a:pPr>
            <a:endParaRPr lang="en-US" sz="1050" dirty="0"/>
          </a:p>
          <a:p>
            <a:pPr marL="0" indent="0">
              <a:lnSpc>
                <a:spcPct val="103000"/>
              </a:lnSpc>
              <a:buNone/>
            </a:pPr>
            <a:r>
              <a:rPr lang="en-US" sz="1050" b="1" dirty="0">
                <a:solidFill>
                  <a:srgbClr val="2E6BB8"/>
                </a:solidFill>
                <a:latin typeface="Meiryo" pitchFamily="34" charset="0"/>
                <a:ea typeface="Meiryo" pitchFamily="34" charset="-122"/>
                <a:cs typeface="Meiryo" pitchFamily="34" charset="-120"/>
              </a:rPr>
              <a:t>▶</a:t>
            </a:r>
            <a:r>
              <a:rPr lang="en-US" sz="1050" b="1" dirty="0">
                <a:solidFill>
                  <a:srgbClr val="222222"/>
                </a:solidFill>
                <a:latin typeface="Meiryo" pitchFamily="34" charset="0"/>
                <a:ea typeface="Meiryo" pitchFamily="34" charset="-122"/>
                <a:cs typeface="Meiryo" pitchFamily="34" charset="-120"/>
              </a:rPr>
              <a:t>療育プログラムの特徴：</a:t>
            </a:r>
            <a:r>
              <a:rPr lang="en-US" sz="1050" dirty="0">
                <a:solidFill>
                  <a:srgbClr val="222222"/>
                </a:solidFill>
                <a:latin typeface="Meiryo" pitchFamily="34" charset="0"/>
                <a:ea typeface="Meiryo" pitchFamily="34" charset="-122"/>
                <a:cs typeface="Meiryo" pitchFamily="34" charset="-120"/>
              </a:rPr>
              <a:t>公開情報が極めて限定的で、支援内容は要確認。</a:t>
            </a:r>
            <a:endParaRPr lang="en-US" sz="1050" dirty="0"/>
          </a:p>
          <a:p>
            <a:pPr marL="0" indent="0">
              <a:lnSpc>
                <a:spcPct val="103000"/>
              </a:lnSpc>
              <a:spcAft>
                <a:spcPts val="500"/>
              </a:spcAft>
              <a:buNone/>
            </a:pPr>
            <a:r>
              <a:rPr lang="en-US" sz="1050" dirty="0">
                <a:solidFill>
                  <a:srgbClr val="222222"/>
                </a:solidFill>
                <a:latin typeface="Meiryo" pitchFamily="34" charset="0"/>
                <a:ea typeface="Meiryo" pitchFamily="34" charset="-122"/>
                <a:cs typeface="Meiryo" pitchFamily="34" charset="-120"/>
              </a:rPr>
              <a:t>・市内で唯一、求名地区（市南西部）に立地する児童発達支援。</a:t>
            </a:r>
            <a:endParaRPr lang="en-US" sz="1050" dirty="0"/>
          </a:p>
          <a:p>
            <a:pPr marL="0" indent="0">
              <a:lnSpc>
                <a:spcPct val="103000"/>
              </a:lnSpc>
              <a:spcAft>
                <a:spcPts val="500"/>
              </a:spcAft>
              <a:buNone/>
            </a:pPr>
            <a:r>
              <a:rPr lang="en-US" sz="1050" dirty="0">
                <a:solidFill>
                  <a:srgbClr val="222222"/>
                </a:solidFill>
                <a:latin typeface="Meiryo" pitchFamily="34" charset="0"/>
                <a:ea typeface="Meiryo" pitchFamily="34" charset="-122"/>
                <a:cs typeface="Meiryo" pitchFamily="34" charset="-120"/>
              </a:rPr>
              <a:t>・法人サイトは放課後等デイサービスを主軸に運営を紹介。</a:t>
            </a:r>
            <a:endParaRPr lang="en-US" sz="1050" dirty="0"/>
          </a:p>
          <a:p>
            <a:pPr marL="0" indent="0">
              <a:lnSpc>
                <a:spcPct val="103000"/>
              </a:lnSpc>
              <a:spcAft>
                <a:spcPts val="500"/>
              </a:spcAft>
              <a:buNone/>
            </a:pPr>
            <a:endParaRPr lang="en-US" sz="1050" dirty="0"/>
          </a:p>
          <a:p>
            <a:pPr marL="0" indent="0">
              <a:lnSpc>
                <a:spcPct val="103000"/>
              </a:lnSpc>
              <a:buNone/>
            </a:pPr>
            <a:r>
              <a:rPr lang="en-US" sz="1050" b="1" dirty="0">
                <a:solidFill>
                  <a:srgbClr val="2E6BB8"/>
                </a:solidFill>
                <a:latin typeface="Meiryo" pitchFamily="34" charset="0"/>
                <a:ea typeface="Meiryo" pitchFamily="34" charset="-122"/>
                <a:cs typeface="Meiryo" pitchFamily="34" charset="-120"/>
              </a:rPr>
              <a:t>▶</a:t>
            </a:r>
            <a:r>
              <a:rPr lang="en-US" sz="1050" b="1" dirty="0">
                <a:solidFill>
                  <a:srgbClr val="222222"/>
                </a:solidFill>
                <a:latin typeface="Meiryo" pitchFamily="34" charset="0"/>
                <a:ea typeface="Meiryo" pitchFamily="34" charset="-122"/>
                <a:cs typeface="Meiryo" pitchFamily="34" charset="-120"/>
              </a:rPr>
              <a:t>出典：</a:t>
            </a:r>
            <a:r>
              <a:rPr lang="en-US" sz="1050" dirty="0">
                <a:solidFill>
                  <a:srgbClr val="222222"/>
                </a:solidFill>
                <a:latin typeface="Meiryo" pitchFamily="34" charset="0"/>
                <a:ea typeface="Meiryo" pitchFamily="34" charset="-122"/>
                <a:cs typeface="Meiryo" pitchFamily="34" charset="-120"/>
              </a:rPr>
              <a:t>千葉県 障害福祉サービス等情報公表システム／houkagodei.com（株式会社清宝）</a:t>
            </a:r>
            <a:endParaRPr lang="en-US" sz="1050" dirty="0"/>
          </a:p>
          <a:p>
            <a:pPr marL="0" indent="0">
              <a:lnSpc>
                <a:spcPct val="103000"/>
              </a:lnSpc>
              <a:buNone/>
            </a:pPr>
            <a:r>
              <a:rPr lang="en-US" sz="1050" b="1" dirty="0">
                <a:solidFill>
                  <a:srgbClr val="2E6BB8"/>
                </a:solidFill>
                <a:latin typeface="Meiryo" pitchFamily="34" charset="0"/>
                <a:ea typeface="Meiryo" pitchFamily="34" charset="-122"/>
                <a:cs typeface="Meiryo" pitchFamily="34" charset="-120"/>
              </a:rPr>
              <a:t>▶</a:t>
            </a:r>
            <a:r>
              <a:rPr lang="en-US" sz="1050" b="1" dirty="0">
                <a:solidFill>
                  <a:srgbClr val="222222"/>
                </a:solidFill>
                <a:latin typeface="Meiryo" pitchFamily="34" charset="0"/>
                <a:ea typeface="Meiryo" pitchFamily="34" charset="-122"/>
                <a:cs typeface="Meiryo" pitchFamily="34" charset="-120"/>
              </a:rPr>
              <a:t>要確認事項：</a:t>
            </a:r>
            <a:r>
              <a:rPr lang="en-US" sz="1050" dirty="0">
                <a:solidFill>
                  <a:srgbClr val="222222"/>
                </a:solidFill>
                <a:latin typeface="Meiryo" pitchFamily="34" charset="0"/>
                <a:ea typeface="Meiryo" pitchFamily="34" charset="-122"/>
                <a:cs typeface="Meiryo" pitchFamily="34" charset="-120"/>
              </a:rPr>
              <a:t>提供時間、定休日、定員、送迎の有無、プログラム内容、開所時期</a:t>
            </a:r>
            <a:endParaRPr lang="en-US" sz="1050" dirty="0"/>
          </a:p>
        </p:txBody>
      </p:sp>
      <p:sp>
        <p:nvSpPr>
          <p:cNvPr id="13" name="Text 11"/>
          <p:cNvSpPr/>
          <p:nvPr/>
        </p:nvSpPr>
        <p:spPr>
          <a:xfrm>
            <a:off x="7635240" y="1783080"/>
            <a:ext cx="4069080" cy="2148840"/>
          </a:xfrm>
          <a:prstGeom prst="rect">
            <a:avLst/>
          </a:prstGeom>
          <a:solidFill>
            <a:srgbClr val="F4F6FA"/>
          </a:solidFill>
          <a:ln w="12700">
            <a:solidFill>
              <a:srgbClr val="9AA7B8"/>
            </a:solidFill>
            <a:prstDash val="dash"/>
          </a:ln>
        </p:spPr>
        <p:txBody>
          <a:bodyPr wrap="square" lIns="91440" tIns="45720" rIns="91440" bIns="45720" rtlCol="0" anchor="ctr"/>
          <a:lstStyle/>
          <a:p>
            <a:pPr marL="0" indent="0" algn="ctr">
              <a:lnSpc>
                <a:spcPct val="110000"/>
              </a:lnSpc>
              <a:buNone/>
            </a:pPr>
            <a:r>
              <a:rPr lang="en-US" sz="1200" b="1" dirty="0">
                <a:solidFill>
                  <a:srgbClr val="8A99AD"/>
                </a:solidFill>
                <a:latin typeface="Meiryo" pitchFamily="34" charset="0"/>
                <a:ea typeface="Meiryo" pitchFamily="34" charset="-122"/>
                <a:cs typeface="Meiryo" pitchFamily="34" charset="-120"/>
              </a:rPr>
              <a:t>［ 写真挿入エリア ］</a:t>
            </a:r>
            <a:endParaRPr lang="en-US" sz="1200" dirty="0"/>
          </a:p>
          <a:p>
            <a:pPr marL="0" indent="0" algn="ctr">
              <a:lnSpc>
                <a:spcPct val="110000"/>
              </a:lnSpc>
              <a:buNone/>
            </a:pPr>
            <a:r>
              <a:rPr lang="en-US" sz="950" dirty="0">
                <a:solidFill>
                  <a:srgbClr val="97A4B6"/>
                </a:solidFill>
                <a:latin typeface="Meiryo" pitchFamily="34" charset="0"/>
                <a:ea typeface="Meiryo" pitchFamily="34" charset="-122"/>
                <a:cs typeface="Meiryo" pitchFamily="34" charset="-120"/>
              </a:rPr>
              <a:t>（houkagodei.com／LITALICO発達ナビ掲載の施設写真を挿入）</a:t>
            </a:r>
            <a:endParaRPr lang="en-US" sz="1200" dirty="0"/>
          </a:p>
        </p:txBody>
      </p:sp>
      <p:sp>
        <p:nvSpPr>
          <p:cNvPr id="14" name="Shape 12"/>
          <p:cNvSpPr/>
          <p:nvPr/>
        </p:nvSpPr>
        <p:spPr>
          <a:xfrm>
            <a:off x="7635240" y="4069080"/>
            <a:ext cx="4069080" cy="2148840"/>
          </a:xfrm>
          <a:prstGeom prst="rect">
            <a:avLst/>
          </a:prstGeom>
          <a:solidFill>
            <a:srgbClr val="EEF2F8"/>
          </a:solidFill>
          <a:ln w="12700">
            <a:solidFill>
              <a:srgbClr val="9AA7B8"/>
            </a:solidFill>
            <a:prstDash val="solid"/>
          </a:ln>
        </p:spPr>
      </p:sp>
      <p:sp>
        <p:nvSpPr>
          <p:cNvPr id="15" name="Text 13"/>
          <p:cNvSpPr/>
          <p:nvPr/>
        </p:nvSpPr>
        <p:spPr>
          <a:xfrm>
            <a:off x="7818120" y="4187952"/>
            <a:ext cx="3703320" cy="320040"/>
          </a:xfrm>
          <a:prstGeom prst="rect">
            <a:avLst/>
          </a:prstGeom>
          <a:noFill/>
          <a:ln/>
        </p:spPr>
        <p:txBody>
          <a:bodyPr wrap="square" lIns="0" tIns="0" rIns="0" bIns="0" rtlCol="0" anchor="ctr"/>
          <a:lstStyle/>
          <a:p>
            <a:pPr marL="0" indent="0">
              <a:buNone/>
            </a:pPr>
            <a:r>
              <a:rPr lang="en-US" sz="1250" b="1" dirty="0">
                <a:solidFill>
                  <a:srgbClr val="1B3A6B"/>
                </a:solidFill>
                <a:latin typeface="Meiryo" pitchFamily="34" charset="0"/>
                <a:ea typeface="Meiryo" pitchFamily="34" charset="-122"/>
                <a:cs typeface="Meiryo" pitchFamily="34" charset="-120"/>
              </a:rPr>
              <a:t>注目ポイント</a:t>
            </a:r>
            <a:endParaRPr lang="en-US" sz="1250" dirty="0"/>
          </a:p>
        </p:txBody>
      </p:sp>
      <p:sp>
        <p:nvSpPr>
          <p:cNvPr id="16" name="Text 14"/>
          <p:cNvSpPr/>
          <p:nvPr/>
        </p:nvSpPr>
        <p:spPr>
          <a:xfrm>
            <a:off x="7818120" y="4553712"/>
            <a:ext cx="3703320" cy="1554480"/>
          </a:xfrm>
          <a:prstGeom prst="rect">
            <a:avLst/>
          </a:prstGeom>
          <a:noFill/>
          <a:ln/>
        </p:spPr>
        <p:txBody>
          <a:bodyPr wrap="square" lIns="0" tIns="0" rIns="0" bIns="0" rtlCol="0" anchor="t"/>
          <a:lstStyle/>
          <a:p>
            <a:pPr marL="342900" indent="-342900">
              <a:spcAft>
                <a:spcPts val="700"/>
              </a:spcAft>
              <a:buSzPct val="100000"/>
              <a:buChar char="•"/>
            </a:pPr>
            <a:r>
              <a:rPr lang="en-US" sz="950" dirty="0">
                <a:solidFill>
                  <a:srgbClr val="222222"/>
                </a:solidFill>
                <a:latin typeface="メイリオ" panose="020B0604030504040204" pitchFamily="50" charset="-128"/>
                <a:ea typeface="メイリオ" panose="020B0604030504040204" pitchFamily="50" charset="-128"/>
                <a:cs typeface="Meiryo" pitchFamily="34" charset="-120"/>
              </a:rPr>
              <a:t>市内で唯一、求名地区（市南西部）をカバーする児童発達支援。他10事業所は東金駅圏〜日吉台・八坂台に集中。</a:t>
            </a:r>
            <a:endParaRPr lang="en-US" sz="1000" dirty="0">
              <a:latin typeface="メイリオ" panose="020B0604030504040204" pitchFamily="50" charset="-128"/>
              <a:ea typeface="メイリオ" panose="020B0604030504040204" pitchFamily="50" charset="-128"/>
            </a:endParaRPr>
          </a:p>
          <a:p>
            <a:pPr marL="342900" indent="-342900">
              <a:spcAft>
                <a:spcPts val="700"/>
              </a:spcAft>
              <a:buSzPct val="100000"/>
              <a:buChar char="•"/>
            </a:pPr>
            <a:r>
              <a:rPr lang="en-US" sz="950" dirty="0">
                <a:solidFill>
                  <a:srgbClr val="222222"/>
                </a:solidFill>
                <a:latin typeface="メイリオ" panose="020B0604030504040204" pitchFamily="50" charset="-128"/>
                <a:ea typeface="メイリオ" panose="020B0604030504040204" pitchFamily="50" charset="-128"/>
                <a:cs typeface="Meiryo" pitchFamily="34" charset="-120"/>
              </a:rPr>
              <a:t>提供時間・定員が公表データに未登録で、開所実態の確認が最優先事項。</a:t>
            </a:r>
            <a:endParaRPr lang="en-US" sz="1000" dirty="0">
              <a:latin typeface="メイリオ" panose="020B0604030504040204" pitchFamily="50" charset="-128"/>
              <a:ea typeface="メイリオ" panose="020B0604030504040204" pitchFamily="50" charset="-128"/>
            </a:endParaRPr>
          </a:p>
          <a:p>
            <a:pPr marL="342900" indent="-342900">
              <a:spcAft>
                <a:spcPts val="700"/>
              </a:spcAft>
              <a:buSzPct val="100000"/>
              <a:buChar char="•"/>
            </a:pPr>
            <a:r>
              <a:rPr lang="en-US" sz="950" dirty="0">
                <a:solidFill>
                  <a:srgbClr val="222222"/>
                </a:solidFill>
                <a:latin typeface="メイリオ" panose="020B0604030504040204" pitchFamily="50" charset="-128"/>
                <a:ea typeface="メイリオ" panose="020B0604030504040204" pitchFamily="50" charset="-128"/>
                <a:cs typeface="Meiryo" pitchFamily="34" charset="-120"/>
              </a:rPr>
              <a:t>携帯番号（080）を事業所連絡先としており、小規模・立ち上げ期の運営とみられる。</a:t>
            </a:r>
            <a:endParaRPr lang="en-US" sz="1000" dirty="0">
              <a:latin typeface="メイリオ" panose="020B0604030504040204" pitchFamily="50" charset="-128"/>
              <a:ea typeface="メイリオ" panose="020B0604030504040204" pitchFamily="50" charset="-128"/>
            </a:endParaRPr>
          </a:p>
          <a:p>
            <a:pPr marL="342900" indent="-342900">
              <a:spcAft>
                <a:spcPts val="700"/>
              </a:spcAft>
              <a:buSzPct val="100000"/>
              <a:buChar char="•"/>
            </a:pPr>
            <a:r>
              <a:rPr lang="en-US" sz="950" dirty="0">
                <a:solidFill>
                  <a:srgbClr val="222222"/>
                </a:solidFill>
                <a:latin typeface="メイリオ" panose="020B0604030504040204" pitchFamily="50" charset="-128"/>
                <a:ea typeface="メイリオ" panose="020B0604030504040204" pitchFamily="50" charset="-128"/>
                <a:cs typeface="Meiryo" pitchFamily="34" charset="-120"/>
              </a:rPr>
              <a:t>求名駅圏は競合が薄く、送迎圏を広く取れれば市南西部の需要を押さえやすい立地。</a:t>
            </a:r>
            <a:endParaRPr lang="en-US" sz="1000" dirty="0">
              <a:latin typeface="メイリオ" panose="020B0604030504040204" pitchFamily="50" charset="-128"/>
              <a:ea typeface="メイリオ" panose="020B0604030504040204" pitchFamily="50" charset="-128"/>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932688"/>
          </a:xfrm>
          <a:prstGeom prst="rect">
            <a:avLst/>
          </a:prstGeom>
          <a:solidFill>
            <a:srgbClr val="1B3A6B"/>
          </a:solidFill>
          <a:ln/>
        </p:spPr>
      </p:sp>
      <p:sp>
        <p:nvSpPr>
          <p:cNvPr id="3" name="Shape 1"/>
          <p:cNvSpPr/>
          <p:nvPr/>
        </p:nvSpPr>
        <p:spPr>
          <a:xfrm>
            <a:off x="0" y="0"/>
            <a:ext cx="164592" cy="932688"/>
          </a:xfrm>
          <a:prstGeom prst="rect">
            <a:avLst/>
          </a:prstGeom>
          <a:solidFill>
            <a:srgbClr val="13294B"/>
          </a:solidFill>
          <a:ln/>
        </p:spPr>
      </p:sp>
      <p:sp>
        <p:nvSpPr>
          <p:cNvPr id="4" name="Text 2"/>
          <p:cNvSpPr/>
          <p:nvPr/>
        </p:nvSpPr>
        <p:spPr>
          <a:xfrm>
            <a:off x="502920" y="54864"/>
            <a:ext cx="8686800" cy="822960"/>
          </a:xfrm>
          <a:prstGeom prst="rect">
            <a:avLst/>
          </a:prstGeom>
          <a:noFill/>
          <a:ln/>
        </p:spPr>
        <p:txBody>
          <a:bodyPr wrap="square" lIns="0" tIns="0" rIns="0" bIns="0" rtlCol="0" anchor="ctr"/>
          <a:lstStyle/>
          <a:p>
            <a:pPr marL="0" indent="0">
              <a:buNone/>
            </a:pPr>
            <a:r>
              <a:rPr lang="en-US" altLang="ja-JP" sz="3000" b="1" dirty="0">
                <a:solidFill>
                  <a:srgbClr val="FFFFFF"/>
                </a:solidFill>
                <a:latin typeface="Meiryo" pitchFamily="34" charset="0"/>
                <a:ea typeface="Meiryo" pitchFamily="34" charset="-122"/>
                <a:cs typeface="Meiryo" pitchFamily="34" charset="-120"/>
              </a:rPr>
              <a:t>Ⅲ</a:t>
            </a:r>
            <a:r>
              <a:rPr lang="en-US" sz="3000" b="1" dirty="0">
                <a:solidFill>
                  <a:srgbClr val="FFFFFF"/>
                </a:solidFill>
                <a:latin typeface="Meiryo" pitchFamily="34" charset="0"/>
                <a:ea typeface="Meiryo" pitchFamily="34" charset="-122"/>
                <a:cs typeface="Meiryo" pitchFamily="34" charset="-120"/>
              </a:rPr>
              <a:t>． </a:t>
            </a:r>
            <a:r>
              <a:rPr lang="ja-JP" altLang="en-US" sz="3000" b="1" dirty="0">
                <a:solidFill>
                  <a:srgbClr val="FFFFFF"/>
                </a:solidFill>
                <a:latin typeface="Meiryo" pitchFamily="34" charset="0"/>
                <a:ea typeface="Meiryo" pitchFamily="34" charset="-122"/>
                <a:cs typeface="Meiryo" pitchFamily="34" charset="-120"/>
              </a:rPr>
              <a:t>まとめ</a:t>
            </a:r>
            <a:endParaRPr lang="en-US" sz="3000" dirty="0"/>
          </a:p>
        </p:txBody>
      </p:sp>
      <p:sp>
        <p:nvSpPr>
          <p:cNvPr id="5" name="Text 3"/>
          <p:cNvSpPr/>
          <p:nvPr/>
        </p:nvSpPr>
        <p:spPr>
          <a:xfrm>
            <a:off x="502920" y="1115568"/>
            <a:ext cx="8503920" cy="457200"/>
          </a:xfrm>
          <a:prstGeom prst="rect">
            <a:avLst/>
          </a:prstGeom>
          <a:noFill/>
          <a:ln/>
        </p:spPr>
        <p:txBody>
          <a:bodyPr wrap="square" lIns="0" tIns="0" rIns="0" bIns="0" rtlCol="0" anchor="ctr"/>
          <a:lstStyle/>
          <a:p>
            <a:pPr marL="0" indent="0">
              <a:buNone/>
            </a:pPr>
            <a:r>
              <a:rPr lang="ja-JP" altLang="en-US" sz="2100" b="1" dirty="0">
                <a:solidFill>
                  <a:srgbClr val="222222"/>
                </a:solidFill>
                <a:latin typeface="Meiryo" pitchFamily="34" charset="0"/>
                <a:ea typeface="Meiryo" pitchFamily="34" charset="-122"/>
                <a:cs typeface="Meiryo" pitchFamily="34" charset="-120"/>
              </a:rPr>
              <a:t>■ 比較まとめと示唆</a:t>
            </a:r>
            <a:endParaRPr lang="en-US" sz="2100" dirty="0"/>
          </a:p>
        </p:txBody>
      </p:sp>
      <p:sp>
        <p:nvSpPr>
          <p:cNvPr id="6" name="Text 4"/>
          <p:cNvSpPr/>
          <p:nvPr/>
        </p:nvSpPr>
        <p:spPr>
          <a:xfrm>
            <a:off x="502920" y="6510528"/>
            <a:ext cx="7315200" cy="274320"/>
          </a:xfrm>
          <a:prstGeom prst="rect">
            <a:avLst/>
          </a:prstGeom>
          <a:noFill/>
          <a:ln/>
        </p:spPr>
        <p:txBody>
          <a:bodyPr wrap="square" lIns="0" tIns="0" rIns="0" bIns="0" rtlCol="0" anchor="ctr"/>
          <a:lstStyle/>
          <a:p>
            <a:pPr marL="0" indent="0">
              <a:buNone/>
            </a:pPr>
            <a:r>
              <a:rPr lang="en-US" sz="850" dirty="0">
                <a:solidFill>
                  <a:srgbClr val="666666"/>
                </a:solidFill>
                <a:latin typeface="Meiryo" pitchFamily="34" charset="0"/>
                <a:ea typeface="Meiryo" pitchFamily="34" charset="-122"/>
                <a:cs typeface="Meiryo" pitchFamily="34" charset="-120"/>
              </a:rPr>
              <a:t>Copyright Funai Soken Group. All rights reserved.</a:t>
            </a:r>
            <a:endParaRPr lang="en-US" sz="850" dirty="0"/>
          </a:p>
        </p:txBody>
      </p:sp>
      <p:graphicFrame>
        <p:nvGraphicFramePr>
          <p:cNvPr id="8" name="Table 0"/>
          <p:cNvGraphicFramePr>
            <a:graphicFrameLocks noGrp="1"/>
          </p:cNvGraphicFramePr>
          <p:nvPr>
            <p:extLst>
              <p:ext uri="{D42A27DB-BD31-4B8C-83A1-F6EECF244321}">
                <p14:modId xmlns:p14="http://schemas.microsoft.com/office/powerpoint/2010/main" val="1455520415"/>
              </p:ext>
            </p:extLst>
          </p:nvPr>
        </p:nvGraphicFramePr>
        <p:xfrm>
          <a:off x="487680" y="1627632"/>
          <a:ext cx="11201399" cy="2788920"/>
        </p:xfrm>
        <a:graphic>
          <a:graphicData uri="http://schemas.openxmlformats.org/drawingml/2006/table">
            <a:tbl>
              <a:tblPr/>
              <a:tblGrid>
                <a:gridCol w="288036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2880360">
                  <a:extLst>
                    <a:ext uri="{9D8B030D-6E8A-4147-A177-3AD203B41FA5}">
                      <a16:colId xmlns:a16="http://schemas.microsoft.com/office/drawing/2014/main" val="20003"/>
                    </a:ext>
                  </a:extLst>
                </a:gridCol>
                <a:gridCol w="3977639">
                  <a:extLst>
                    <a:ext uri="{9D8B030D-6E8A-4147-A177-3AD203B41FA5}">
                      <a16:colId xmlns:a16="http://schemas.microsoft.com/office/drawing/2014/main" val="20004"/>
                    </a:ext>
                  </a:extLst>
                </a:gridCol>
              </a:tblGrid>
              <a:tr h="398417">
                <a:tc>
                  <a:txBody>
                    <a:bodyPr/>
                    <a:lstStyle/>
                    <a:p>
                      <a:pPr marL="0" indent="0" algn="ctr">
                        <a:buNone/>
                      </a:pPr>
                      <a:r>
                        <a:rPr lang="en-US" sz="950" b="1" dirty="0">
                          <a:solidFill>
                            <a:srgbClr val="FFFFFF"/>
                          </a:solidFill>
                          <a:latin typeface="Meiryo" pitchFamily="34" charset="0"/>
                          <a:ea typeface="Meiryo" pitchFamily="34" charset="-122"/>
                          <a:cs typeface="Meiryo" pitchFamily="34" charset="-120"/>
                        </a:rPr>
                        <a:t>運営法人（事業所）</a:t>
                      </a:r>
                      <a:endParaRPr lang="en-US" sz="105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B3A6B"/>
                    </a:solidFill>
                  </a:tcPr>
                </a:tc>
                <a:tc>
                  <a:txBody>
                    <a:bodyPr/>
                    <a:lstStyle/>
                    <a:p>
                      <a:pPr marL="0" indent="0" algn="ctr">
                        <a:buNone/>
                      </a:pPr>
                      <a:r>
                        <a:rPr lang="en-US" sz="950" b="1" dirty="0">
                          <a:solidFill>
                            <a:srgbClr val="FFFFFF"/>
                          </a:solidFill>
                          <a:latin typeface="Meiryo" pitchFamily="34" charset="0"/>
                          <a:ea typeface="Meiryo" pitchFamily="34" charset="-122"/>
                          <a:cs typeface="Meiryo" pitchFamily="34" charset="-120"/>
                        </a:rPr>
                        <a:t>拠点数</a:t>
                      </a:r>
                      <a:endParaRPr lang="en-US" sz="105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B3A6B"/>
                    </a:solidFill>
                  </a:tcPr>
                </a:tc>
                <a:tc>
                  <a:txBody>
                    <a:bodyPr/>
                    <a:lstStyle/>
                    <a:p>
                      <a:pPr marL="0" indent="0" algn="ctr">
                        <a:buNone/>
                      </a:pPr>
                      <a:r>
                        <a:rPr lang="en-US" sz="950" b="1" dirty="0">
                          <a:solidFill>
                            <a:srgbClr val="FFFFFF"/>
                          </a:solidFill>
                          <a:latin typeface="Meiryo" pitchFamily="34" charset="0"/>
                          <a:ea typeface="Meiryo" pitchFamily="34" charset="-122"/>
                          <a:cs typeface="Meiryo" pitchFamily="34" charset="-120"/>
                        </a:rPr>
                        <a:t>定員計</a:t>
                      </a:r>
                      <a:endParaRPr lang="en-US" sz="105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B3A6B"/>
                    </a:solidFill>
                  </a:tcPr>
                </a:tc>
                <a:tc>
                  <a:txBody>
                    <a:bodyPr/>
                    <a:lstStyle/>
                    <a:p>
                      <a:pPr marL="0" indent="0" algn="ctr">
                        <a:buNone/>
                      </a:pPr>
                      <a:r>
                        <a:rPr lang="en-US" sz="950" b="1" dirty="0">
                          <a:solidFill>
                            <a:srgbClr val="FFFFFF"/>
                          </a:solidFill>
                          <a:latin typeface="Meiryo" pitchFamily="34" charset="0"/>
                          <a:ea typeface="Meiryo" pitchFamily="34" charset="-122"/>
                          <a:cs typeface="Meiryo" pitchFamily="34" charset="-120"/>
                        </a:rPr>
                        <a:t>提供時間／定休日</a:t>
                      </a:r>
                      <a:endParaRPr lang="en-US" sz="105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B3A6B"/>
                    </a:solidFill>
                  </a:tcPr>
                </a:tc>
                <a:tc>
                  <a:txBody>
                    <a:bodyPr/>
                    <a:lstStyle/>
                    <a:p>
                      <a:pPr marL="0" indent="0" algn="ctr">
                        <a:buNone/>
                      </a:pPr>
                      <a:r>
                        <a:rPr lang="en-US" sz="950" b="1" dirty="0">
                          <a:solidFill>
                            <a:srgbClr val="FFFFFF"/>
                          </a:solidFill>
                          <a:latin typeface="Meiryo" pitchFamily="34" charset="0"/>
                          <a:ea typeface="Meiryo" pitchFamily="34" charset="-122"/>
                          <a:cs typeface="Meiryo" pitchFamily="34" charset="-120"/>
                        </a:rPr>
                        <a:t>特徴・主な立地エリア</a:t>
                      </a:r>
                      <a:endParaRPr lang="en-US" sz="105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B3A6B"/>
                    </a:solidFill>
                  </a:tcPr>
                </a:tc>
                <a:extLst>
                  <a:ext uri="{0D108BD9-81ED-4DB2-BD59-A6C34878D82A}">
                    <a16:rowId xmlns:a16="http://schemas.microsoft.com/office/drawing/2014/main" val="10000"/>
                  </a:ext>
                </a:extLst>
              </a:tr>
              <a:tr h="398417">
                <a:tc>
                  <a:txBody>
                    <a:bodyPr/>
                    <a:lstStyle/>
                    <a:p>
                      <a:pPr marL="0" indent="0" algn="l">
                        <a:buNone/>
                      </a:pPr>
                      <a:r>
                        <a:rPr lang="en-US" sz="900" b="1" dirty="0">
                          <a:solidFill>
                            <a:srgbClr val="222222"/>
                          </a:solidFill>
                          <a:latin typeface="Meiryo" pitchFamily="34" charset="0"/>
                          <a:ea typeface="Meiryo" pitchFamily="34" charset="-122"/>
                          <a:cs typeface="Meiryo" pitchFamily="34" charset="-120"/>
                        </a:rPr>
                        <a:t>NPO法人 基本塾（基本塾優遊）</a:t>
                      </a:r>
                      <a:endParaRPr lang="en-US" sz="105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900" dirty="0">
                          <a:solidFill>
                            <a:srgbClr val="222222"/>
                          </a:solidFill>
                          <a:latin typeface="Meiryo" pitchFamily="34" charset="0"/>
                          <a:ea typeface="Meiryo" pitchFamily="34" charset="-122"/>
                          <a:cs typeface="Meiryo" pitchFamily="34" charset="-120"/>
                        </a:rPr>
                        <a:t>3</a:t>
                      </a:r>
                      <a:endParaRPr lang="en-US" sz="105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900" dirty="0">
                          <a:solidFill>
                            <a:srgbClr val="222222"/>
                          </a:solidFill>
                          <a:latin typeface="Meiryo" pitchFamily="34" charset="0"/>
                          <a:ea typeface="Meiryo" pitchFamily="34" charset="-122"/>
                          <a:cs typeface="Meiryo" pitchFamily="34" charset="-120"/>
                        </a:rPr>
                        <a:t>30名</a:t>
                      </a:r>
                      <a:endParaRPr lang="en-US" sz="105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900" dirty="0">
                          <a:solidFill>
                            <a:srgbClr val="222222"/>
                          </a:solidFill>
                          <a:latin typeface="Meiryo" pitchFamily="34" charset="0"/>
                          <a:ea typeface="Meiryo" pitchFamily="34" charset="-122"/>
                          <a:cs typeface="Meiryo" pitchFamily="34" charset="-120"/>
                        </a:rPr>
                        <a:t>平日・土 10:00〜18:00／日祝・年末年始休</a:t>
                      </a:r>
                      <a:endParaRPr lang="en-US" sz="105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900" dirty="0">
                          <a:solidFill>
                            <a:srgbClr val="222222"/>
                          </a:solidFill>
                          <a:latin typeface="Meiryo" pitchFamily="34" charset="0"/>
                          <a:ea typeface="Meiryo" pitchFamily="34" charset="-122"/>
                          <a:cs typeface="Meiryo" pitchFamily="34" charset="-120"/>
                        </a:rPr>
                        <a:t>個別支援＋「10の活動」。園庭・多職種。日吉台2・八坂台1</a:t>
                      </a:r>
                      <a:endParaRPr lang="en-US" sz="105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398417">
                <a:tc>
                  <a:txBody>
                    <a:bodyPr/>
                    <a:lstStyle/>
                    <a:p>
                      <a:pPr marL="0" indent="0" algn="l">
                        <a:buNone/>
                      </a:pPr>
                      <a:r>
                        <a:rPr lang="en-US" sz="900" b="1" dirty="0">
                          <a:solidFill>
                            <a:srgbClr val="222222"/>
                          </a:solidFill>
                          <a:latin typeface="Meiryo" pitchFamily="34" charset="0"/>
                          <a:ea typeface="Meiryo" pitchFamily="34" charset="-122"/>
                          <a:cs typeface="Meiryo" pitchFamily="34" charset="-120"/>
                        </a:rPr>
                        <a:t>株式会社ベストグロウ（こどもプラス）</a:t>
                      </a:r>
                      <a:endParaRPr lang="en-US" sz="105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900" dirty="0">
                          <a:solidFill>
                            <a:srgbClr val="222222"/>
                          </a:solidFill>
                          <a:latin typeface="Meiryo" pitchFamily="34" charset="0"/>
                          <a:ea typeface="Meiryo" pitchFamily="34" charset="-122"/>
                          <a:cs typeface="Meiryo" pitchFamily="34" charset="-120"/>
                        </a:rPr>
                        <a:t>2</a:t>
                      </a:r>
                      <a:endParaRPr lang="en-US" sz="105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900" dirty="0">
                          <a:solidFill>
                            <a:srgbClr val="222222"/>
                          </a:solidFill>
                          <a:latin typeface="Meiryo" pitchFamily="34" charset="0"/>
                          <a:ea typeface="Meiryo" pitchFamily="34" charset="-122"/>
                          <a:cs typeface="Meiryo" pitchFamily="34" charset="-120"/>
                        </a:rPr>
                        <a:t>20名</a:t>
                      </a:r>
                      <a:endParaRPr lang="en-US" sz="105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900" dirty="0">
                          <a:solidFill>
                            <a:srgbClr val="222222"/>
                          </a:solidFill>
                          <a:latin typeface="Meiryo" pitchFamily="34" charset="0"/>
                          <a:ea typeface="Meiryo" pitchFamily="34" charset="-122"/>
                          <a:cs typeface="Meiryo" pitchFamily="34" charset="-120"/>
                        </a:rPr>
                        <a:t>平日 9:00〜13:00・土祝 9:00〜14:00／日休</a:t>
                      </a:r>
                      <a:endParaRPr lang="en-US" sz="105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900" dirty="0">
                          <a:solidFill>
                            <a:srgbClr val="222222"/>
                          </a:solidFill>
                          <a:latin typeface="Meiryo" pitchFamily="34" charset="0"/>
                          <a:ea typeface="Meiryo" pitchFamily="34" charset="-122"/>
                          <a:cs typeface="Meiryo" pitchFamily="34" charset="-120"/>
                        </a:rPr>
                        <a:t>柳沢運動プログラムによる運動療育。東新宿・田間</a:t>
                      </a:r>
                      <a:endParaRPr lang="en-US" sz="105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398417">
                <a:tc>
                  <a:txBody>
                    <a:bodyPr/>
                    <a:lstStyle/>
                    <a:p>
                      <a:pPr marL="0" indent="0" algn="l">
                        <a:buNone/>
                      </a:pPr>
                      <a:r>
                        <a:rPr lang="en-US" sz="900" b="1" dirty="0">
                          <a:solidFill>
                            <a:srgbClr val="222222"/>
                          </a:solidFill>
                          <a:latin typeface="Meiryo" pitchFamily="34" charset="0"/>
                          <a:ea typeface="Meiryo" pitchFamily="34" charset="-122"/>
                          <a:cs typeface="Meiryo" pitchFamily="34" charset="-120"/>
                        </a:rPr>
                        <a:t>NPO法人 ちば地域生活支援舎（まあちる／ぽけっと）</a:t>
                      </a:r>
                      <a:endParaRPr lang="en-US" sz="105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900" dirty="0">
                          <a:solidFill>
                            <a:srgbClr val="222222"/>
                          </a:solidFill>
                          <a:latin typeface="Meiryo" pitchFamily="34" charset="0"/>
                          <a:ea typeface="Meiryo" pitchFamily="34" charset="-122"/>
                          <a:cs typeface="Meiryo" pitchFamily="34" charset="-120"/>
                        </a:rPr>
                        <a:t>2</a:t>
                      </a:r>
                      <a:endParaRPr lang="en-US" sz="105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900" dirty="0">
                          <a:solidFill>
                            <a:srgbClr val="222222"/>
                          </a:solidFill>
                          <a:latin typeface="Meiryo" pitchFamily="34" charset="0"/>
                          <a:ea typeface="Meiryo" pitchFamily="34" charset="-122"/>
                          <a:cs typeface="Meiryo" pitchFamily="34" charset="-120"/>
                        </a:rPr>
                        <a:t>20名</a:t>
                      </a:r>
                      <a:endParaRPr lang="en-US" sz="105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900" dirty="0">
                          <a:solidFill>
                            <a:srgbClr val="222222"/>
                          </a:solidFill>
                          <a:latin typeface="Meiryo" pitchFamily="34" charset="0"/>
                          <a:ea typeface="Meiryo" pitchFamily="34" charset="-122"/>
                          <a:cs typeface="Meiryo" pitchFamily="34" charset="-120"/>
                        </a:rPr>
                        <a:t>平日・土・祝 8:30〜18:00（17:30）／日（月）休</a:t>
                      </a:r>
                      <a:endParaRPr lang="en-US" sz="105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900" dirty="0">
                          <a:solidFill>
                            <a:srgbClr val="222222"/>
                          </a:solidFill>
                          <a:latin typeface="Meiryo" pitchFamily="34" charset="0"/>
                          <a:ea typeface="Meiryo" pitchFamily="34" charset="-122"/>
                          <a:cs typeface="Meiryo" pitchFamily="34" charset="-120"/>
                        </a:rPr>
                        <a:t>年齢帯で2拠点を分担。市内最長の開所時間。東岩崎・東上宿</a:t>
                      </a:r>
                      <a:endParaRPr lang="en-US" sz="105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398417">
                <a:tc>
                  <a:txBody>
                    <a:bodyPr/>
                    <a:lstStyle/>
                    <a:p>
                      <a:pPr marL="0" indent="0" algn="l">
                        <a:buNone/>
                      </a:pPr>
                      <a:r>
                        <a:rPr lang="en-US" sz="900" b="1" dirty="0">
                          <a:solidFill>
                            <a:srgbClr val="222222"/>
                          </a:solidFill>
                          <a:latin typeface="Meiryo" pitchFamily="34" charset="0"/>
                          <a:ea typeface="Meiryo" pitchFamily="34" charset="-122"/>
                          <a:cs typeface="Meiryo" pitchFamily="34" charset="-120"/>
                        </a:rPr>
                        <a:t>コーエキ合同会社（エスポワール／第2）</a:t>
                      </a:r>
                      <a:endParaRPr lang="en-US" sz="105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900" dirty="0">
                          <a:solidFill>
                            <a:srgbClr val="222222"/>
                          </a:solidFill>
                          <a:latin typeface="Meiryo" pitchFamily="34" charset="0"/>
                          <a:ea typeface="Meiryo" pitchFamily="34" charset="-122"/>
                          <a:cs typeface="Meiryo" pitchFamily="34" charset="-120"/>
                        </a:rPr>
                        <a:t>2</a:t>
                      </a:r>
                      <a:endParaRPr lang="en-US" sz="105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900" dirty="0">
                          <a:solidFill>
                            <a:srgbClr val="222222"/>
                          </a:solidFill>
                          <a:latin typeface="Meiryo" pitchFamily="34" charset="0"/>
                          <a:ea typeface="Meiryo" pitchFamily="34" charset="-122"/>
                          <a:cs typeface="Meiryo" pitchFamily="34" charset="-120"/>
                        </a:rPr>
                        <a:t>20名</a:t>
                      </a:r>
                      <a:endParaRPr lang="en-US" sz="105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900" dirty="0">
                          <a:solidFill>
                            <a:srgbClr val="222222"/>
                          </a:solidFill>
                          <a:latin typeface="Meiryo" pitchFamily="34" charset="0"/>
                          <a:ea typeface="Meiryo" pitchFamily="34" charset="-122"/>
                          <a:cs typeface="Meiryo" pitchFamily="34" charset="-120"/>
                        </a:rPr>
                        <a:t>平日・祝 10:00〜14:00／土日・お盆年末年始休</a:t>
                      </a:r>
                      <a:endParaRPr lang="en-US" sz="105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900" dirty="0">
                          <a:solidFill>
                            <a:srgbClr val="222222"/>
                          </a:solidFill>
                          <a:latin typeface="Meiryo" pitchFamily="34" charset="0"/>
                          <a:ea typeface="Meiryo" pitchFamily="34" charset="-122"/>
                          <a:cs typeface="Meiryo" pitchFamily="34" charset="-120"/>
                        </a:rPr>
                        <a:t>市内で唯一の土曜定休。田間・道庭</a:t>
                      </a:r>
                      <a:endParaRPr lang="en-US" sz="105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398417">
                <a:tc>
                  <a:txBody>
                    <a:bodyPr/>
                    <a:lstStyle/>
                    <a:p>
                      <a:pPr marL="0" indent="0" algn="l">
                        <a:buNone/>
                      </a:pPr>
                      <a:r>
                        <a:rPr lang="en-US" sz="900" b="1" dirty="0">
                          <a:solidFill>
                            <a:srgbClr val="222222"/>
                          </a:solidFill>
                          <a:latin typeface="Meiryo" pitchFamily="34" charset="0"/>
                          <a:ea typeface="Meiryo" pitchFamily="34" charset="-122"/>
                          <a:cs typeface="Meiryo" pitchFamily="34" charset="-120"/>
                        </a:rPr>
                        <a:t>東金市（指定管理：市社会福祉協議会）</a:t>
                      </a:r>
                      <a:endParaRPr lang="en-US" sz="105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900" dirty="0">
                          <a:solidFill>
                            <a:srgbClr val="222222"/>
                          </a:solidFill>
                          <a:latin typeface="Meiryo" pitchFamily="34" charset="0"/>
                          <a:ea typeface="Meiryo" pitchFamily="34" charset="-122"/>
                          <a:cs typeface="Meiryo" pitchFamily="34" charset="-120"/>
                        </a:rPr>
                        <a:t>1</a:t>
                      </a:r>
                      <a:endParaRPr lang="en-US" sz="105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900" dirty="0">
                          <a:solidFill>
                            <a:srgbClr val="222222"/>
                          </a:solidFill>
                          <a:latin typeface="Meiryo" pitchFamily="34" charset="0"/>
                          <a:ea typeface="Meiryo" pitchFamily="34" charset="-122"/>
                          <a:cs typeface="Meiryo" pitchFamily="34" charset="-120"/>
                        </a:rPr>
                        <a:t>15名</a:t>
                      </a:r>
                      <a:endParaRPr lang="en-US" sz="105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900" dirty="0">
                          <a:solidFill>
                            <a:srgbClr val="222222"/>
                          </a:solidFill>
                          <a:latin typeface="Meiryo" pitchFamily="34" charset="0"/>
                          <a:ea typeface="Meiryo" pitchFamily="34" charset="-122"/>
                          <a:cs typeface="Meiryo" pitchFamily="34" charset="-120"/>
                        </a:rPr>
                        <a:t>平日 9:30〜14:00／土日祝・年末年始休</a:t>
                      </a:r>
                      <a:endParaRPr lang="en-US" sz="105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900" dirty="0">
                          <a:solidFill>
                            <a:srgbClr val="222222"/>
                          </a:solidFill>
                          <a:latin typeface="Meiryo" pitchFamily="34" charset="0"/>
                          <a:ea typeface="Meiryo" pitchFamily="34" charset="-122"/>
                          <a:cs typeface="Meiryo" pitchFamily="34" charset="-120"/>
                        </a:rPr>
                        <a:t>公立・保護者同伴通所。定員は市内最大。田間</a:t>
                      </a:r>
                      <a:endParaRPr lang="en-US" sz="105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398417">
                <a:tc>
                  <a:txBody>
                    <a:bodyPr/>
                    <a:lstStyle/>
                    <a:p>
                      <a:pPr marL="0" indent="0" algn="l">
                        <a:buNone/>
                      </a:pPr>
                      <a:r>
                        <a:rPr lang="en-US" sz="900" b="1" dirty="0">
                          <a:solidFill>
                            <a:srgbClr val="222222"/>
                          </a:solidFill>
                          <a:latin typeface="Meiryo" pitchFamily="34" charset="0"/>
                          <a:ea typeface="Meiryo" pitchFamily="34" charset="-122"/>
                          <a:cs typeface="Meiryo" pitchFamily="34" charset="-120"/>
                        </a:rPr>
                        <a:t>株式会社清宝（果実の木求名）</a:t>
                      </a:r>
                      <a:endParaRPr lang="en-US" sz="105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900" dirty="0">
                          <a:solidFill>
                            <a:srgbClr val="222222"/>
                          </a:solidFill>
                          <a:latin typeface="Meiryo" pitchFamily="34" charset="0"/>
                          <a:ea typeface="Meiryo" pitchFamily="34" charset="-122"/>
                          <a:cs typeface="Meiryo" pitchFamily="34" charset="-120"/>
                        </a:rPr>
                        <a:t>1</a:t>
                      </a:r>
                      <a:endParaRPr lang="en-US" sz="105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900" dirty="0">
                          <a:solidFill>
                            <a:srgbClr val="222222"/>
                          </a:solidFill>
                          <a:latin typeface="Meiryo" pitchFamily="34" charset="0"/>
                          <a:ea typeface="Meiryo" pitchFamily="34" charset="-122"/>
                          <a:cs typeface="Meiryo" pitchFamily="34" charset="-120"/>
                        </a:rPr>
                        <a:t>未登録</a:t>
                      </a:r>
                      <a:endParaRPr lang="en-US" sz="105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900" dirty="0">
                          <a:solidFill>
                            <a:srgbClr val="222222"/>
                          </a:solidFill>
                          <a:latin typeface="Meiryo" pitchFamily="34" charset="0"/>
                          <a:ea typeface="Meiryo" pitchFamily="34" charset="-122"/>
                          <a:cs typeface="Meiryo" pitchFamily="34" charset="-120"/>
                        </a:rPr>
                        <a:t>公表データに未登録（要確認）</a:t>
                      </a:r>
                      <a:endParaRPr lang="en-US" sz="105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900" dirty="0">
                          <a:solidFill>
                            <a:srgbClr val="222222"/>
                          </a:solidFill>
                          <a:latin typeface="Meiryo" pitchFamily="34" charset="0"/>
                          <a:ea typeface="Meiryo" pitchFamily="34" charset="-122"/>
                          <a:cs typeface="Meiryo" pitchFamily="34" charset="-120"/>
                        </a:rPr>
                        <a:t>市内で唯一の求名地区。要確認事項が多い</a:t>
                      </a:r>
                      <a:endParaRPr lang="en-US" sz="1050" dirty="0">
                        <a:latin typeface="Meiryo" charset="0"/>
                        <a:ea typeface="Meiryo" charset="0"/>
                        <a:cs typeface="Meiryo" charset="0"/>
                      </a:endParaRPr>
                    </a:p>
                  </a:txBody>
                  <a:tcPr anchor="ctr" marT="18000" marB="18000" marL="64008" marR="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7" name="Shape 5"/>
          <p:cNvSpPr/>
          <p:nvPr/>
        </p:nvSpPr>
        <p:spPr>
          <a:xfrm>
            <a:off x="502920" y="4507992"/>
            <a:ext cx="11201400" cy="1929384"/>
          </a:xfrm>
          <a:prstGeom prst="rect">
            <a:avLst/>
          </a:prstGeom>
          <a:solidFill>
            <a:srgbClr val="EEF2F8"/>
          </a:solidFill>
          <a:ln w="12700">
            <a:solidFill>
              <a:srgbClr val="9AA7B8"/>
            </a:solidFill>
            <a:prstDash val="solid"/>
          </a:ln>
        </p:spPr>
      </p:sp>
      <p:sp>
        <p:nvSpPr>
          <p:cNvPr id="9" name="Text 6"/>
          <p:cNvSpPr/>
          <p:nvPr/>
        </p:nvSpPr>
        <p:spPr>
          <a:xfrm>
            <a:off x="713232" y="4599432"/>
            <a:ext cx="10789920" cy="320040"/>
          </a:xfrm>
          <a:prstGeom prst="rect">
            <a:avLst/>
          </a:prstGeom>
          <a:noFill/>
          <a:ln/>
        </p:spPr>
        <p:txBody>
          <a:bodyPr wrap="square" lIns="0" tIns="0" rIns="0" bIns="0" rtlCol="0" anchor="ctr"/>
          <a:lstStyle/>
          <a:p>
            <a:pPr marL="0" indent="0">
              <a:buNone/>
            </a:pPr>
            <a:r>
              <a:rPr lang="en-US" sz="1250" b="1" dirty="0">
                <a:solidFill>
                  <a:srgbClr val="1B3A6B"/>
                </a:solidFill>
                <a:latin typeface="Meiryo" pitchFamily="34" charset="0"/>
                <a:ea typeface="Meiryo" pitchFamily="34" charset="-122"/>
                <a:cs typeface="Meiryo" pitchFamily="34" charset="-120"/>
              </a:rPr>
              <a:t>調査からの示唆（東金市の児童発達支援マーケット）</a:t>
            </a:r>
            <a:endParaRPr lang="en-US" sz="1250" dirty="0"/>
          </a:p>
        </p:txBody>
      </p:sp>
      <p:sp>
        <p:nvSpPr>
          <p:cNvPr id="10" name="Text 7"/>
          <p:cNvSpPr/>
          <p:nvPr/>
        </p:nvSpPr>
        <p:spPr>
          <a:xfrm>
            <a:off x="713232" y="4928616"/>
            <a:ext cx="10789920" cy="1463040"/>
          </a:xfrm>
          <a:prstGeom prst="rect">
            <a:avLst/>
          </a:prstGeom>
          <a:noFill/>
          <a:ln/>
        </p:spPr>
        <p:txBody>
          <a:bodyPr wrap="square" lIns="0" tIns="0" rIns="0" bIns="0" rtlCol="0" anchor="t"/>
          <a:lstStyle/>
          <a:p>
            <a:pPr marL="342900" indent="-342900">
              <a:spcAft>
                <a:spcPts val="500"/>
              </a:spcAft>
              <a:buSzPct val="100000"/>
              <a:buChar char="•"/>
            </a:pPr>
            <a:r>
              <a:rPr lang="en-US" sz="850" dirty="0">
                <a:solidFill>
                  <a:srgbClr val="222222"/>
                </a:solidFill>
                <a:latin typeface="メイリオ" panose="020B0604030504040204" pitchFamily="50" charset="-128"/>
                <a:ea typeface="メイリオ" panose="020B0604030504040204" pitchFamily="50" charset="-128"/>
                <a:cs typeface="Meiryo" pitchFamily="34" charset="-120"/>
              </a:rPr>
              <a:t>東金市の児童発達支援は【6法人・11事業所／公表定員 計105名（果実の木求名は未登録）】。基本塾3拠点30名が最大で、上位3法人（基本塾・ベストグロウ・ちば地域生活支援舎）が70名・全体の約7割を占める寡占構造にある。</a:t>
            </a:r>
            <a:endParaRPr lang="en-US" sz="1000" dirty="0">
              <a:latin typeface="メイリオ" panose="020B0604030504040204" pitchFamily="50" charset="-128"/>
              <a:ea typeface="メイリオ" panose="020B0604030504040204" pitchFamily="50" charset="-128"/>
            </a:endParaRPr>
          </a:p>
          <a:p>
            <a:pPr marL="342900" indent="-342900">
              <a:spcAft>
                <a:spcPts val="500"/>
              </a:spcAft>
              <a:buSzPct val="100000"/>
              <a:buChar char="•"/>
            </a:pPr>
            <a:r>
              <a:rPr lang="en-US" sz="850" dirty="0">
                <a:solidFill>
                  <a:srgbClr val="222222"/>
                </a:solidFill>
                <a:latin typeface="メイリオ" panose="020B0604030504040204" pitchFamily="50" charset="-128"/>
                <a:ea typeface="メイリオ" panose="020B0604030504040204" pitchFamily="50" charset="-128"/>
                <a:cs typeface="Meiryo" pitchFamily="34" charset="-120"/>
              </a:rPr>
              <a:t>稼働枠に明確な差がある。長時間型＝ちば地域生活支援舎（8:30〜18:00・土祝も開所）、夕方型＝基本塾（10:00〜18:00）に対し、ベストグロウ（9:00〜13:00）・エスポワール（10:00〜14:00）・公立（9:30〜14:00）は短時間型。就労世帯の受け皿は実質2法人に限られる。</a:t>
            </a:r>
            <a:endParaRPr lang="en-US" sz="1000" dirty="0">
              <a:latin typeface="メイリオ" panose="020B0604030504040204" pitchFamily="50" charset="-128"/>
              <a:ea typeface="メイリオ" panose="020B0604030504040204" pitchFamily="50" charset="-128"/>
            </a:endParaRPr>
          </a:p>
          <a:p>
            <a:pPr marL="342900" indent="-342900">
              <a:spcAft>
                <a:spcPts val="500"/>
              </a:spcAft>
              <a:buSzPct val="100000"/>
              <a:buChar char="•"/>
            </a:pPr>
            <a:r>
              <a:rPr lang="en-US" sz="850" dirty="0">
                <a:solidFill>
                  <a:srgbClr val="222222"/>
                </a:solidFill>
                <a:latin typeface="メイリオ" panose="020B0604030504040204" pitchFamily="50" charset="-128"/>
                <a:ea typeface="メイリオ" panose="020B0604030504040204" pitchFamily="50" charset="-128"/>
                <a:cs typeface="Meiryo" pitchFamily="34" charset="-120"/>
              </a:rPr>
              <a:t>プログラム軸は「運動療育」（こどもプラス）と「個別支援＋多職種によるアセスメント」（基本塾優遊）の2系統。言語・コミュニケーション特化、ペアレントトレーニング、医療的ケア児対応を前面に打ち出す事業所は市内に見当たらず、差別化余地が大きい。</a:t>
            </a:r>
            <a:endParaRPr lang="en-US" sz="1000" dirty="0">
              <a:latin typeface="メイリオ" panose="020B0604030504040204" pitchFamily="50" charset="-128"/>
              <a:ea typeface="メイリオ" panose="020B0604030504040204" pitchFamily="50" charset="-128"/>
            </a:endParaRPr>
          </a:p>
          <a:p>
            <a:pPr marL="342900" indent="-342900">
              <a:spcAft>
                <a:spcPts val="500"/>
              </a:spcAft>
              <a:buSzPct val="100000"/>
              <a:buChar char="•"/>
            </a:pPr>
            <a:r>
              <a:rPr lang="en-US" sz="850" dirty="0">
                <a:solidFill>
                  <a:srgbClr val="222222"/>
                </a:solidFill>
                <a:latin typeface="メイリオ" panose="020B0604030504040204" pitchFamily="50" charset="-128"/>
                <a:ea typeface="メイリオ" panose="020B0604030504040204" pitchFamily="50" charset="-128"/>
                <a:cs typeface="Meiryo" pitchFamily="34" charset="-120"/>
              </a:rPr>
              <a:t>立地は東金駅圏（6事業所）と日吉台・八坂台（基本塾3拠点）に集中し、道庭・求名には各1事業所のみ。求名の1事業所は提供時間・定員とも未登録のため、市南西部は実質的な空白地帯。送迎圏の設計次第で参入余地がある。</a:t>
            </a:r>
            <a:endParaRPr lang="en-US" sz="1000" dirty="0">
              <a:latin typeface="メイリオ" panose="020B0604030504040204" pitchFamily="50" charset="-128"/>
              <a:ea typeface="メイリオ" panose="020B0604030504040204" pitchFamily="50" charset="-128"/>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57</TotalTime>
  <Words>1179</Words>
  <Application>Microsoft Office PowerPoint</Application>
  <PresentationFormat>ワイド画面</PresentationFormat>
  <Paragraphs>180</Paragraphs>
  <Slides>7</Slides>
  <Notes>7</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7</vt:i4>
      </vt:variant>
    </vt:vector>
  </HeadingPairs>
  <TitlesOfParts>
    <vt:vector size="11" baseType="lpstr">
      <vt:lpstr>Meiryo</vt:lpstr>
      <vt:lpstr>Meiryo</vt:lpstr>
      <vt:lpstr>Arial</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競合分析 特筆すべき事業所</dc:title>
  <dc:subject>PptxGenJS Presentation</dc:subject>
  <dc:creator>船井総研</dc:creator>
  <cp:lastModifiedBy>Hikaru Nakano</cp:lastModifiedBy>
  <cp:revision>6</cp:revision>
  <dcterms:created xsi:type="dcterms:W3CDTF">2026-06-09T11:42:43Z</dcterms:created>
  <dcterms:modified xsi:type="dcterms:W3CDTF">2026-06-09T12:44:47Z</dcterms:modified>
</cp:coreProperties>
</file>