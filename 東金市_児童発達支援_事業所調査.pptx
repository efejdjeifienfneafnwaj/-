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7.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9"/>
  </p:notesMasterIdLst>
  <p:sldIdLst>
    <p:sldId id="256" r:id="rId2"/>
    <p:sldId id="257" r:id="rId3"/>
    <p:sldId id="258" r:id="rId14"/>
    <p:sldId id="259" r:id="rId15"/>
    <p:sldId id="260" r:id="rId16"/>
    <p:sldId id="261" r:id="rId17"/>
    <p:sldId id="262" r:id="rId18"/>
    <p:sldId id="263" r:id="rId19"/>
    <p:sldId id="264" r:id="rId20"/>
    <p:sldId id="265" r:id="rId8"/>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3067" userDrawn="1">
          <p15:clr>
            <a:srgbClr val="A4A3A4"/>
          </p15:clr>
        </p15:guide>
        <p15:guide id="2" pos="3885"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p:scale>
          <a:sx n="100" d="100"/>
          <a:sy n="100" d="100"/>
        </p:scale>
        <p:origin x="954" y="618"/>
      </p:cViewPr>
      <p:guideLst>
        <p:guide orient="horz" pos="3067"/>
        <p:guide pos="3885"/>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8" Type="http://schemas.openxmlformats.org/officeDocument/2006/relationships/slide" Target="slides/slide10.xml"/><Relationship Id="rId9" Type="http://schemas.openxmlformats.org/officeDocument/2006/relationships/notesMaster" Target="notesMasters/notesMaster1.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 Id="rId14" Type="http://schemas.openxmlformats.org/officeDocument/2006/relationships/slide" Target="slides/slide3.xml"/><Relationship Id="rId15" Type="http://schemas.openxmlformats.org/officeDocument/2006/relationships/slide" Target="slides/slide4.xml"/><Relationship Id="rId16" Type="http://schemas.openxmlformats.org/officeDocument/2006/relationships/slide" Target="slides/slide5.xml"/><Relationship Id="rId17" Type="http://schemas.openxmlformats.org/officeDocument/2006/relationships/slide" Target="slides/slide6.xml"/><Relationship Id="rId18" Type="http://schemas.openxmlformats.org/officeDocument/2006/relationships/slide" Target="slides/slide7.xml"/><Relationship Id="rId19" Type="http://schemas.openxmlformats.org/officeDocument/2006/relationships/slide" Target="slides/slide8.xml"/><Relationship Id="rId20" Type="http://schemas.openxmlformats.org/officeDocument/2006/relationships/slide" Target="slides/slide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407076161"/>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375813338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jpeg"/><Relationship Id="rId4" Type="http://schemas.openxmlformats.org/officeDocument/2006/relationships/image" Target="../media/image2.jpeg"/><Relationship Id="rId5" Type="http://schemas.openxmlformats.org/officeDocument/2006/relationships/image" Target="../media/image3.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hyperlink" Target="https://www.city.togane.chiba.jp/0000000953.html" TargetMode="External"/><Relationship Id="rId4" Type="http://schemas.openxmlformats.org/officeDocument/2006/relationships/hyperlink" Target="https://www.wam.go.jp/sfkohyoout/COP020100E00.do?_FORMID=COP000101&amp;corporationNumber=E1200000000708&amp;facilityNumber=1250800024&amp;bunjoNumber=000000&amp;serviceType=63&amp;serviceSubNumber=E0000074186" TargetMode="External"/><Relationship Id="rId5" Type="http://schemas.openxmlformats.org/officeDocument/2006/relationships/hyperlink" Target="https://kp-tougane.com/" TargetMode="External"/><Relationship Id="rId6" Type="http://schemas.openxmlformats.org/officeDocument/2006/relationships/hyperlink" Target="https://kp-daini-tougane.com/" TargetMode="External"/><Relationship Id="rId7" Type="http://schemas.openxmlformats.org/officeDocument/2006/relationships/hyperlink" Target="http://kihonjuku-yuuyuu.com/" TargetMode="External"/><Relationship Id="rId8" Type="http://schemas.openxmlformats.org/officeDocument/2006/relationships/hyperlink" Target="https://h-navi.jp/support_facility/chiba/cities/391/zihatu"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4.jpeg"/><Relationship Id="rId4" Type="http://schemas.openxmlformats.org/officeDocument/2006/relationships/image" Target="../media/image5.jpeg"/><Relationship Id="rId5" Type="http://schemas.openxmlformats.org/officeDocument/2006/relationships/image" Target="../media/image6.jpe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4.jpeg"/><Relationship Id="rId4" Type="http://schemas.openxmlformats.org/officeDocument/2006/relationships/image" Target="../media/image5.jpeg"/><Relationship Id="rId5" Type="http://schemas.openxmlformats.org/officeDocument/2006/relationships/image" Target="../media/image6.jpe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4.jpeg"/><Relationship Id="rId4" Type="http://schemas.openxmlformats.org/officeDocument/2006/relationships/image" Target="../media/image5.jpeg"/><Relationship Id="rId5" Type="http://schemas.openxmlformats.org/officeDocument/2006/relationships/image" Target="../media/image6.jpe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4.jpeg"/><Relationship Id="rId4" Type="http://schemas.openxmlformats.org/officeDocument/2006/relationships/image" Target="../media/image5.jpeg"/><Relationship Id="rId5" Type="http://schemas.openxmlformats.org/officeDocument/2006/relationships/image" Target="../media/image6.jpe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4.jpeg"/><Relationship Id="rId4" Type="http://schemas.openxmlformats.org/officeDocument/2006/relationships/image" Target="../media/image5.jpeg"/><Relationship Id="rId5" Type="http://schemas.openxmlformats.org/officeDocument/2006/relationships/image" Target="../media/image6.jpe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4.jpeg"/><Relationship Id="rId4" Type="http://schemas.openxmlformats.org/officeDocument/2006/relationships/image" Target="../media/image5.jpeg"/><Relationship Id="rId5" Type="http://schemas.openxmlformats.org/officeDocument/2006/relationships/image" Target="../media/image6.jpe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4.jpeg"/><Relationship Id="rId4" Type="http://schemas.openxmlformats.org/officeDocument/2006/relationships/image" Target="../media/image5.jpeg"/><Relationship Id="rId5" Type="http://schemas.openxmlformats.org/officeDocument/2006/relationships/image" Target="../media/image6.jpe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1B3A6B"/>
        </a:solidFill>
        <a:effectLst/>
      </p:bgPr>
    </p:bg>
    <p:spTree>
      <p:nvGrpSpPr>
        <p:cNvPr id="1" name=""/>
        <p:cNvGrpSpPr/>
        <p:nvPr/>
      </p:nvGrpSpPr>
      <p:grpSpPr>
        <a:xfrm>
          <a:off x="0" y="0"/>
          <a:ext cx="0" cy="0"/>
          <a:chOff x="0" y="0"/>
          <a:chExt cx="0" cy="0"/>
        </a:xfrm>
      </p:grpSpPr>
      <p:sp>
        <p:nvSpPr>
          <p:cNvPr id="16" name="正方形/長方形 15">
            <a:extLst>
              <a:ext uri="{FF2B5EF4-FFF2-40B4-BE49-F238E27FC236}">
                <a16:creationId xmlns:a16="http://schemas.microsoft.com/office/drawing/2014/main" id="{BEC354AB-C673-39DB-7787-525BA79DDBF6}"/>
              </a:ext>
            </a:extLst>
          </p:cNvPr>
          <p:cNvSpPr/>
          <p:nvPr/>
        </p:nvSpPr>
        <p:spPr>
          <a:xfrm>
            <a:off x="0" y="0"/>
            <a:ext cx="12192000" cy="6876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9" name="Picture 2" descr="C:\Users\F1883\Desktop\変換 ～ gf2110035119l.jpg">
            <a:extLst>
              <a:ext uri="{FF2B5EF4-FFF2-40B4-BE49-F238E27FC236}">
                <a16:creationId xmlns:a16="http://schemas.microsoft.com/office/drawing/2014/main" id="{72BE0CF9-836D-C404-72E5-C89D7D53F53E}"/>
              </a:ext>
            </a:extLst>
          </p:cNvPr>
          <p:cNvPicPr>
            <a:picLocks noChangeAspect="1" noChangeArrowheads="1"/>
          </p:cNvPicPr>
          <p:nvPr/>
        </p:nvPicPr>
        <p:blipFill>
          <a:blip r:embed="rId3" cstate="print">
            <a:lum contrast="20000"/>
          </a:blip>
          <a:srcRect t="18750" r="3596"/>
          <a:stretch/>
        </p:blipFill>
        <p:spPr bwMode="auto">
          <a:xfrm>
            <a:off x="0" y="0"/>
            <a:ext cx="12192000" cy="6876000"/>
          </a:xfrm>
          <a:prstGeom prst="rect">
            <a:avLst/>
          </a:prstGeom>
          <a:noFill/>
        </p:spPr>
      </p:pic>
      <p:pic>
        <p:nvPicPr>
          <p:cNvPr id="10" name="Picture 2" descr="C:\Users\F1883\Desktop\px0010180830l (1).jpg">
            <a:extLst>
              <a:ext uri="{FF2B5EF4-FFF2-40B4-BE49-F238E27FC236}">
                <a16:creationId xmlns:a16="http://schemas.microsoft.com/office/drawing/2014/main" id="{4536EDB3-A3B8-2B2B-C38D-34AE81F8B9A3}"/>
              </a:ext>
            </a:extLst>
          </p:cNvPr>
          <p:cNvPicPr>
            <a:picLocks noChangeAspect="1" noChangeArrowheads="1"/>
          </p:cNvPicPr>
          <p:nvPr/>
        </p:nvPicPr>
        <p:blipFill>
          <a:blip r:embed="rId4" cstate="print">
            <a:clrChange>
              <a:clrFrom>
                <a:srgbClr val="FFFFFF"/>
              </a:clrFrom>
              <a:clrTo>
                <a:srgbClr val="FFFFFF">
                  <a:alpha val="0"/>
                </a:srgbClr>
              </a:clrTo>
            </a:clrChange>
            <a:grayscl/>
          </a:blip>
          <a:srcRect/>
          <a:stretch>
            <a:fillRect/>
          </a:stretch>
        </p:blipFill>
        <p:spPr bwMode="auto">
          <a:xfrm>
            <a:off x="760804" y="2348880"/>
            <a:ext cx="4076760" cy="2055312"/>
          </a:xfrm>
          <a:prstGeom prst="rect">
            <a:avLst/>
          </a:prstGeom>
          <a:noFill/>
        </p:spPr>
      </p:pic>
      <p:sp>
        <p:nvSpPr>
          <p:cNvPr id="11" name="正方形/長方形 10">
            <a:extLst>
              <a:ext uri="{FF2B5EF4-FFF2-40B4-BE49-F238E27FC236}">
                <a16:creationId xmlns:a16="http://schemas.microsoft.com/office/drawing/2014/main" id="{3CE6C090-6810-90B1-6E11-A4D1B922BD41}"/>
              </a:ext>
            </a:extLst>
          </p:cNvPr>
          <p:cNvSpPr/>
          <p:nvPr/>
        </p:nvSpPr>
        <p:spPr>
          <a:xfrm>
            <a:off x="0" y="2287505"/>
            <a:ext cx="12192000" cy="2088232"/>
          </a:xfrm>
          <a:prstGeom prst="rect">
            <a:avLst/>
          </a:prstGeom>
          <a:solidFill>
            <a:srgbClr val="002060">
              <a:alpha val="85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12" name="テキスト ボックス 11">
            <a:extLst>
              <a:ext uri="{FF2B5EF4-FFF2-40B4-BE49-F238E27FC236}">
                <a16:creationId xmlns:a16="http://schemas.microsoft.com/office/drawing/2014/main" id="{6FC589F5-9A35-165E-C9A8-C195524C3758}"/>
              </a:ext>
            </a:extLst>
          </p:cNvPr>
          <p:cNvSpPr txBox="1"/>
          <p:nvPr/>
        </p:nvSpPr>
        <p:spPr>
          <a:xfrm>
            <a:off x="239216" y="2492896"/>
            <a:ext cx="8962445" cy="2042867"/>
          </a:xfrm>
          <a:prstGeom prst="rect">
            <a:avLst/>
          </a:prstGeom>
          <a:noFill/>
        </p:spPr>
        <p:txBody>
          <a:bodyPr wrap="square" rtlCol="0">
            <a:spAutoFit/>
          </a:bodyPr>
          <a:lstStyle/>
          <a:p>
            <a:pPr defTabSz="914070">
              <a:lnSpc>
                <a:spcPct val="150000"/>
              </a:lnSpc>
            </a:pPr>
            <a:r>
              <a:rPr lang="en-US" altLang="ja-JP" sz="2000" b="1" dirty="0" err="1">
                <a:solidFill>
                  <a:srgbClr val="FFFFFF"/>
                </a:solidFill>
                <a:latin typeface="メイリオ" panose="020B0604030504040204" pitchFamily="50" charset="-128"/>
                <a:ea typeface="メイリオ" panose="020B0604030504040204" pitchFamily="50" charset="-128"/>
                <a:cs typeface="Meiryo" pitchFamily="34" charset="-120"/>
              </a:rPr>
              <a:t>千葉県東金市　児童発達支援 事業所調査</a:t>
            </a:r>
            <a:endParaRPr lang="en-US" altLang="ja-JP" sz="2000" b="1" dirty="0">
              <a:solidFill>
                <a:srgbClr val="FFFFFF"/>
              </a:solidFill>
              <a:latin typeface="メイリオ" panose="020B0604030504040204" pitchFamily="50" charset="-128"/>
              <a:ea typeface="メイリオ" panose="020B0604030504040204" pitchFamily="50" charset="-128"/>
              <a:cs typeface="Meiryo" pitchFamily="34" charset="-120"/>
            </a:endParaRPr>
          </a:p>
          <a:p>
            <a:pPr defTabSz="914070">
              <a:lnSpc>
                <a:spcPct val="150000"/>
              </a:lnSpc>
            </a:pPr>
            <a:r>
              <a:rPr lang="en-US" altLang="ja-JP" sz="1600" b="1" dirty="0" err="1">
                <a:solidFill>
                  <a:srgbClr val="CFE0F5"/>
                </a:solidFill>
                <a:latin typeface="メイリオ" panose="020B0604030504040204" pitchFamily="50" charset="-128"/>
                <a:ea typeface="メイリオ" panose="020B0604030504040204" pitchFamily="50" charset="-128"/>
                <a:cs typeface="Meiryo" pitchFamily="34" charset="-120"/>
              </a:rPr>
              <a:t>東金市内 全10事業所（11拠点）の個別整理</a:t>
            </a:r>
            <a:endParaRPr lang="en-US" altLang="ja-JP" sz="1600" b="1" dirty="0">
              <a:latin typeface="メイリオ" panose="020B0604030504040204" pitchFamily="50" charset="-128"/>
              <a:ea typeface="メイリオ" panose="020B0604030504040204" pitchFamily="50" charset="-128"/>
            </a:endParaRPr>
          </a:p>
          <a:p>
            <a:pPr defTabSz="914070">
              <a:lnSpc>
                <a:spcPct val="150000"/>
              </a:lnSpc>
            </a:pPr>
            <a:endParaRPr lang="en-US" altLang="ja-JP" sz="1800" dirty="0">
              <a:latin typeface="メイリオ" panose="020B0604030504040204" pitchFamily="50" charset="-128"/>
              <a:ea typeface="メイリオ" panose="020B0604030504040204" pitchFamily="50" charset="-128"/>
            </a:endParaRPr>
          </a:p>
          <a:p>
            <a:pPr defTabSz="914070">
              <a:lnSpc>
                <a:spcPct val="150000"/>
              </a:lnSpc>
            </a:pPr>
            <a:endParaRPr lang="en-US" altLang="ja-JP" b="1" spc="277" dirty="0">
              <a:solidFill>
                <a:prstClr val="white"/>
              </a:solidFill>
              <a:latin typeface="メイリオ" panose="020B0604030504040204" pitchFamily="50" charset="-128"/>
              <a:ea typeface="メイリオ" panose="020B0604030504040204" pitchFamily="50" charset="-128"/>
              <a:cs typeface="メイリオ" panose="020B0604030504040204" pitchFamily="50" charset="-128"/>
            </a:endParaRPr>
          </a:p>
        </p:txBody>
      </p:sp>
      <p:sp>
        <p:nvSpPr>
          <p:cNvPr id="13" name="平行四辺形 12">
            <a:extLst>
              <a:ext uri="{FF2B5EF4-FFF2-40B4-BE49-F238E27FC236}">
                <a16:creationId xmlns:a16="http://schemas.microsoft.com/office/drawing/2014/main" id="{5FDCF386-C540-A97C-1C04-2B2E17BA9604}"/>
              </a:ext>
            </a:extLst>
          </p:cNvPr>
          <p:cNvSpPr/>
          <p:nvPr/>
        </p:nvSpPr>
        <p:spPr>
          <a:xfrm>
            <a:off x="8221785" y="2276872"/>
            <a:ext cx="3149455" cy="2088000"/>
          </a:xfrm>
          <a:prstGeom prst="parallelogram">
            <a:avLst>
              <a:gd name="adj" fmla="val 49870"/>
            </a:avLst>
          </a:prstGeom>
          <a:solidFill>
            <a:schemeClr val="bg1"/>
          </a:solidFill>
          <a:ln>
            <a:noFill/>
          </a:ln>
          <a:scene3d>
            <a:camera prst="orthographicFront">
              <a:rot lat="0" lon="0" rev="0"/>
            </a:camera>
            <a:lightRig rig="threePt" dir="t"/>
          </a:scene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14" name="テキスト ボックス 13">
            <a:extLst>
              <a:ext uri="{FF2B5EF4-FFF2-40B4-BE49-F238E27FC236}">
                <a16:creationId xmlns:a16="http://schemas.microsoft.com/office/drawing/2014/main" id="{4557EF7F-B29A-C086-1994-98929E762296}"/>
              </a:ext>
            </a:extLst>
          </p:cNvPr>
          <p:cNvSpPr txBox="1"/>
          <p:nvPr/>
        </p:nvSpPr>
        <p:spPr>
          <a:xfrm>
            <a:off x="320877" y="3717033"/>
            <a:ext cx="4098206" cy="246221"/>
          </a:xfrm>
          <a:prstGeom prst="rect">
            <a:avLst/>
          </a:prstGeom>
          <a:noFill/>
        </p:spPr>
        <p:txBody>
          <a:bodyPr wrap="square" rtlCol="0">
            <a:spAutoFit/>
          </a:bodyPr>
          <a:lstStyle/>
          <a:p>
            <a:pPr>
              <a:lnSpc>
                <a:spcPts val="1200"/>
              </a:lnSpc>
            </a:pPr>
            <a:r>
              <a:rPr kumimoji="1" lang="en-US" altLang="ja-JP" sz="900" spc="500" dirty="0">
                <a:solidFill>
                  <a:schemeClr val="bg1"/>
                </a:solidFill>
                <a:latin typeface="メイリオ" pitchFamily="50" charset="-128"/>
                <a:ea typeface="メイリオ" pitchFamily="50" charset="-128"/>
                <a:cs typeface="メイリオ" pitchFamily="50" charset="-128"/>
              </a:rPr>
              <a:t>2026年8月28日（金）</a:t>
            </a:r>
          </a:p>
        </p:txBody>
      </p:sp>
      <p:pic>
        <p:nvPicPr>
          <p:cNvPr id="15" name="図 14">
            <a:extLst>
              <a:ext uri="{FF2B5EF4-FFF2-40B4-BE49-F238E27FC236}">
                <a16:creationId xmlns:a16="http://schemas.microsoft.com/office/drawing/2014/main" id="{BC6E1081-1B34-56D0-B20C-8EC90261ABCE}"/>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8804037" y="3139919"/>
            <a:ext cx="1711563" cy="335701"/>
          </a:xfrm>
          <a:prstGeom prst="rect">
            <a:avLst/>
          </a:prstGeom>
        </p:spPr>
      </p:pic>
    </p:spTree>
    <p:extLst>
      <p:ext uri="{BB962C8B-B14F-4D97-AF65-F5344CB8AC3E}">
        <p14:creationId xmlns:p14="http://schemas.microsoft.com/office/powerpoint/2010/main" val="267579543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12188952" cy="932688"/>
          </a:xfrm>
          <a:prstGeom prst="rect">
            <a:avLst/>
          </a:prstGeom>
          <a:solidFill>
            <a:srgbClr val="1B3A6B"/>
          </a:solidFill>
          <a:ln/>
        </p:spPr>
      </p:sp>
      <p:sp>
        <p:nvSpPr>
          <p:cNvPr id="3" name="Shape 1"/>
          <p:cNvSpPr/>
          <p:nvPr/>
        </p:nvSpPr>
        <p:spPr>
          <a:xfrm>
            <a:off x="0" y="0"/>
            <a:ext cx="164592" cy="932688"/>
          </a:xfrm>
          <a:prstGeom prst="rect">
            <a:avLst/>
          </a:prstGeom>
          <a:solidFill>
            <a:srgbClr val="13294B"/>
          </a:solidFill>
          <a:ln/>
        </p:spPr>
      </p:sp>
      <p:sp>
        <p:nvSpPr>
          <p:cNvPr id="5" name="Text 3"/>
          <p:cNvSpPr/>
          <p:nvPr/>
        </p:nvSpPr>
        <p:spPr>
          <a:xfrm>
            <a:off x="502920" y="1115568"/>
            <a:ext cx="8503920" cy="457200"/>
          </a:xfrm>
          <a:prstGeom prst="rect">
            <a:avLst/>
          </a:prstGeom>
          <a:noFill/>
          <a:ln/>
        </p:spPr>
        <p:txBody>
          <a:bodyPr wrap="square" lIns="0" tIns="0" rIns="0" bIns="0" rtlCol="0" anchor="ctr"/>
          <a:lstStyle/>
          <a:p>
            <a:pPr marL="0" indent="0">
              <a:buNone/>
            </a:pPr>
            <a:r>
              <a:rPr lang="ja-JP" altLang="en-US" sz="2100" b="1" dirty="0">
                <a:solidFill>
                  <a:srgbClr val="222222"/>
                </a:solidFill>
                <a:latin typeface="Meiryo" pitchFamily="34" charset="0"/>
                <a:ea typeface="Meiryo" pitchFamily="34" charset="-122"/>
                <a:cs typeface="Meiryo" pitchFamily="34" charset="-120"/>
              </a:rPr>
              <a:t>■ 東金市内の児童発達支援事業所　全7事業者・11拠点</a:t>
            </a:r>
            <a:endParaRPr lang="en-US" sz="2100" dirty="0"/>
          </a:p>
        </p:txBody>
      </p:sp>
      <p:sp>
        <p:nvSpPr>
          <p:cNvPr id="6" name="Text 4"/>
          <p:cNvSpPr/>
          <p:nvPr/>
        </p:nvSpPr>
        <p:spPr>
          <a:xfrm>
            <a:off x="502920" y="6510528"/>
            <a:ext cx="7315200" cy="274320"/>
          </a:xfrm>
          <a:prstGeom prst="rect">
            <a:avLst/>
          </a:prstGeom>
          <a:noFill/>
          <a:ln/>
        </p:spPr>
        <p:txBody>
          <a:bodyPr wrap="square" lIns="0" tIns="0" rIns="0" bIns="0" rtlCol="0" anchor="ctr"/>
          <a:lstStyle/>
          <a:p>
            <a:pPr marL="0" indent="0">
              <a:buNone/>
            </a:pPr>
            <a:r>
              <a:rPr lang="en-US" sz="850" dirty="0">
                <a:solidFill>
                  <a:srgbClr val="666666"/>
                </a:solidFill>
                <a:latin typeface="Meiryo" pitchFamily="34" charset="0"/>
                <a:ea typeface="Meiryo" pitchFamily="34" charset="-122"/>
                <a:cs typeface="Meiryo" pitchFamily="34" charset="-120"/>
              </a:rPr>
              <a:t>Copyright Funai Soken Group. All rights reserved.</a:t>
            </a:r>
            <a:endParaRPr lang="en-US" sz="850" dirty="0"/>
          </a:p>
        </p:txBody>
      </p:sp>
      <p:graphicFrame>
        <p:nvGraphicFramePr>
          <p:cNvPr id="7" name="Table 0"/>
          <p:cNvGraphicFramePr>
            <a:graphicFrameLocks noGrp="1"/>
          </p:cNvGraphicFramePr>
          <p:nvPr>
            <p:extLst>
              <p:ext uri="{D42A27DB-BD31-4B8C-83A1-F6EECF244321}">
                <p14:modId xmlns:p14="http://schemas.microsoft.com/office/powerpoint/2010/main" val="2088185084"/>
              </p:ext>
            </p:extLst>
          </p:nvPr>
        </p:nvGraphicFramePr>
        <p:xfrm>
          <a:off x="502920" y="1783080"/>
          <a:ext cx="11201400" cy="3977639"/>
        </p:xfrm>
        <a:graphic>
          <a:graphicData uri="http://schemas.openxmlformats.org/drawingml/2006/table">
            <a:tbl>
              <a:tblPr/>
              <a:tblGrid>
                <a:gridCol w="502920">
                  <a:extLst>
                    <a:ext uri="{9D8B030D-6E8A-4147-A177-3AD203B41FA5}">
                      <a16:colId xmlns:a16="http://schemas.microsoft.com/office/drawing/2014/main" val="20000"/>
                    </a:ext>
                  </a:extLst>
                </a:gridCol>
                <a:gridCol w="2606040">
                  <a:extLst>
                    <a:ext uri="{9D8B030D-6E8A-4147-A177-3AD203B41FA5}">
                      <a16:colId xmlns:a16="http://schemas.microsoft.com/office/drawing/2014/main" val="20001"/>
                    </a:ext>
                  </a:extLst>
                </a:gridCol>
                <a:gridCol w="2011680">
                  <a:extLst>
                    <a:ext uri="{9D8B030D-6E8A-4147-A177-3AD203B41FA5}">
                      <a16:colId xmlns:a16="http://schemas.microsoft.com/office/drawing/2014/main" val="20002"/>
                    </a:ext>
                  </a:extLst>
                </a:gridCol>
                <a:gridCol w="2468880">
                  <a:extLst>
                    <a:ext uri="{9D8B030D-6E8A-4147-A177-3AD203B41FA5}">
                      <a16:colId xmlns:a16="http://schemas.microsoft.com/office/drawing/2014/main" val="20003"/>
                    </a:ext>
                  </a:extLst>
                </a:gridCol>
                <a:gridCol w="1325880">
                  <a:extLst>
                    <a:ext uri="{9D8B030D-6E8A-4147-A177-3AD203B41FA5}">
                      <a16:colId xmlns:a16="http://schemas.microsoft.com/office/drawing/2014/main" val="20004"/>
                    </a:ext>
                  </a:extLst>
                </a:gridCol>
                <a:gridCol w="2286000">
                  <a:extLst>
                    <a:ext uri="{9D8B030D-6E8A-4147-A177-3AD203B41FA5}">
                      <a16:colId xmlns:a16="http://schemas.microsoft.com/office/drawing/2014/main" val="20005"/>
                    </a:ext>
                  </a:extLst>
                </a:gridCol>
              </a:tblGrid>
              <a:tr h="331469">
                <a:tc>
                  <a:txBody>
                    <a:bodyPr/>
                    <a:lstStyle/>
                    <a:p>
                      <a:pPr marL="0" indent="0" algn="ctr">
                        <a:buNone/>
                      </a:pPr>
                      <a:r>
                        <a:rPr lang="en-US" sz="950" b="1" dirty="0">
                          <a:solidFill>
                            <a:srgbClr val="FFFFFF"/>
                          </a:solidFill>
                          <a:latin typeface="Meiryo" pitchFamily="34" charset="0"/>
                          <a:ea typeface="Meiryo" pitchFamily="34" charset="-122"/>
                          <a:cs typeface="Meiryo" pitchFamily="34" charset="-120"/>
                        </a:rPr>
                        <a:t>No.</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B3A6B"/>
                    </a:solidFill>
                  </a:tcPr>
                </a:tc>
                <a:tc>
                  <a:txBody>
                    <a:bodyPr/>
                    <a:lstStyle/>
                    <a:p>
                      <a:pPr marL="0" indent="0" algn="ctr">
                        <a:buNone/>
                      </a:pPr>
                      <a:r>
                        <a:rPr lang="en-US" sz="950" b="1" dirty="0">
                          <a:solidFill>
                            <a:srgbClr val="FFFFFF"/>
                          </a:solidFill>
                          <a:latin typeface="Meiryo" pitchFamily="34" charset="0"/>
                          <a:ea typeface="Meiryo" pitchFamily="34" charset="-122"/>
                          <a:cs typeface="Meiryo" pitchFamily="34" charset="-120"/>
                        </a:rPr>
                        <a:t>事業所名</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B3A6B"/>
                    </a:solidFill>
                  </a:tcPr>
                </a:tc>
                <a:tc>
                  <a:txBody>
                    <a:bodyPr/>
                    <a:lstStyle/>
                    <a:p>
                      <a:pPr marL="0" indent="0" algn="ctr">
                        <a:buNone/>
                      </a:pPr>
                      <a:r>
                        <a:rPr lang="en-US" sz="950" b="1" dirty="0">
                          <a:solidFill>
                            <a:srgbClr val="FFFFFF"/>
                          </a:solidFill>
                          <a:latin typeface="Meiryo" pitchFamily="34" charset="0"/>
                          <a:ea typeface="Meiryo" pitchFamily="34" charset="-122"/>
                          <a:cs typeface="Meiryo" pitchFamily="34" charset="-120"/>
                        </a:rPr>
                        <a:t>運営法人</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B3A6B"/>
                    </a:solidFill>
                  </a:tcPr>
                </a:tc>
                <a:tc>
                  <a:txBody>
                    <a:bodyPr/>
                    <a:lstStyle/>
                    <a:p>
                      <a:pPr marL="0" indent="0" algn="ctr">
                        <a:buNone/>
                      </a:pPr>
                      <a:r>
                        <a:rPr lang="en-US" sz="950" b="1" dirty="0" err="1">
                          <a:solidFill>
                            <a:srgbClr val="FFFFFF"/>
                          </a:solidFill>
                          <a:latin typeface="Meiryo" pitchFamily="34" charset="0"/>
                          <a:ea typeface="Meiryo" pitchFamily="34" charset="-122"/>
                          <a:cs typeface="Meiryo" pitchFamily="34" charset="-120"/>
                        </a:rPr>
                        <a:t>所在地（東金市）</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B3A6B"/>
                    </a:solidFill>
                  </a:tcPr>
                </a:tc>
                <a:tc>
                  <a:txBody>
                    <a:bodyPr/>
                    <a:lstStyle/>
                    <a:p>
                      <a:pPr marL="0" indent="0" algn="ctr">
                        <a:buNone/>
                      </a:pPr>
                      <a:r>
                        <a:rPr lang="en-US" sz="950" b="1" dirty="0">
                          <a:solidFill>
                            <a:srgbClr val="FFFFFF"/>
                          </a:solidFill>
                          <a:latin typeface="Meiryo" pitchFamily="34" charset="0"/>
                          <a:ea typeface="Meiryo" pitchFamily="34" charset="-122"/>
                          <a:cs typeface="Meiryo" pitchFamily="34" charset="-120"/>
                        </a:rPr>
                        <a:t>TEL</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B3A6B"/>
                    </a:solidFill>
                  </a:tcPr>
                </a:tc>
                <a:tc>
                  <a:txBody>
                    <a:bodyPr/>
                    <a:lstStyle/>
                    <a:p>
                      <a:pPr marL="0" indent="0" algn="ctr">
                        <a:buNone/>
                      </a:pPr>
                      <a:r>
                        <a:rPr lang="en-US" sz="950" b="1" dirty="0">
                          <a:solidFill>
                            <a:srgbClr val="FFFFFF"/>
                          </a:solidFill>
                          <a:latin typeface="Meiryo" pitchFamily="34" charset="0"/>
                          <a:ea typeface="Meiryo" pitchFamily="34" charset="-122"/>
                          <a:cs typeface="Meiryo" pitchFamily="34" charset="-120"/>
                        </a:rPr>
                        <a:t>HP ／ 出典（リンク）</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B3A6B"/>
                    </a:solidFill>
                  </a:tcPr>
                </a:tc>
                <a:extLst>
                  <a:ext uri="{0D108BD9-81ED-4DB2-BD59-A6C34878D82A}">
                    <a16:rowId xmlns:a16="http://schemas.microsoft.com/office/drawing/2014/main" val="10000"/>
                  </a:ext>
                </a:extLst>
              </a:tr>
              <a:tr h="331469">
                <a:tc>
                  <a:txBody>
                    <a:bodyPr/>
                    <a:lstStyle/>
                    <a:p>
                      <a:pPr marL="0" indent="0" algn="ctr">
                        <a:buNone/>
                      </a:pPr>
                      <a:r>
                        <a:rPr lang="en-US" sz="900" b="1" dirty="0">
                          <a:solidFill>
                            <a:srgbClr val="222222"/>
                          </a:solidFill>
                          <a:latin typeface="Meiryo" pitchFamily="34" charset="0"/>
                          <a:ea typeface="Meiryo" pitchFamily="34" charset="-122"/>
                          <a:cs typeface="Meiryo" pitchFamily="34" charset="-120"/>
                        </a:rPr>
                        <a:t>①</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900" b="1" dirty="0">
                          <a:solidFill>
                            <a:srgbClr val="222222"/>
                          </a:solidFill>
                          <a:latin typeface="Meiryo" pitchFamily="34" charset="0"/>
                          <a:ea typeface="Meiryo" pitchFamily="34" charset="-122"/>
                          <a:cs typeface="Meiryo" pitchFamily="34" charset="-120"/>
                        </a:rPr>
                        <a:t>東金市簡易マザーズホーム</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900" dirty="0">
                          <a:solidFill>
                            <a:srgbClr val="222222"/>
                          </a:solidFill>
                          <a:latin typeface="Meiryo" pitchFamily="34" charset="0"/>
                          <a:ea typeface="Meiryo" pitchFamily="34" charset="-122"/>
                          <a:cs typeface="Meiryo" pitchFamily="34" charset="-120"/>
                        </a:rPr>
                        <a:t>東金市（運営：市社会福祉協議会）</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900" dirty="0">
                          <a:solidFill>
                            <a:srgbClr val="222222"/>
                          </a:solidFill>
                          <a:latin typeface="Meiryo" pitchFamily="34" charset="0"/>
                          <a:ea typeface="Meiryo" pitchFamily="34" charset="-122"/>
                          <a:cs typeface="Meiryo" pitchFamily="34" charset="-120"/>
                        </a:rPr>
                        <a:t>田間3-9-1 ふれあいセンター2F</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900" dirty="0">
                          <a:solidFill>
                            <a:srgbClr val="222222"/>
                          </a:solidFill>
                          <a:latin typeface="Meiryo" pitchFamily="34" charset="0"/>
                          <a:ea typeface="Meiryo" pitchFamily="34" charset="-122"/>
                          <a:cs typeface="Meiryo" pitchFamily="34" charset="-120"/>
                        </a:rPr>
                        <a:t>0475-54-1197</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900" dirty="0" u="sng">
                          <a:solidFill>
                            <a:srgbClr val="1F5FA8"/>
                          </a:solidFill>
                          <a:latin typeface="Meiryo" charset="0"/>
                          <a:ea typeface="Meiryo" charset="0"/>
                          <a:cs typeface="Meiryo" charset="0"/>
                          <a:hlinkClick r:id="rId3"/>
                        </a:rPr>
                        <a:t>東金市公式 施設ページ</a:t>
                      </a: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1"/>
                  </a:ext>
                </a:extLst>
              </a:tr>
              <a:tr h="331469">
                <a:tc>
                  <a:txBody>
                    <a:bodyPr/>
                    <a:lstStyle/>
                    <a:p>
                      <a:pPr marL="0" indent="0" algn="ctr">
                        <a:buNone/>
                      </a:pPr>
                      <a:r>
                        <a:rPr lang="en-US" sz="900" b="1" dirty="0">
                          <a:solidFill>
                            <a:srgbClr val="222222"/>
                          </a:solidFill>
                          <a:latin typeface="Meiryo" pitchFamily="34" charset="0"/>
                          <a:ea typeface="Meiryo" pitchFamily="34" charset="-122"/>
                          <a:cs typeface="Meiryo" pitchFamily="34" charset="-120"/>
                        </a:rPr>
                        <a:t>②</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900" b="1" dirty="0">
                          <a:solidFill>
                            <a:srgbClr val="222222"/>
                          </a:solidFill>
                          <a:latin typeface="Meiryo" pitchFamily="34" charset="0"/>
                          <a:ea typeface="Meiryo" pitchFamily="34" charset="-122"/>
                          <a:cs typeface="Meiryo" pitchFamily="34" charset="-120"/>
                        </a:rPr>
                        <a:t>子ども支援センターぽけっと</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900" dirty="0">
                          <a:solidFill>
                            <a:srgbClr val="222222"/>
                          </a:solidFill>
                          <a:latin typeface="Meiryo" pitchFamily="34" charset="0"/>
                          <a:ea typeface="Meiryo" pitchFamily="34" charset="-122"/>
                          <a:cs typeface="Meiryo" pitchFamily="34" charset="-120"/>
                        </a:rPr>
                        <a:t>要確認</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900" dirty="0">
                          <a:solidFill>
                            <a:srgbClr val="222222"/>
                          </a:solidFill>
                          <a:latin typeface="Meiryo" pitchFamily="34" charset="0"/>
                          <a:ea typeface="Meiryo" pitchFamily="34" charset="-122"/>
                          <a:cs typeface="Meiryo" pitchFamily="34" charset="-120"/>
                        </a:rPr>
                        <a:t>東上宿6-2</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900" dirty="0">
                          <a:solidFill>
                            <a:srgbClr val="222222"/>
                          </a:solidFill>
                          <a:latin typeface="Meiryo" pitchFamily="34" charset="0"/>
                          <a:ea typeface="Meiryo" pitchFamily="34" charset="-122"/>
                          <a:cs typeface="Meiryo" pitchFamily="34" charset="-120"/>
                        </a:rPr>
                        <a:t>0475-50-1081</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900" dirty="0" u="sng">
                          <a:solidFill>
                            <a:srgbClr val="1F5FA8"/>
                          </a:solidFill>
                          <a:latin typeface="Meiryo" charset="0"/>
                          <a:ea typeface="Meiryo" charset="0"/>
                          <a:cs typeface="Meiryo" charset="0"/>
                          <a:hlinkClick r:id="rId4"/>
                        </a:rPr>
                        <a:t>WAM NET 事業所詳細</a:t>
                      </a: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1"/>
                  </a:ext>
                </a:extLst>
              </a:tr>
              <a:tr h="331469">
                <a:tc>
                  <a:txBody>
                    <a:bodyPr/>
                    <a:lstStyle/>
                    <a:p>
                      <a:pPr marL="0" indent="0" algn="ctr">
                        <a:buNone/>
                      </a:pPr>
                      <a:r>
                        <a:rPr lang="en-US" sz="900" b="1" dirty="0">
                          <a:solidFill>
                            <a:srgbClr val="222222"/>
                          </a:solidFill>
                          <a:latin typeface="Meiryo" pitchFamily="34" charset="0"/>
                          <a:ea typeface="Meiryo" pitchFamily="34" charset="-122"/>
                          <a:cs typeface="Meiryo" pitchFamily="34" charset="-120"/>
                        </a:rPr>
                        <a:t>③</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900" b="1" dirty="0">
                          <a:solidFill>
                            <a:srgbClr val="222222"/>
                          </a:solidFill>
                          <a:latin typeface="Meiryo" pitchFamily="34" charset="0"/>
                          <a:ea typeface="Meiryo" pitchFamily="34" charset="-122"/>
                          <a:cs typeface="Meiryo" pitchFamily="34" charset="-120"/>
                        </a:rPr>
                        <a:t>こどもプラス東金教室</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900" dirty="0">
                          <a:solidFill>
                            <a:srgbClr val="222222"/>
                          </a:solidFill>
                          <a:latin typeface="Meiryo" pitchFamily="34" charset="0"/>
                          <a:ea typeface="Meiryo" pitchFamily="34" charset="-122"/>
                          <a:cs typeface="Meiryo" pitchFamily="34" charset="-120"/>
                        </a:rPr>
                        <a:t>株式会社ベストグロウ</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900" dirty="0">
                          <a:solidFill>
                            <a:srgbClr val="222222"/>
                          </a:solidFill>
                          <a:latin typeface="Meiryo" pitchFamily="34" charset="0"/>
                          <a:ea typeface="Meiryo" pitchFamily="34" charset="-122"/>
                          <a:cs typeface="Meiryo" pitchFamily="34" charset="-120"/>
                        </a:rPr>
                        <a:t>東新宿18-1 酒造ビル105号</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900" dirty="0">
                          <a:solidFill>
                            <a:srgbClr val="222222"/>
                          </a:solidFill>
                          <a:latin typeface="Meiryo" pitchFamily="34" charset="0"/>
                          <a:ea typeface="Meiryo" pitchFamily="34" charset="-122"/>
                          <a:cs typeface="Meiryo" pitchFamily="34" charset="-120"/>
                        </a:rPr>
                        <a:t>0475-77-8577</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900" dirty="0" u="sng">
                          <a:solidFill>
                            <a:srgbClr val="1F5FA8"/>
                          </a:solidFill>
                          <a:latin typeface="Meiryo" charset="0"/>
                          <a:ea typeface="Meiryo" charset="0"/>
                          <a:cs typeface="Meiryo" charset="0"/>
                          <a:hlinkClick r:id="rId5"/>
                        </a:rPr>
                        <a:t>kp-tougane.com</a:t>
                      </a: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1"/>
                  </a:ext>
                </a:extLst>
              </a:tr>
              <a:tr h="331469">
                <a:tc>
                  <a:txBody>
                    <a:bodyPr/>
                    <a:lstStyle/>
                    <a:p>
                      <a:pPr marL="0" indent="0" algn="ctr">
                        <a:buNone/>
                      </a:pPr>
                      <a:r>
                        <a:rPr lang="en-US" sz="900" b="1" dirty="0">
                          <a:solidFill>
                            <a:srgbClr val="222222"/>
                          </a:solidFill>
                          <a:latin typeface="Meiryo" pitchFamily="34" charset="0"/>
                          <a:ea typeface="Meiryo" pitchFamily="34" charset="-122"/>
                          <a:cs typeface="Meiryo" pitchFamily="34" charset="-120"/>
                        </a:rPr>
                        <a:t>④</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900" b="1" dirty="0">
                          <a:solidFill>
                            <a:srgbClr val="222222"/>
                          </a:solidFill>
                          <a:latin typeface="Meiryo" pitchFamily="34" charset="0"/>
                          <a:ea typeface="Meiryo" pitchFamily="34" charset="-122"/>
                          <a:cs typeface="Meiryo" pitchFamily="34" charset="-120"/>
                        </a:rPr>
                        <a:t>こどもプラス第2東金教室</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900" dirty="0">
                          <a:solidFill>
                            <a:srgbClr val="222222"/>
                          </a:solidFill>
                          <a:latin typeface="Meiryo" pitchFamily="34" charset="0"/>
                          <a:ea typeface="Meiryo" pitchFamily="34" charset="-122"/>
                          <a:cs typeface="Meiryo" pitchFamily="34" charset="-120"/>
                        </a:rPr>
                        <a:t>株式会社ベストグロウ</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900" dirty="0">
                          <a:solidFill>
                            <a:srgbClr val="222222"/>
                          </a:solidFill>
                          <a:latin typeface="Meiryo" pitchFamily="34" charset="0"/>
                          <a:ea typeface="Meiryo" pitchFamily="34" charset="-122"/>
                          <a:cs typeface="Meiryo" pitchFamily="34" charset="-120"/>
                        </a:rPr>
                        <a:t>田間1-6-4</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900" dirty="0">
                          <a:solidFill>
                            <a:srgbClr val="222222"/>
                          </a:solidFill>
                          <a:latin typeface="Meiryo" pitchFamily="34" charset="0"/>
                          <a:ea typeface="Meiryo" pitchFamily="34" charset="-122"/>
                          <a:cs typeface="Meiryo" pitchFamily="34" charset="-120"/>
                        </a:rPr>
                        <a:t>要確認</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900" dirty="0" u="sng">
                          <a:solidFill>
                            <a:srgbClr val="1F5FA8"/>
                          </a:solidFill>
                          <a:latin typeface="Meiryo" charset="0"/>
                          <a:ea typeface="Meiryo" charset="0"/>
                          <a:cs typeface="Meiryo" charset="0"/>
                          <a:hlinkClick r:id="rId6"/>
                        </a:rPr>
                        <a:t>kp-daini-tougane.com</a:t>
                      </a: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1"/>
                  </a:ext>
                </a:extLst>
              </a:tr>
              <a:tr h="331469">
                <a:tc>
                  <a:txBody>
                    <a:bodyPr/>
                    <a:lstStyle/>
                    <a:p>
                      <a:pPr marL="0" indent="0" algn="ctr">
                        <a:buNone/>
                      </a:pPr>
                      <a:r>
                        <a:rPr lang="en-US" sz="900" b="1" dirty="0">
                          <a:solidFill>
                            <a:srgbClr val="222222"/>
                          </a:solidFill>
                          <a:latin typeface="Meiryo" pitchFamily="34" charset="0"/>
                          <a:ea typeface="Meiryo" pitchFamily="34" charset="-122"/>
                          <a:cs typeface="Meiryo" pitchFamily="34" charset="-120"/>
                        </a:rPr>
                        <a:t>⑤</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900" b="1" dirty="0">
                          <a:solidFill>
                            <a:srgbClr val="222222"/>
                          </a:solidFill>
                          <a:latin typeface="Meiryo" pitchFamily="34" charset="0"/>
                          <a:ea typeface="Meiryo" pitchFamily="34" charset="-122"/>
                          <a:cs typeface="Meiryo" pitchFamily="34" charset="-120"/>
                        </a:rPr>
                        <a:t>基本塾優遊 日吉台</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900" dirty="0">
                          <a:solidFill>
                            <a:srgbClr val="222222"/>
                          </a:solidFill>
                          <a:latin typeface="Meiryo" pitchFamily="34" charset="0"/>
                          <a:ea typeface="Meiryo" pitchFamily="34" charset="-122"/>
                          <a:cs typeface="Meiryo" pitchFamily="34" charset="-120"/>
                        </a:rPr>
                        <a:t>NPO法人 基本塾</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900" dirty="0">
                          <a:solidFill>
                            <a:srgbClr val="222222"/>
                          </a:solidFill>
                          <a:latin typeface="Meiryo" pitchFamily="34" charset="0"/>
                          <a:ea typeface="Meiryo" pitchFamily="34" charset="-122"/>
                          <a:cs typeface="Meiryo" pitchFamily="34" charset="-120"/>
                        </a:rPr>
                        <a:t>日吉台2-26-3</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900" dirty="0">
                          <a:solidFill>
                            <a:srgbClr val="222222"/>
                          </a:solidFill>
                          <a:latin typeface="Meiryo" pitchFamily="34" charset="0"/>
                          <a:ea typeface="Meiryo" pitchFamily="34" charset="-122"/>
                          <a:cs typeface="Meiryo" pitchFamily="34" charset="-120"/>
                        </a:rPr>
                        <a:t>0475-52-6414</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900" dirty="0" u="sng">
                          <a:solidFill>
                            <a:srgbClr val="1F5FA8"/>
                          </a:solidFill>
                          <a:latin typeface="Meiryo" charset="0"/>
                          <a:ea typeface="Meiryo" charset="0"/>
                          <a:cs typeface="Meiryo" charset="0"/>
                          <a:hlinkClick r:id="rId7"/>
                        </a:rPr>
                        <a:t>kihonjuku-yuuyuu.com</a:t>
                      </a: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1"/>
                  </a:ext>
                </a:extLst>
              </a:tr>
              <a:tr h="331469">
                <a:tc>
                  <a:txBody>
                    <a:bodyPr/>
                    <a:lstStyle/>
                    <a:p>
                      <a:pPr marL="0" indent="0" algn="ctr">
                        <a:buNone/>
                      </a:pPr>
                      <a:r>
                        <a:rPr lang="en-US" sz="900" b="1" dirty="0">
                          <a:solidFill>
                            <a:srgbClr val="222222"/>
                          </a:solidFill>
                          <a:latin typeface="Meiryo" pitchFamily="34" charset="0"/>
                          <a:ea typeface="Meiryo" pitchFamily="34" charset="-122"/>
                          <a:cs typeface="Meiryo" pitchFamily="34" charset="-120"/>
                        </a:rPr>
                        <a:t>⑤</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900" b="1" dirty="0">
                          <a:solidFill>
                            <a:srgbClr val="222222"/>
                          </a:solidFill>
                          <a:latin typeface="Meiryo" pitchFamily="34" charset="0"/>
                          <a:ea typeface="Meiryo" pitchFamily="34" charset="-122"/>
                          <a:cs typeface="Meiryo" pitchFamily="34" charset="-120"/>
                        </a:rPr>
                        <a:t>基本塾優遊 松之郷</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900" dirty="0">
                          <a:solidFill>
                            <a:srgbClr val="222222"/>
                          </a:solidFill>
                          <a:latin typeface="Meiryo" pitchFamily="34" charset="0"/>
                          <a:ea typeface="Meiryo" pitchFamily="34" charset="-122"/>
                          <a:cs typeface="Meiryo" pitchFamily="34" charset="-120"/>
                        </a:rPr>
                        <a:t>NPO法人 基本塾</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900" dirty="0">
                          <a:solidFill>
                            <a:srgbClr val="222222"/>
                          </a:solidFill>
                          <a:latin typeface="Meiryo" pitchFamily="34" charset="0"/>
                          <a:ea typeface="Meiryo" pitchFamily="34" charset="-122"/>
                          <a:cs typeface="Meiryo" pitchFamily="34" charset="-120"/>
                        </a:rPr>
                        <a:t>松之郷2423-1</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900" dirty="0">
                          <a:solidFill>
                            <a:srgbClr val="222222"/>
                          </a:solidFill>
                          <a:latin typeface="Meiryo" pitchFamily="34" charset="0"/>
                          <a:ea typeface="Meiryo" pitchFamily="34" charset="-122"/>
                          <a:cs typeface="Meiryo" pitchFamily="34" charset="-120"/>
                        </a:rPr>
                        <a:t>0475-51-4082</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900" dirty="0" u="sng">
                          <a:solidFill>
                            <a:srgbClr val="1F5FA8"/>
                          </a:solidFill>
                          <a:latin typeface="Meiryo" charset="0"/>
                          <a:ea typeface="Meiryo" charset="0"/>
                          <a:cs typeface="Meiryo" charset="0"/>
                          <a:hlinkClick r:id="rId7"/>
                        </a:rPr>
                        <a:t>kihonjuku-yuuyuu.com</a:t>
                      </a: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1"/>
                  </a:ext>
                </a:extLst>
              </a:tr>
              <a:tr h="331469">
                <a:tc>
                  <a:txBody>
                    <a:bodyPr/>
                    <a:lstStyle/>
                    <a:p>
                      <a:pPr marL="0" indent="0" algn="ctr">
                        <a:buNone/>
                      </a:pPr>
                      <a:r>
                        <a:rPr lang="en-US" sz="900" b="1" dirty="0">
                          <a:solidFill>
                            <a:srgbClr val="222222"/>
                          </a:solidFill>
                          <a:latin typeface="Meiryo" pitchFamily="34" charset="0"/>
                          <a:ea typeface="Meiryo" pitchFamily="34" charset="-122"/>
                          <a:cs typeface="Meiryo" pitchFamily="34" charset="-120"/>
                        </a:rPr>
                        <a:t>⑤</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900" b="1" dirty="0">
                          <a:solidFill>
                            <a:srgbClr val="222222"/>
                          </a:solidFill>
                          <a:latin typeface="Meiryo" pitchFamily="34" charset="0"/>
                          <a:ea typeface="Meiryo" pitchFamily="34" charset="-122"/>
                          <a:cs typeface="Meiryo" pitchFamily="34" charset="-120"/>
                        </a:rPr>
                        <a:t>基本塾優遊 八坂台</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900" dirty="0">
                          <a:solidFill>
                            <a:srgbClr val="222222"/>
                          </a:solidFill>
                          <a:latin typeface="Meiryo" pitchFamily="34" charset="0"/>
                          <a:ea typeface="Meiryo" pitchFamily="34" charset="-122"/>
                          <a:cs typeface="Meiryo" pitchFamily="34" charset="-120"/>
                        </a:rPr>
                        <a:t>NPO法人 基本塾</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900" dirty="0">
                          <a:solidFill>
                            <a:srgbClr val="222222"/>
                          </a:solidFill>
                          <a:latin typeface="Meiryo" pitchFamily="34" charset="0"/>
                          <a:ea typeface="Meiryo" pitchFamily="34" charset="-122"/>
                          <a:cs typeface="Meiryo" pitchFamily="34" charset="-120"/>
                        </a:rPr>
                        <a:t>八坂台5-11-1</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900" dirty="0">
                          <a:solidFill>
                            <a:srgbClr val="222222"/>
                          </a:solidFill>
                          <a:latin typeface="Meiryo" pitchFamily="34" charset="0"/>
                          <a:ea typeface="Meiryo" pitchFamily="34" charset="-122"/>
                          <a:cs typeface="Meiryo" pitchFamily="34" charset="-120"/>
                        </a:rPr>
                        <a:t>0475-51-5010</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900" dirty="0" u="sng">
                          <a:solidFill>
                            <a:srgbClr val="1F5FA8"/>
                          </a:solidFill>
                          <a:latin typeface="Meiryo" charset="0"/>
                          <a:ea typeface="Meiryo" charset="0"/>
                          <a:cs typeface="Meiryo" charset="0"/>
                          <a:hlinkClick r:id="rId7"/>
                        </a:rPr>
                        <a:t>kihonjuku-yuuyuu.com</a:t>
                      </a: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1"/>
                  </a:ext>
                </a:extLst>
              </a:tr>
              <a:tr h="331469">
                <a:tc>
                  <a:txBody>
                    <a:bodyPr/>
                    <a:lstStyle/>
                    <a:p>
                      <a:pPr marL="0" indent="0" algn="ctr">
                        <a:buNone/>
                      </a:pPr>
                      <a:r>
                        <a:rPr lang="en-US" sz="900" b="1" dirty="0">
                          <a:solidFill>
                            <a:srgbClr val="222222"/>
                          </a:solidFill>
                          <a:latin typeface="Meiryo" pitchFamily="34" charset="0"/>
                          <a:ea typeface="Meiryo" pitchFamily="34" charset="-122"/>
                          <a:cs typeface="Meiryo" pitchFamily="34" charset="-120"/>
                        </a:rPr>
                        <a:t>⑤</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900" b="1" dirty="0">
                          <a:solidFill>
                            <a:srgbClr val="222222"/>
                          </a:solidFill>
                          <a:latin typeface="Meiryo" pitchFamily="34" charset="0"/>
                          <a:ea typeface="Meiryo" pitchFamily="34" charset="-122"/>
                          <a:cs typeface="Meiryo" pitchFamily="34" charset="-120"/>
                        </a:rPr>
                        <a:t>基本塾優遊 八坂西</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900" dirty="0">
                          <a:solidFill>
                            <a:srgbClr val="222222"/>
                          </a:solidFill>
                          <a:latin typeface="Meiryo" pitchFamily="34" charset="0"/>
                          <a:ea typeface="Meiryo" pitchFamily="34" charset="-122"/>
                          <a:cs typeface="Meiryo" pitchFamily="34" charset="-120"/>
                        </a:rPr>
                        <a:t>NPO法人 基本塾</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900" dirty="0">
                          <a:solidFill>
                            <a:srgbClr val="222222"/>
                          </a:solidFill>
                          <a:latin typeface="Meiryo" pitchFamily="34" charset="0"/>
                          <a:ea typeface="Meiryo" pitchFamily="34" charset="-122"/>
                          <a:cs typeface="Meiryo" pitchFamily="34" charset="-120"/>
                        </a:rPr>
                        <a:t>八坂台4-2-4</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900" dirty="0">
                          <a:solidFill>
                            <a:srgbClr val="222222"/>
                          </a:solidFill>
                          <a:latin typeface="Meiryo" pitchFamily="34" charset="0"/>
                          <a:ea typeface="Meiryo" pitchFamily="34" charset="-122"/>
                          <a:cs typeface="Meiryo" pitchFamily="34" charset="-120"/>
                        </a:rPr>
                        <a:t>0475-51-6631</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900" dirty="0" u="sng">
                          <a:solidFill>
                            <a:srgbClr val="1F5FA8"/>
                          </a:solidFill>
                          <a:latin typeface="Meiryo" charset="0"/>
                          <a:ea typeface="Meiryo" charset="0"/>
                          <a:cs typeface="Meiryo" charset="0"/>
                          <a:hlinkClick r:id="rId7"/>
                        </a:rPr>
                        <a:t>kihonjuku-yuuyuu.com</a:t>
                      </a: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1"/>
                  </a:ext>
                </a:extLst>
              </a:tr>
              <a:tr h="331469">
                <a:tc>
                  <a:txBody>
                    <a:bodyPr/>
                    <a:lstStyle/>
                    <a:p>
                      <a:pPr marL="0" indent="0" algn="ctr">
                        <a:buNone/>
                      </a:pPr>
                      <a:r>
                        <a:rPr lang="en-US" sz="900" b="1" dirty="0">
                          <a:solidFill>
                            <a:srgbClr val="222222"/>
                          </a:solidFill>
                          <a:latin typeface="Meiryo" pitchFamily="34" charset="0"/>
                          <a:ea typeface="Meiryo" pitchFamily="34" charset="-122"/>
                          <a:cs typeface="Meiryo" pitchFamily="34" charset="-120"/>
                        </a:rPr>
                        <a:t>⑤</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900" b="1" dirty="0">
                          <a:solidFill>
                            <a:srgbClr val="222222"/>
                          </a:solidFill>
                          <a:latin typeface="Meiryo" pitchFamily="34" charset="0"/>
                          <a:ea typeface="Meiryo" pitchFamily="34" charset="-122"/>
                          <a:cs typeface="Meiryo" pitchFamily="34" charset="-120"/>
                        </a:rPr>
                        <a:t>基本塾優遊 八坂中央</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900" dirty="0">
                          <a:solidFill>
                            <a:srgbClr val="222222"/>
                          </a:solidFill>
                          <a:latin typeface="Meiryo" pitchFamily="34" charset="0"/>
                          <a:ea typeface="Meiryo" pitchFamily="34" charset="-122"/>
                          <a:cs typeface="Meiryo" pitchFamily="34" charset="-120"/>
                        </a:rPr>
                        <a:t>NPO法人 基本塾</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900" dirty="0">
                          <a:solidFill>
                            <a:srgbClr val="222222"/>
                          </a:solidFill>
                          <a:latin typeface="Meiryo" pitchFamily="34" charset="0"/>
                          <a:ea typeface="Meiryo" pitchFamily="34" charset="-122"/>
                          <a:cs typeface="Meiryo" pitchFamily="34" charset="-120"/>
                        </a:rPr>
                        <a:t>八坂台地区（要確認）</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900" dirty="0">
                          <a:solidFill>
                            <a:srgbClr val="222222"/>
                          </a:solidFill>
                          <a:latin typeface="Meiryo" pitchFamily="34" charset="0"/>
                          <a:ea typeface="Meiryo" pitchFamily="34" charset="-122"/>
                          <a:cs typeface="Meiryo" pitchFamily="34" charset="-120"/>
                        </a:rPr>
                        <a:t>要確認</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900" dirty="0" u="sng">
                          <a:solidFill>
                            <a:srgbClr val="1F5FA8"/>
                          </a:solidFill>
                          <a:latin typeface="Meiryo" charset="0"/>
                          <a:ea typeface="Meiryo" charset="0"/>
                          <a:cs typeface="Meiryo" charset="0"/>
                          <a:hlinkClick r:id="rId7"/>
                        </a:rPr>
                        <a:t>kihonjuku-yuuyuu.com</a:t>
                      </a: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1"/>
                  </a:ext>
                </a:extLst>
              </a:tr>
              <a:tr h="331469">
                <a:tc>
                  <a:txBody>
                    <a:bodyPr/>
                    <a:lstStyle/>
                    <a:p>
                      <a:pPr marL="0" indent="0" algn="ctr">
                        <a:buNone/>
                      </a:pPr>
                      <a:r>
                        <a:rPr lang="en-US" sz="900" b="1" dirty="0">
                          <a:solidFill>
                            <a:srgbClr val="222222"/>
                          </a:solidFill>
                          <a:latin typeface="Meiryo" pitchFamily="34" charset="0"/>
                          <a:ea typeface="Meiryo" pitchFamily="34" charset="-122"/>
                          <a:cs typeface="Meiryo" pitchFamily="34" charset="-120"/>
                        </a:rPr>
                        <a:t>⑥</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900" b="1" dirty="0">
                          <a:solidFill>
                            <a:srgbClr val="222222"/>
                          </a:solidFill>
                          <a:latin typeface="Meiryo" pitchFamily="34" charset="0"/>
                          <a:ea typeface="Meiryo" pitchFamily="34" charset="-122"/>
                          <a:cs typeface="Meiryo" pitchFamily="34" charset="-120"/>
                        </a:rPr>
                        <a:t>児童発達支援コンパッション保育所</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900" dirty="0">
                          <a:solidFill>
                            <a:srgbClr val="222222"/>
                          </a:solidFill>
                          <a:latin typeface="Meiryo" pitchFamily="34" charset="0"/>
                          <a:ea typeface="Meiryo" pitchFamily="34" charset="-122"/>
                          <a:cs typeface="Meiryo" pitchFamily="34" charset="-120"/>
                        </a:rPr>
                        <a:t>要確認（保育所併設）</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900" dirty="0">
                          <a:solidFill>
                            <a:srgbClr val="222222"/>
                          </a:solidFill>
                          <a:latin typeface="Meiryo" pitchFamily="34" charset="0"/>
                          <a:ea typeface="Meiryo" pitchFamily="34" charset="-122"/>
                          <a:cs typeface="Meiryo" pitchFamily="34" charset="-120"/>
                        </a:rPr>
                        <a:t>家之子1671-36</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900" dirty="0">
                          <a:solidFill>
                            <a:srgbClr val="222222"/>
                          </a:solidFill>
                          <a:latin typeface="Meiryo" pitchFamily="34" charset="0"/>
                          <a:ea typeface="Meiryo" pitchFamily="34" charset="-122"/>
                          <a:cs typeface="Meiryo" pitchFamily="34" charset="-120"/>
                        </a:rPr>
                        <a:t>要確認</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900" dirty="0" u="sng">
                          <a:solidFill>
                            <a:srgbClr val="1F5FA8"/>
                          </a:solidFill>
                          <a:latin typeface="Meiryo" charset="0"/>
                          <a:ea typeface="Meiryo" charset="0"/>
                          <a:cs typeface="Meiryo" charset="0"/>
                          <a:hlinkClick r:id="rId8"/>
                        </a:rPr>
                        <a:t>LITALICO発達ナビ 東金市一覧</a:t>
                      </a: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1"/>
                  </a:ext>
                </a:extLst>
              </a:tr>
              <a:tr h="331469">
                <a:tc>
                  <a:txBody>
                    <a:bodyPr/>
                    <a:lstStyle/>
                    <a:p>
                      <a:pPr marL="0" indent="0" algn="ctr">
                        <a:buNone/>
                      </a:pPr>
                      <a:r>
                        <a:rPr lang="en-US" sz="900" b="1" dirty="0">
                          <a:solidFill>
                            <a:srgbClr val="222222"/>
                          </a:solidFill>
                          <a:latin typeface="Meiryo" pitchFamily="34" charset="0"/>
                          <a:ea typeface="Meiryo" pitchFamily="34" charset="-122"/>
                          <a:cs typeface="Meiryo" pitchFamily="34" charset="-120"/>
                        </a:rPr>
                        <a:t>⑦</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900" b="1" dirty="0">
                          <a:solidFill>
                            <a:srgbClr val="222222"/>
                          </a:solidFill>
                          <a:latin typeface="Meiryo" pitchFamily="34" charset="0"/>
                          <a:ea typeface="Meiryo" pitchFamily="34" charset="-122"/>
                          <a:cs typeface="Meiryo" pitchFamily="34" charset="-120"/>
                        </a:rPr>
                        <a:t>鴇嶺の家</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900" dirty="0">
                          <a:solidFill>
                            <a:srgbClr val="222222"/>
                          </a:solidFill>
                          <a:latin typeface="Meiryo" pitchFamily="34" charset="0"/>
                          <a:ea typeface="Meiryo" pitchFamily="34" charset="-122"/>
                          <a:cs typeface="Meiryo" pitchFamily="34" charset="-120"/>
                        </a:rPr>
                        <a:t>要確認</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900" dirty="0">
                          <a:solidFill>
                            <a:srgbClr val="222222"/>
                          </a:solidFill>
                          <a:latin typeface="Meiryo" pitchFamily="34" charset="0"/>
                          <a:ea typeface="Meiryo" pitchFamily="34" charset="-122"/>
                          <a:cs typeface="Meiryo" pitchFamily="34" charset="-120"/>
                        </a:rPr>
                        <a:t>東金425-2</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900" dirty="0">
                          <a:solidFill>
                            <a:srgbClr val="222222"/>
                          </a:solidFill>
                          <a:latin typeface="Meiryo" pitchFamily="34" charset="0"/>
                          <a:ea typeface="Meiryo" pitchFamily="34" charset="-122"/>
                          <a:cs typeface="Meiryo" pitchFamily="34" charset="-120"/>
                        </a:rPr>
                        <a:t>要確認</a:t>
                      </a:r>
                      <a:endParaRPr lang="en-US" sz="110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900" dirty="0" u="sng">
                          <a:solidFill>
                            <a:srgbClr val="1F5FA8"/>
                          </a:solidFill>
                          <a:latin typeface="Meiryo" charset="0"/>
                          <a:ea typeface="Meiryo" charset="0"/>
                          <a:cs typeface="Meiryo" charset="0"/>
                          <a:hlinkClick r:id="rId8"/>
                        </a:rPr>
                        <a:t>LITALICO発達ナビ 東金市一覧</a:t>
                      </a: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1"/>
                  </a:ext>
                </a:extLst>
              </a:tr>
            </a:tbl>
          </a:graphicData>
        </a:graphic>
      </p:graphicFrame>
      <p:sp>
        <p:nvSpPr>
          <p:cNvPr id="8" name="Text 5"/>
          <p:cNvSpPr/>
          <p:nvPr/>
        </p:nvSpPr>
        <p:spPr>
          <a:xfrm>
            <a:off x="502920" y="5870448"/>
            <a:ext cx="11201400" cy="566928"/>
          </a:xfrm>
          <a:prstGeom prst="rect">
            <a:avLst/>
          </a:prstGeom>
          <a:noFill/>
          <a:ln/>
        </p:spPr>
        <p:txBody>
          <a:bodyPr wrap="square" lIns="0" tIns="0" rIns="0" bIns="0" rtlCol="0" anchor="ctr"/>
          <a:lstStyle/>
          <a:p>
            <a:pPr marL="0" indent="0">
              <a:buNone/>
            </a:pPr>
            <a:r>
              <a:rPr lang="en-US" sz="1000" i="1" dirty="0">
                <a:solidFill>
                  <a:srgbClr val="666666"/>
                </a:solidFill>
                <a:latin typeface="Meiryo" pitchFamily="34" charset="0"/>
                <a:ea typeface="Meiryo" pitchFamily="34" charset="-122"/>
                <a:cs typeface="Meiryo" pitchFamily="34" charset="-120"/>
              </a:rPr>
              <a:t>※「児童発達支援」の指定を受けている事業所を抽出。⑥を除き放課後等デイサービスを併設。⑤基本塾優遊はNPO法人基本塾の5拠点で、詳細頁では1枚に集約。「HP／出典」欄はクリックで該当ページを開きます（公式HPが確認できない事業所は出典元へのリンク）。2026年8月時点の公開情報にもとづく整理のため、掲載内容は各事業所への確認を推奨。</a:t>
            </a:r>
            <a:endParaRPr lang="en-US" sz="1000" dirty="0"/>
          </a:p>
        </p:txBody>
      </p:sp>
      <p:sp>
        <p:nvSpPr>
          <p:cNvPr id="9" name="Text 2">
            <a:extLst>
              <a:ext uri="{FF2B5EF4-FFF2-40B4-BE49-F238E27FC236}">
                <a16:creationId xmlns:a16="http://schemas.microsoft.com/office/drawing/2014/main" id="{AE6EA86F-D6CF-F073-0F92-8C04FD76AAC7}"/>
              </a:ext>
            </a:extLst>
          </p:cNvPr>
          <p:cNvSpPr/>
          <p:nvPr/>
        </p:nvSpPr>
        <p:spPr>
          <a:xfrm>
            <a:off x="502920" y="54864"/>
            <a:ext cx="8686800" cy="822960"/>
          </a:xfrm>
          <a:prstGeom prst="rect">
            <a:avLst/>
          </a:prstGeom>
          <a:noFill/>
          <a:ln/>
        </p:spPr>
        <p:txBody>
          <a:bodyPr wrap="square" lIns="0" tIns="0" rIns="0" bIns="0" rtlCol="0" anchor="ctr"/>
          <a:lstStyle/>
          <a:p>
            <a:pPr marL="0" indent="0">
              <a:buNone/>
            </a:pPr>
            <a:r>
              <a:rPr lang="en-US" sz="3000" b="1" dirty="0">
                <a:solidFill>
                  <a:srgbClr val="FFFFFF"/>
                </a:solidFill>
                <a:latin typeface="Meiryo" pitchFamily="34" charset="0"/>
                <a:ea typeface="Meiryo" pitchFamily="34" charset="-122"/>
                <a:cs typeface="Meiryo" pitchFamily="34" charset="-120"/>
              </a:rPr>
              <a:t>I．　対象事業所一覧</a:t>
            </a:r>
            <a:endParaRPr lang="en-US" sz="3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12188952" cy="932688"/>
          </a:xfrm>
          <a:prstGeom prst="rect">
            <a:avLst/>
          </a:prstGeom>
          <a:solidFill>
            <a:srgbClr val="1B3A6B"/>
          </a:solidFill>
          <a:ln/>
        </p:spPr>
      </p:sp>
      <p:sp>
        <p:nvSpPr>
          <p:cNvPr id="3" name="Shape 1"/>
          <p:cNvSpPr/>
          <p:nvPr/>
        </p:nvSpPr>
        <p:spPr>
          <a:xfrm>
            <a:off x="0" y="0"/>
            <a:ext cx="164592" cy="932688"/>
          </a:xfrm>
          <a:prstGeom prst="rect">
            <a:avLst/>
          </a:prstGeom>
          <a:solidFill>
            <a:srgbClr val="13294B"/>
          </a:solidFill>
          <a:ln/>
        </p:spPr>
      </p:sp>
      <p:sp>
        <p:nvSpPr>
          <p:cNvPr id="4" name="Text 2"/>
          <p:cNvSpPr/>
          <p:nvPr/>
        </p:nvSpPr>
        <p:spPr>
          <a:xfrm>
            <a:off x="502920" y="54864"/>
            <a:ext cx="8686800" cy="822960"/>
          </a:xfrm>
          <a:prstGeom prst="rect">
            <a:avLst/>
          </a:prstGeom>
          <a:noFill/>
          <a:ln/>
        </p:spPr>
        <p:txBody>
          <a:bodyPr wrap="square" lIns="0" tIns="0" rIns="0" bIns="0" rtlCol="0" anchor="ctr"/>
          <a:lstStyle/>
          <a:p>
            <a:pPr marL="0" indent="0">
              <a:buNone/>
            </a:pPr>
            <a:r>
              <a:rPr lang="en-US" sz="3000" b="1" dirty="0">
                <a:solidFill>
                  <a:srgbClr val="FFFFFF"/>
                </a:solidFill>
                <a:latin typeface="Meiryo" pitchFamily="34" charset="0"/>
                <a:ea typeface="Meiryo" pitchFamily="34" charset="-122"/>
                <a:cs typeface="Meiryo" pitchFamily="34" charset="-120"/>
              </a:rPr>
              <a:t>II．　事業所別 詳細</a:t>
            </a:r>
            <a:endParaRPr lang="en-US" sz="3000" dirty="0"/>
          </a:p>
        </p:txBody>
      </p:sp>
      <p:sp>
        <p:nvSpPr>
          <p:cNvPr id="5" name="Text 3"/>
          <p:cNvSpPr/>
          <p:nvPr/>
        </p:nvSpPr>
        <p:spPr>
          <a:xfrm>
            <a:off x="502920" y="1115568"/>
            <a:ext cx="8503920" cy="457200"/>
          </a:xfrm>
          <a:prstGeom prst="rect">
            <a:avLst/>
          </a:prstGeom>
          <a:noFill/>
          <a:ln/>
        </p:spPr>
        <p:txBody>
          <a:bodyPr wrap="square" lIns="0" tIns="0" rIns="0" bIns="0" rtlCol="0" anchor="ctr"/>
          <a:lstStyle/>
          <a:p>
            <a:pPr marL="0" indent="0">
              <a:buNone/>
            </a:pPr>
            <a:r>
              <a:rPr lang="en-US" sz="2100" b="1" dirty="0">
                <a:solidFill>
                  <a:srgbClr val="222222"/>
                </a:solidFill>
                <a:latin typeface="Meiryo" pitchFamily="34" charset="0"/>
                <a:ea typeface="Meiryo" pitchFamily="34" charset="-122"/>
                <a:cs typeface="Meiryo" pitchFamily="34" charset="-120"/>
              </a:rPr>
              <a:t>① 東金市簡易マザーズホーム</a:t>
            </a:r>
            <a:endParaRPr lang="en-US" sz="2100" dirty="0"/>
          </a:p>
        </p:txBody>
      </p:sp>
      <p:sp>
        <p:nvSpPr>
          <p:cNvPr id="6" name="Shape 4"/>
          <p:cNvSpPr/>
          <p:nvPr/>
        </p:nvSpPr>
        <p:spPr>
          <a:xfrm>
            <a:off x="10104120" y="1170432"/>
            <a:ext cx="1600200" cy="457200"/>
          </a:xfrm>
          <a:prstGeom prst="rect">
            <a:avLst/>
          </a:prstGeom>
          <a:solidFill>
            <a:srgbClr val="FFFFFF"/>
          </a:solidFill>
          <a:ln w="15875">
            <a:solidFill>
              <a:srgbClr val="1B3A6B"/>
            </a:solidFill>
            <a:prstDash val="solid"/>
          </a:ln>
        </p:spPr>
      </p:sp>
      <p:sp>
        <p:nvSpPr>
          <p:cNvPr id="7" name="Text 5"/>
          <p:cNvSpPr/>
          <p:nvPr/>
        </p:nvSpPr>
        <p:spPr>
          <a:xfrm>
            <a:off x="10104120" y="1170432"/>
            <a:ext cx="1600200" cy="457200"/>
          </a:xfrm>
          <a:prstGeom prst="rect">
            <a:avLst/>
          </a:prstGeom>
          <a:noFill/>
          <a:ln/>
        </p:spPr>
        <p:txBody>
          <a:bodyPr wrap="square" lIns="0" tIns="0" rIns="0" bIns="0" rtlCol="0" anchor="ctr"/>
          <a:lstStyle/>
          <a:p>
            <a:pPr marL="0" indent="0" algn="ctr">
              <a:buNone/>
            </a:pPr>
            <a:r>
              <a:rPr lang="en-US" sz="1400" b="1" dirty="0">
                <a:solidFill>
                  <a:srgbClr val="1B3A6B"/>
                </a:solidFill>
                <a:latin typeface="Meiryo" pitchFamily="34" charset="0"/>
                <a:ea typeface="Meiryo" pitchFamily="34" charset="-122"/>
                <a:cs typeface="Meiryo" pitchFamily="34" charset="-120"/>
              </a:rPr>
              <a:t>東金市</a:t>
            </a:r>
            <a:endParaRPr lang="en-US" sz="1400" dirty="0"/>
          </a:p>
        </p:txBody>
      </p:sp>
      <p:sp>
        <p:nvSpPr>
          <p:cNvPr id="8" name="Text 6"/>
          <p:cNvSpPr/>
          <p:nvPr/>
        </p:nvSpPr>
        <p:spPr>
          <a:xfrm>
            <a:off x="502920" y="6510528"/>
            <a:ext cx="7315200" cy="274320"/>
          </a:xfrm>
          <a:prstGeom prst="rect">
            <a:avLst/>
          </a:prstGeom>
          <a:noFill/>
          <a:ln/>
        </p:spPr>
        <p:txBody>
          <a:bodyPr wrap="square" lIns="0" tIns="0" rIns="0" bIns="0" rtlCol="0" anchor="ctr"/>
          <a:lstStyle/>
          <a:p>
            <a:pPr marL="0" indent="0">
              <a:buNone/>
            </a:pPr>
            <a:r>
              <a:rPr lang="en-US" sz="850" dirty="0">
                <a:solidFill>
                  <a:srgbClr val="666666"/>
                </a:solidFill>
                <a:latin typeface="Meiryo" pitchFamily="34" charset="0"/>
                <a:ea typeface="Meiryo" pitchFamily="34" charset="-122"/>
                <a:cs typeface="Meiryo" pitchFamily="34" charset="-120"/>
              </a:rPr>
              <a:t>Copyright Funai Soken Group. All rights reserved.</a:t>
            </a:r>
            <a:endParaRPr lang="en-US" sz="850" dirty="0"/>
          </a:p>
        </p:txBody>
      </p:sp>
      <p:sp>
        <p:nvSpPr>
          <p:cNvPr id="9" name="Shape 7"/>
          <p:cNvSpPr/>
          <p:nvPr/>
        </p:nvSpPr>
        <p:spPr>
          <a:xfrm>
            <a:off x="502920" y="1783080"/>
            <a:ext cx="6903720" cy="4434840"/>
          </a:xfrm>
          <a:prstGeom prst="rect">
            <a:avLst/>
          </a:prstGeom>
          <a:solidFill>
            <a:srgbClr val="FFFFFF"/>
          </a:solidFill>
          <a:ln w="12700">
            <a:solidFill>
              <a:srgbClr val="9AA7B8"/>
            </a:solidFill>
            <a:prstDash val="solid"/>
          </a:ln>
          <a:effectLst>
            <a:outerShdw blurRad="63500" dist="25400" dir="8100000" algn="bl" rotWithShape="0">
              <a:srgbClr val="000000">
                <a:alpha val="12000"/>
              </a:srgbClr>
            </a:outerShdw>
          </a:effectLst>
        </p:spPr>
      </p:sp>
      <p:sp>
        <p:nvSpPr>
          <p:cNvPr id="10" name="Text 8"/>
          <p:cNvSpPr/>
          <p:nvPr/>
        </p:nvSpPr>
        <p:spPr>
          <a:xfrm>
            <a:off x="704088" y="1911096"/>
            <a:ext cx="6501384" cy="384048"/>
          </a:xfrm>
          <a:prstGeom prst="rect">
            <a:avLst/>
          </a:prstGeom>
          <a:noFill/>
          <a:ln/>
        </p:spPr>
        <p:txBody>
          <a:bodyPr wrap="square" lIns="0" tIns="0" rIns="0" bIns="0" rtlCol="0" anchor="ctr"/>
          <a:lstStyle/>
          <a:p>
            <a:pPr marL="0" indent="0">
              <a:buNone/>
            </a:pPr>
            <a:r>
              <a:rPr lang="en-US" sz="1400" b="1" dirty="0">
                <a:solidFill>
                  <a:srgbClr val="1B3A6B"/>
                </a:solidFill>
                <a:latin typeface="Meiryo" pitchFamily="34" charset="0"/>
                <a:ea typeface="Meiryo" pitchFamily="34" charset="-122"/>
                <a:cs typeface="Meiryo" pitchFamily="34" charset="-120"/>
              </a:rPr>
              <a:t>東金市簡易マザーズホーム（設置：東金市／運営：東金市社会福祉協議会）</a:t>
            </a:r>
            <a:endParaRPr lang="en-US" sz="1400" dirty="0"/>
          </a:p>
        </p:txBody>
      </p:sp>
      <p:sp>
        <p:nvSpPr>
          <p:cNvPr id="11" name="Text 9"/>
          <p:cNvSpPr/>
          <p:nvPr/>
        </p:nvSpPr>
        <p:spPr>
          <a:xfrm>
            <a:off x="704088" y="2331720"/>
            <a:ext cx="6501384" cy="3813048"/>
          </a:xfrm>
          <a:prstGeom prst="rect">
            <a:avLst/>
          </a:prstGeom>
          <a:noFill/>
          <a:ln/>
        </p:spPr>
        <p:txBody>
          <a:bodyPr wrap="square" lIns="0" tIns="0" rIns="0" bIns="0" rtlCol="0" anchor="t"/>
          <a:lstStyle/>
          <a:p>
            <a:pPr marL="0" indent="0">
              <a:lnSpc>
                <a:spcPct val="103000"/>
              </a:lnSpc>
              <a:buNone/>
            </a:pPr>
            <a:r>
              <a:rPr lang="en-US" sz="1050" b="1" dirty="0">
                <a:solidFill>
                  <a:srgbClr val="2E6BB8"/>
                </a:solidFill>
                <a:latin typeface="Meiryo" pitchFamily="34" charset="0"/>
                <a:ea typeface="Meiryo" pitchFamily="34" charset="-122"/>
                <a:cs typeface="Meiryo" pitchFamily="34" charset="-120"/>
              </a:rPr>
              <a:t>▶</a:t>
            </a:r>
            <a:r>
              <a:rPr lang="en-US" sz="1050" b="1" dirty="0">
                <a:solidFill>
                  <a:srgbClr val="222222"/>
                </a:solidFill>
                <a:latin typeface="Meiryo" pitchFamily="34" charset="0"/>
                <a:ea typeface="Meiryo" pitchFamily="34" charset="-122"/>
                <a:cs typeface="Meiryo" pitchFamily="34" charset="-120"/>
              </a:rPr>
              <a:t>対象：</a:t>
            </a:r>
            <a:r>
              <a:rPr lang="en-US" sz="1050" dirty="0">
                <a:solidFill>
                  <a:srgbClr val="222222"/>
                </a:solidFill>
                <a:latin typeface="Meiryo" pitchFamily="34" charset="0"/>
                <a:ea typeface="Meiryo" pitchFamily="34" charset="-122"/>
                <a:cs typeface="Meiryo" pitchFamily="34" charset="-120"/>
              </a:rPr>
              <a:t>【児発】原則、市内在住の心身に障がいのある就学前児童で保護者と共に通所できる方／【放デイ】市内在住で単独通所できる就学児童（いずれも伝染性疾病のない方）</a:t>
            </a:r>
            <a:endParaRPr lang="en-US" sz="1050" dirty="0"/>
          </a:p>
          <a:p>
            <a:pPr marL="0" indent="0">
              <a:lnSpc>
                <a:spcPct val="103000"/>
              </a:lnSpc>
              <a:buNone/>
            </a:pPr>
            <a:r>
              <a:rPr lang="en-US" sz="1050" b="1" dirty="0">
                <a:solidFill>
                  <a:srgbClr val="2E6BB8"/>
                </a:solidFill>
                <a:latin typeface="Meiryo" pitchFamily="34" charset="0"/>
                <a:ea typeface="Meiryo" pitchFamily="34" charset="-122"/>
                <a:cs typeface="Meiryo" pitchFamily="34" charset="-120"/>
              </a:rPr>
              <a:t>▶</a:t>
            </a:r>
            <a:r>
              <a:rPr lang="en-US" sz="1050" b="1" dirty="0">
                <a:solidFill>
                  <a:srgbClr val="222222"/>
                </a:solidFill>
                <a:latin typeface="Meiryo" pitchFamily="34" charset="0"/>
                <a:ea typeface="Meiryo" pitchFamily="34" charset="-122"/>
                <a:cs typeface="Meiryo" pitchFamily="34" charset="-120"/>
              </a:rPr>
              <a:t>住所：</a:t>
            </a:r>
            <a:r>
              <a:rPr lang="en-US" sz="1050" dirty="0">
                <a:solidFill>
                  <a:srgbClr val="222222"/>
                </a:solidFill>
                <a:latin typeface="Meiryo" pitchFamily="34" charset="0"/>
                <a:ea typeface="Meiryo" pitchFamily="34" charset="-122"/>
                <a:cs typeface="Meiryo" pitchFamily="34" charset="-120"/>
              </a:rPr>
              <a:t>千葉県東金市田間3丁目9番地1　東金市ふれあいセンター（保健福祉センター）2階</a:t>
            </a:r>
            <a:endParaRPr lang="en-US" sz="1050" dirty="0"/>
          </a:p>
          <a:p>
            <a:pPr marL="0" indent="0">
              <a:lnSpc>
                <a:spcPct val="103000"/>
              </a:lnSpc>
              <a:buNone/>
            </a:pPr>
            <a:r>
              <a:rPr lang="en-US" sz="1050" b="1" dirty="0">
                <a:solidFill>
                  <a:srgbClr val="2E6BB8"/>
                </a:solidFill>
                <a:latin typeface="Meiryo" pitchFamily="34" charset="0"/>
                <a:ea typeface="Meiryo" pitchFamily="34" charset="-122"/>
                <a:cs typeface="Meiryo" pitchFamily="34" charset="-120"/>
              </a:rPr>
              <a:t>▶</a:t>
            </a:r>
            <a:r>
              <a:rPr lang="en-US" sz="1050" b="1" dirty="0">
                <a:solidFill>
                  <a:srgbClr val="222222"/>
                </a:solidFill>
                <a:latin typeface="Meiryo" pitchFamily="34" charset="0"/>
                <a:ea typeface="Meiryo" pitchFamily="34" charset="-122"/>
                <a:cs typeface="Meiryo" pitchFamily="34" charset="-120"/>
              </a:rPr>
              <a:t>TEL／HP：</a:t>
            </a:r>
            <a:r>
              <a:rPr lang="en-US" sz="1050" dirty="0">
                <a:solidFill>
                  <a:srgbClr val="222222"/>
                </a:solidFill>
                <a:latin typeface="Meiryo" pitchFamily="34" charset="0"/>
                <a:ea typeface="Meiryo" pitchFamily="34" charset="-122"/>
                <a:cs typeface="Meiryo" pitchFamily="34" charset="-120"/>
              </a:rPr>
              <a:t>0475-54-1197 ／ city.togane.chiba.jp/0000000953.html</a:t>
            </a:r>
            <a:endParaRPr lang="en-US" sz="1050" dirty="0"/>
          </a:p>
          <a:p>
            <a:pPr marL="0" indent="0">
              <a:lnSpc>
                <a:spcPct val="103000"/>
              </a:lnSpc>
              <a:buNone/>
            </a:pPr>
            <a:r>
              <a:rPr lang="en-US" sz="1050" b="1" dirty="0">
                <a:solidFill>
                  <a:srgbClr val="2E6BB8"/>
                </a:solidFill>
                <a:latin typeface="Meiryo" pitchFamily="34" charset="0"/>
                <a:ea typeface="Meiryo" pitchFamily="34" charset="-122"/>
                <a:cs typeface="Meiryo" pitchFamily="34" charset="-120"/>
              </a:rPr>
              <a:t>▶</a:t>
            </a:r>
            <a:r>
              <a:rPr lang="en-US" sz="1050" b="1" dirty="0">
                <a:solidFill>
                  <a:srgbClr val="222222"/>
                </a:solidFill>
                <a:latin typeface="Meiryo" pitchFamily="34" charset="0"/>
                <a:ea typeface="Meiryo" pitchFamily="34" charset="-122"/>
                <a:cs typeface="Meiryo" pitchFamily="34" charset="-120"/>
              </a:rPr>
              <a:t>定員／アクセス：</a:t>
            </a:r>
            <a:r>
              <a:rPr lang="en-US" sz="1050" dirty="0">
                <a:solidFill>
                  <a:srgbClr val="222222"/>
                </a:solidFill>
                <a:latin typeface="Meiryo" pitchFamily="34" charset="0"/>
                <a:ea typeface="Meiryo" pitchFamily="34" charset="-122"/>
                <a:cs typeface="Meiryo" pitchFamily="34" charset="-120"/>
              </a:rPr>
              <a:t>児童発達支援 1日15名 ／ JR東金線 東金駅から徒歩約15分・市役所前より循環バスあり</a:t>
            </a:r>
            <a:endParaRPr lang="en-US" sz="1050" dirty="0"/>
          </a:p>
          <a:p>
            <a:pPr marL="0" indent="0">
              <a:lnSpc>
                <a:spcPct val="103000"/>
              </a:lnSpc>
              <a:buNone/>
            </a:pPr>
            <a:r>
              <a:rPr lang="en-US" sz="1050" b="1" dirty="0">
                <a:solidFill>
                  <a:srgbClr val="2E6BB8"/>
                </a:solidFill>
                <a:latin typeface="Meiryo" pitchFamily="34" charset="0"/>
                <a:ea typeface="Meiryo" pitchFamily="34" charset="-122"/>
                <a:cs typeface="Meiryo" pitchFamily="34" charset="-120"/>
              </a:rPr>
              <a:t>▶</a:t>
            </a:r>
            <a:r>
              <a:rPr lang="en-US" sz="1050" b="1" dirty="0">
                <a:solidFill>
                  <a:srgbClr val="222222"/>
                </a:solidFill>
                <a:latin typeface="Meiryo" pitchFamily="34" charset="0"/>
                <a:ea typeface="Meiryo" pitchFamily="34" charset="-122"/>
                <a:cs typeface="Meiryo" pitchFamily="34" charset="-120"/>
              </a:rPr>
              <a:t>利用手続き：</a:t>
            </a:r>
            <a:r>
              <a:rPr lang="en-US" sz="1050" dirty="0">
                <a:solidFill>
                  <a:srgbClr val="222222"/>
                </a:solidFill>
                <a:latin typeface="Meiryo" pitchFamily="34" charset="0"/>
                <a:ea typeface="Meiryo" pitchFamily="34" charset="-122"/>
                <a:cs typeface="Meiryo" pitchFamily="34" charset="-120"/>
              </a:rPr>
              <a:t>社会福祉課 障がいサービス係（0475-50-1232）へ障害児通所支援給付費の支給申請。面接調査あり。</a:t>
            </a:r>
            <a:endParaRPr lang="en-US" sz="1050" dirty="0"/>
          </a:p>
          <a:p>
            <a:pPr marL="0" indent="0">
              <a:lnSpc>
                <a:spcPct val="103000"/>
              </a:lnSpc>
              <a:spcAft>
                <a:spcPts val="500"/>
              </a:spcAft>
              <a:buNone/>
            </a:pPr>
            <a:endParaRPr lang="en-US" sz="1050" dirty="0"/>
          </a:p>
          <a:p>
            <a:pPr marL="0" indent="0">
              <a:lnSpc>
                <a:spcPct val="103000"/>
              </a:lnSpc>
              <a:buNone/>
            </a:pPr>
            <a:r>
              <a:rPr lang="en-US" sz="1050" b="1" dirty="0">
                <a:solidFill>
                  <a:srgbClr val="2E6BB8"/>
                </a:solidFill>
                <a:latin typeface="Meiryo" pitchFamily="34" charset="0"/>
                <a:ea typeface="Meiryo" pitchFamily="34" charset="-122"/>
                <a:cs typeface="Meiryo" pitchFamily="34" charset="-120"/>
              </a:rPr>
              <a:t>▶</a:t>
            </a:r>
            <a:r>
              <a:rPr lang="en-US" sz="1050" b="1" dirty="0">
                <a:solidFill>
                  <a:srgbClr val="222222"/>
                </a:solidFill>
                <a:latin typeface="Meiryo" pitchFamily="34" charset="0"/>
                <a:ea typeface="Meiryo" pitchFamily="34" charset="-122"/>
                <a:cs typeface="Meiryo" pitchFamily="34" charset="-120"/>
              </a:rPr>
              <a:t>療育プログラムの特徴：</a:t>
            </a:r>
            <a:r>
              <a:rPr lang="en-US" sz="1050" dirty="0">
                <a:solidFill>
                  <a:srgbClr val="222222"/>
                </a:solidFill>
                <a:latin typeface="Meiryo" pitchFamily="34" charset="0"/>
                <a:ea typeface="Meiryo" pitchFamily="34" charset="-122"/>
                <a:cs typeface="Meiryo" pitchFamily="34" charset="-120"/>
              </a:rPr>
              <a:t>生活を支援することで児童の発達を援助することを目的とする。</a:t>
            </a:r>
            <a:endParaRPr lang="en-US" sz="1050" dirty="0"/>
          </a:p>
          <a:p>
            <a:pPr marL="0" indent="0">
              <a:lnSpc>
                <a:spcPct val="103000"/>
              </a:lnSpc>
              <a:spcAft>
                <a:spcPts val="500"/>
              </a:spcAft>
              <a:buNone/>
            </a:pPr>
            <a:r>
              <a:rPr lang="en-US" sz="1050" dirty="0">
                <a:solidFill>
                  <a:srgbClr val="222222"/>
                </a:solidFill>
                <a:latin typeface="Meiryo" pitchFamily="34" charset="0"/>
                <a:ea typeface="Meiryo" pitchFamily="34" charset="-122"/>
                <a:cs typeface="Meiryo" pitchFamily="34" charset="-120"/>
              </a:rPr>
              <a:t>・運動、おもちゃ・ゲームなどのあそびを用いたグループ活動が支援の中心。</a:t>
            </a:r>
            <a:endParaRPr lang="en-US" sz="1050" dirty="0"/>
          </a:p>
          <a:p>
            <a:pPr marL="0" indent="0">
              <a:lnSpc>
                <a:spcPct val="103000"/>
              </a:lnSpc>
              <a:spcAft>
                <a:spcPts val="500"/>
              </a:spcAft>
              <a:buNone/>
            </a:pPr>
            <a:r>
              <a:rPr lang="en-US" sz="1050" dirty="0">
                <a:solidFill>
                  <a:srgbClr val="222222"/>
                </a:solidFill>
                <a:latin typeface="Meiryo" pitchFamily="34" charset="0"/>
                <a:ea typeface="Meiryo" pitchFamily="34" charset="-122"/>
                <a:cs typeface="Meiryo" pitchFamily="34" charset="-120"/>
              </a:rPr>
              <a:t>・小学1・2年生向けに学習指導とソーシャルスキルトレーニングを実施。</a:t>
            </a:r>
            <a:endParaRPr lang="en-US" sz="1050" dirty="0"/>
          </a:p>
          <a:p>
            <a:pPr marL="0" indent="0">
              <a:lnSpc>
                <a:spcPct val="103000"/>
              </a:lnSpc>
              <a:spcAft>
                <a:spcPts val="500"/>
              </a:spcAft>
              <a:buNone/>
            </a:pPr>
            <a:r>
              <a:rPr lang="en-US" sz="1050" dirty="0">
                <a:solidFill>
                  <a:srgbClr val="222222"/>
                </a:solidFill>
                <a:latin typeface="Meiryo" pitchFamily="34" charset="0"/>
                <a:ea typeface="Meiryo" pitchFamily="34" charset="-122"/>
                <a:cs typeface="Meiryo" pitchFamily="34" charset="-120"/>
              </a:rPr>
              <a:t>・設置管理条例に基づく市の公の施設。地域開放事業もあわせて実施。</a:t>
            </a:r>
            <a:endParaRPr lang="en-US" sz="1050" dirty="0"/>
          </a:p>
          <a:p>
            <a:pPr marL="0" indent="0">
              <a:lnSpc>
                <a:spcPct val="103000"/>
              </a:lnSpc>
              <a:spcAft>
                <a:spcPts val="500"/>
              </a:spcAft>
              <a:buNone/>
            </a:pPr>
            <a:endParaRPr lang="en-US" sz="1050" dirty="0"/>
          </a:p>
          <a:p>
            <a:pPr marL="0" indent="0">
              <a:lnSpc>
                <a:spcPct val="103000"/>
              </a:lnSpc>
              <a:buNone/>
            </a:pPr>
            <a:r>
              <a:rPr lang="en-US" sz="1050" b="1" dirty="0">
                <a:solidFill>
                  <a:srgbClr val="2E6BB8"/>
                </a:solidFill>
                <a:latin typeface="Meiryo" pitchFamily="34" charset="0"/>
                <a:ea typeface="Meiryo" pitchFamily="34" charset="-122"/>
                <a:cs typeface="Meiryo" pitchFamily="34" charset="-120"/>
              </a:rPr>
              <a:t>▶</a:t>
            </a:r>
            <a:r>
              <a:rPr lang="en-US" sz="1050" b="1" dirty="0">
                <a:solidFill>
                  <a:srgbClr val="222222"/>
                </a:solidFill>
                <a:latin typeface="Meiryo" pitchFamily="34" charset="0"/>
                <a:ea typeface="Meiryo" pitchFamily="34" charset="-122"/>
                <a:cs typeface="Meiryo" pitchFamily="34" charset="-120"/>
              </a:rPr>
              <a:t>出典：</a:t>
            </a:r>
            <a:r>
              <a:rPr lang="en-US" sz="1050" dirty="0">
                <a:solidFill>
                  <a:srgbClr val="222222"/>
                </a:solidFill>
                <a:latin typeface="Meiryo" pitchFamily="34" charset="0"/>
                <a:ea typeface="Meiryo" pitchFamily="34" charset="-122"/>
                <a:cs typeface="Meiryo" pitchFamily="34" charset="-120"/>
              </a:rPr>
              <a:t>東金市公式サイト 施設ページ（city.togane.chiba.jp/0000000953.html）／東金市簡易マザーズホーム設置管理条例／LITALICO発達ナビ</a:t>
            </a:r>
            <a:endParaRPr lang="en-US" sz="1050" dirty="0"/>
          </a:p>
          <a:p>
            <a:pPr marL="0" indent="0">
              <a:lnSpc>
                <a:spcPct val="103000"/>
              </a:lnSpc>
              <a:buNone/>
            </a:pPr>
            <a:r>
              <a:rPr lang="en-US" sz="1050" b="1" dirty="0">
                <a:solidFill>
                  <a:srgbClr val="2E6BB8"/>
                </a:solidFill>
                <a:latin typeface="Meiryo" pitchFamily="34" charset="0"/>
                <a:ea typeface="Meiryo" pitchFamily="34" charset="-122"/>
                <a:cs typeface="Meiryo" pitchFamily="34" charset="-120"/>
              </a:rPr>
              <a:t>▶</a:t>
            </a:r>
            <a:r>
              <a:rPr lang="en-US" sz="1050" b="1" dirty="0">
                <a:solidFill>
                  <a:srgbClr val="222222"/>
                </a:solidFill>
                <a:latin typeface="Meiryo" pitchFamily="34" charset="0"/>
                <a:ea typeface="Meiryo" pitchFamily="34" charset="-122"/>
                <a:cs typeface="Meiryo" pitchFamily="34" charset="-120"/>
              </a:rPr>
              <a:t>要確認事項：</a:t>
            </a:r>
            <a:r>
              <a:rPr lang="en-US" sz="1050" dirty="0">
                <a:solidFill>
                  <a:srgbClr val="222222"/>
                </a:solidFill>
                <a:latin typeface="Meiryo" pitchFamily="34" charset="0"/>
                <a:ea typeface="Meiryo" pitchFamily="34" charset="-122"/>
                <a:cs typeface="Meiryo" pitchFamily="34" charset="-120"/>
              </a:rPr>
              <a:t>現在の空き状況、開所曜日・時間、送迎の有無、放デイの対象学年の範囲</a:t>
            </a:r>
            <a:endParaRPr lang="en-US" sz="1050" dirty="0"/>
          </a:p>
        </p:txBody>
      </p:sp>
      <p:sp>
        <p:nvSpPr>
          <p:cNvPr id="13" name="Text 11"/>
          <p:cNvSpPr/>
          <p:nvPr/>
        </p:nvSpPr>
        <p:spPr>
          <a:xfrm>
            <a:off x="7635240" y="1783080"/>
            <a:ext cx="4069080" cy="2148840"/>
          </a:xfrm>
          <a:prstGeom prst="rect">
            <a:avLst/>
          </a:prstGeom>
          <a:solidFill>
            <a:srgbClr val="F4F6FA"/>
          </a:solidFill>
          <a:ln w="12700">
            <a:solidFill>
              <a:srgbClr val="9AA7B8"/>
            </a:solidFill>
            <a:prstDash val="dash"/>
          </a:ln>
        </p:spPr>
        <p:txBody>
          <a:bodyPr wrap="square" lIns="91440" tIns="45720" rIns="91440" bIns="45720" rtlCol="0" anchor="ctr"/>
          <a:lstStyle/>
          <a:p>
            <a:pPr marL="0" indent="0" algn="ctr">
              <a:lnSpc>
                <a:spcPct val="110000"/>
              </a:lnSpc>
              <a:buNone/>
            </a:pPr>
            <a:r>
              <a:rPr lang="en-US" sz="1200" b="1" dirty="0">
                <a:solidFill>
                  <a:srgbClr val="8A99AD"/>
                </a:solidFill>
                <a:latin typeface="Meiryo" pitchFamily="34" charset="0"/>
                <a:ea typeface="Meiryo" pitchFamily="34" charset="-122"/>
                <a:cs typeface="Meiryo" pitchFamily="34" charset="-120"/>
              </a:rPr>
              <a:t>［ 写真挿入エリア ］</a:t>
            </a:r>
            <a:endParaRPr lang="en-US" sz="1200" dirty="0"/>
          </a:p>
          <a:p>
            <a:pPr marL="0" indent="0" algn="ctr">
              <a:lnSpc>
                <a:spcPct val="110000"/>
              </a:lnSpc>
              <a:buNone/>
            </a:pPr>
            <a:r>
              <a:rPr lang="en-US" sz="950" dirty="0">
                <a:solidFill>
                  <a:srgbClr val="97A4B6"/>
                </a:solidFill>
                <a:latin typeface="Meiryo" pitchFamily="34" charset="0"/>
                <a:ea typeface="Meiryo" pitchFamily="34" charset="-122"/>
                <a:cs typeface="Meiryo" pitchFamily="34" charset="-120"/>
              </a:rPr>
              <a:t>（東金市公式サイト「東金市簡易マザーズホーム」ページ掲載の施設写真を挿入）</a:t>
            </a:r>
            <a:endParaRPr lang="en-US" sz="1200" dirty="0"/>
          </a:p>
        </p:txBody>
      </p:sp>
      <p:sp>
        <p:nvSpPr>
          <p:cNvPr id="14" name="Shape 12"/>
          <p:cNvSpPr/>
          <p:nvPr/>
        </p:nvSpPr>
        <p:spPr>
          <a:xfrm>
            <a:off x="7635240" y="4069080"/>
            <a:ext cx="4069080" cy="2148840"/>
          </a:xfrm>
          <a:prstGeom prst="rect">
            <a:avLst/>
          </a:prstGeom>
          <a:solidFill>
            <a:srgbClr val="EEF2F8"/>
          </a:solidFill>
          <a:ln w="12700">
            <a:solidFill>
              <a:srgbClr val="9AA7B8"/>
            </a:solidFill>
            <a:prstDash val="solid"/>
          </a:ln>
        </p:spPr>
      </p:sp>
      <p:sp>
        <p:nvSpPr>
          <p:cNvPr id="15" name="Text 13"/>
          <p:cNvSpPr/>
          <p:nvPr/>
        </p:nvSpPr>
        <p:spPr>
          <a:xfrm>
            <a:off x="7818120" y="4187952"/>
            <a:ext cx="3703320" cy="320040"/>
          </a:xfrm>
          <a:prstGeom prst="rect">
            <a:avLst/>
          </a:prstGeom>
          <a:noFill/>
          <a:ln/>
        </p:spPr>
        <p:txBody>
          <a:bodyPr wrap="square" lIns="0" tIns="0" rIns="0" bIns="0" rtlCol="0" anchor="ctr"/>
          <a:lstStyle/>
          <a:p>
            <a:pPr marL="0" indent="0">
              <a:buNone/>
            </a:pPr>
            <a:r>
              <a:rPr lang="en-US" sz="1250" b="1" dirty="0">
                <a:solidFill>
                  <a:srgbClr val="1B3A6B"/>
                </a:solidFill>
                <a:latin typeface="Meiryo" pitchFamily="34" charset="0"/>
                <a:ea typeface="Meiryo" pitchFamily="34" charset="-122"/>
                <a:cs typeface="Meiryo" pitchFamily="34" charset="-120"/>
              </a:rPr>
              <a:t>注目ポイント</a:t>
            </a:r>
            <a:endParaRPr lang="en-US" sz="1250" dirty="0"/>
          </a:p>
        </p:txBody>
      </p:sp>
      <p:sp>
        <p:nvSpPr>
          <p:cNvPr id="16" name="Text 14"/>
          <p:cNvSpPr/>
          <p:nvPr/>
        </p:nvSpPr>
        <p:spPr>
          <a:xfrm>
            <a:off x="7818120" y="4553712"/>
            <a:ext cx="3703320" cy="1554480"/>
          </a:xfrm>
          <a:prstGeom prst="rect">
            <a:avLst/>
          </a:prstGeom>
          <a:noFill/>
          <a:ln/>
        </p:spPr>
        <p:txBody>
          <a:bodyPr wrap="square" lIns="0" tIns="0" rIns="0" bIns="0" rtlCol="0" anchor="t"/>
          <a:lstStyle/>
          <a:p>
            <a:pPr marL="342900" indent="-342900">
              <a:spcAft>
                <a:spcPts val="700"/>
              </a:spcAft>
              <a:buSzPct val="100000"/>
              <a:buChar char="•"/>
            </a:pPr>
            <a:r>
              <a:rPr lang="en-US" sz="950" dirty="0">
                <a:solidFill>
                  <a:srgbClr val="222222"/>
                </a:solidFill>
                <a:latin typeface="メイリオ" panose="020B0604030504040204" pitchFamily="50" charset="-128"/>
                <a:ea typeface="メイリオ" panose="020B0604030504040204" pitchFamily="50" charset="-128"/>
                <a:cs typeface="Meiryo" pitchFamily="34" charset="-120"/>
              </a:rPr>
              <a:t>市内で唯一の公立（市設置）児童発達支援。乳幼児健診からの流れで最初につながる“入口”機能を担う。</a:t>
            </a:r>
            <a:endParaRPr lang="en-US" sz="1000" dirty="0">
              <a:latin typeface="メイリオ" panose="020B0604030504040204" pitchFamily="50" charset="-128"/>
              <a:ea typeface="メイリオ" panose="020B0604030504040204" pitchFamily="50" charset="-128"/>
            </a:endParaRPr>
          </a:p>
          <a:p>
            <a:pPr marL="342900" indent="-342900">
              <a:spcAft>
                <a:spcPts val="700"/>
              </a:spcAft>
              <a:buSzPct val="100000"/>
              <a:buChar char="•"/>
            </a:pPr>
            <a:r>
              <a:rPr lang="en-US" sz="950" dirty="0">
                <a:solidFill>
                  <a:srgbClr val="222222"/>
                </a:solidFill>
                <a:latin typeface="メイリオ" panose="020B0604030504040204" pitchFamily="50" charset="-128"/>
                <a:ea typeface="メイリオ" panose="020B0604030504040204" pitchFamily="50" charset="-128"/>
                <a:cs typeface="Meiryo" pitchFamily="34" charset="-120"/>
              </a:rPr>
              <a:t>児発は保護者同伴通所、放デイは単独通所が条件。母子分離で預かる民間事業所とは役割が構造的に異なる。</a:t>
            </a:r>
            <a:endParaRPr lang="en-US" sz="1000" dirty="0">
              <a:latin typeface="メイリオ" panose="020B0604030504040204" pitchFamily="50" charset="-128"/>
              <a:ea typeface="メイリオ" panose="020B0604030504040204" pitchFamily="50" charset="-128"/>
            </a:endParaRPr>
          </a:p>
          <a:p>
            <a:pPr marL="342900" indent="-342900">
              <a:spcAft>
                <a:spcPts val="700"/>
              </a:spcAft>
              <a:buSzPct val="100000"/>
              <a:buChar char="•"/>
            </a:pPr>
            <a:r>
              <a:rPr lang="en-US" sz="950" dirty="0">
                <a:solidFill>
                  <a:srgbClr val="222222"/>
                </a:solidFill>
                <a:latin typeface="メイリオ" panose="020B0604030504040204" pitchFamily="50" charset="-128"/>
                <a:ea typeface="メイリオ" panose="020B0604030504040204" pitchFamily="50" charset="-128"/>
                <a:cs typeface="Meiryo" pitchFamily="34" charset="-120"/>
              </a:rPr>
              <a:t>定員が1日15名と限られ、就学前の療育ニーズの受け皿が民間事業所へ流れやすい構造。</a:t>
            </a:r>
            <a:endParaRPr lang="en-US" sz="1000" dirty="0">
              <a:latin typeface="メイリオ" panose="020B0604030504040204" pitchFamily="50" charset="-128"/>
              <a:ea typeface="メイリオ" panose="020B0604030504040204" pitchFamily="50" charset="-128"/>
            </a:endParaRPr>
          </a:p>
          <a:p>
            <a:pPr marL="342900" indent="-342900">
              <a:spcAft>
                <a:spcPts val="700"/>
              </a:spcAft>
              <a:buSzPct val="100000"/>
              <a:buChar char="•"/>
            </a:pPr>
            <a:r>
              <a:rPr lang="en-US" sz="950" dirty="0">
                <a:solidFill>
                  <a:srgbClr val="222222"/>
                </a:solidFill>
                <a:latin typeface="メイリオ" panose="020B0604030504040204" pitchFamily="50" charset="-128"/>
                <a:ea typeface="メイリオ" panose="020B0604030504040204" pitchFamily="50" charset="-128"/>
                <a:cs typeface="Meiryo" pitchFamily="34" charset="-120"/>
              </a:rPr>
              <a:t>新規参入の観点では、公立の定員（1日15名）を超える就学前ニーズをどう受けるかが最初の需要源となる。</a:t>
            </a:r>
            <a:endParaRPr lang="en-US" sz="1000" dirty="0">
              <a:latin typeface="メイリオ" panose="020B0604030504040204" pitchFamily="50" charset="-128"/>
              <a:ea typeface="メイリオ" panose="020B0604030504040204" pitchFamily="50" charset="-128"/>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12188952" cy="932688"/>
          </a:xfrm>
          <a:prstGeom prst="rect">
            <a:avLst/>
          </a:prstGeom>
          <a:solidFill>
            <a:srgbClr val="1B3A6B"/>
          </a:solidFill>
          <a:ln/>
        </p:spPr>
      </p:sp>
      <p:sp>
        <p:nvSpPr>
          <p:cNvPr id="3" name="Shape 1"/>
          <p:cNvSpPr/>
          <p:nvPr/>
        </p:nvSpPr>
        <p:spPr>
          <a:xfrm>
            <a:off x="0" y="0"/>
            <a:ext cx="164592" cy="932688"/>
          </a:xfrm>
          <a:prstGeom prst="rect">
            <a:avLst/>
          </a:prstGeom>
          <a:solidFill>
            <a:srgbClr val="13294B"/>
          </a:solidFill>
          <a:ln/>
        </p:spPr>
      </p:sp>
      <p:sp>
        <p:nvSpPr>
          <p:cNvPr id="4" name="Text 2"/>
          <p:cNvSpPr/>
          <p:nvPr/>
        </p:nvSpPr>
        <p:spPr>
          <a:xfrm>
            <a:off x="502920" y="54864"/>
            <a:ext cx="8686800" cy="822960"/>
          </a:xfrm>
          <a:prstGeom prst="rect">
            <a:avLst/>
          </a:prstGeom>
          <a:noFill/>
          <a:ln/>
        </p:spPr>
        <p:txBody>
          <a:bodyPr wrap="square" lIns="0" tIns="0" rIns="0" bIns="0" rtlCol="0" anchor="ctr"/>
          <a:lstStyle/>
          <a:p>
            <a:pPr marL="0" indent="0">
              <a:buNone/>
            </a:pPr>
            <a:r>
              <a:rPr lang="en-US" sz="3000" b="1" dirty="0">
                <a:solidFill>
                  <a:srgbClr val="FFFFFF"/>
                </a:solidFill>
                <a:latin typeface="Meiryo" pitchFamily="34" charset="0"/>
                <a:ea typeface="Meiryo" pitchFamily="34" charset="-122"/>
                <a:cs typeface="Meiryo" pitchFamily="34" charset="-120"/>
              </a:rPr>
              <a:t>II．　事業所別 詳細</a:t>
            </a:r>
            <a:endParaRPr lang="en-US" sz="3000" dirty="0"/>
          </a:p>
        </p:txBody>
      </p:sp>
      <p:sp>
        <p:nvSpPr>
          <p:cNvPr id="5" name="Text 3"/>
          <p:cNvSpPr/>
          <p:nvPr/>
        </p:nvSpPr>
        <p:spPr>
          <a:xfrm>
            <a:off x="502920" y="1115568"/>
            <a:ext cx="8503920" cy="457200"/>
          </a:xfrm>
          <a:prstGeom prst="rect">
            <a:avLst/>
          </a:prstGeom>
          <a:noFill/>
          <a:ln/>
        </p:spPr>
        <p:txBody>
          <a:bodyPr wrap="square" lIns="0" tIns="0" rIns="0" bIns="0" rtlCol="0" anchor="ctr"/>
          <a:lstStyle/>
          <a:p>
            <a:pPr marL="0" indent="0">
              <a:buNone/>
            </a:pPr>
            <a:r>
              <a:rPr lang="en-US" sz="2100" b="1" dirty="0">
                <a:solidFill>
                  <a:srgbClr val="222222"/>
                </a:solidFill>
                <a:latin typeface="Meiryo" pitchFamily="34" charset="0"/>
                <a:ea typeface="Meiryo" pitchFamily="34" charset="-122"/>
                <a:cs typeface="Meiryo" pitchFamily="34" charset="-120"/>
              </a:rPr>
              <a:t>② 子ども支援センターぽけっと</a:t>
            </a:r>
            <a:endParaRPr lang="en-US" sz="2100" dirty="0"/>
          </a:p>
        </p:txBody>
      </p:sp>
      <p:sp>
        <p:nvSpPr>
          <p:cNvPr id="6" name="Shape 4"/>
          <p:cNvSpPr/>
          <p:nvPr/>
        </p:nvSpPr>
        <p:spPr>
          <a:xfrm>
            <a:off x="10104120" y="1170432"/>
            <a:ext cx="1600200" cy="457200"/>
          </a:xfrm>
          <a:prstGeom prst="rect">
            <a:avLst/>
          </a:prstGeom>
          <a:solidFill>
            <a:srgbClr val="FFFFFF"/>
          </a:solidFill>
          <a:ln w="15875">
            <a:solidFill>
              <a:srgbClr val="1B3A6B"/>
            </a:solidFill>
            <a:prstDash val="solid"/>
          </a:ln>
        </p:spPr>
      </p:sp>
      <p:sp>
        <p:nvSpPr>
          <p:cNvPr id="7" name="Text 5"/>
          <p:cNvSpPr/>
          <p:nvPr/>
        </p:nvSpPr>
        <p:spPr>
          <a:xfrm>
            <a:off x="10104120" y="1170432"/>
            <a:ext cx="1600200" cy="457200"/>
          </a:xfrm>
          <a:prstGeom prst="rect">
            <a:avLst/>
          </a:prstGeom>
          <a:noFill/>
          <a:ln/>
        </p:spPr>
        <p:txBody>
          <a:bodyPr wrap="square" lIns="0" tIns="0" rIns="0" bIns="0" rtlCol="0" anchor="ctr"/>
          <a:lstStyle/>
          <a:p>
            <a:pPr marL="0" indent="0" algn="ctr">
              <a:buNone/>
            </a:pPr>
            <a:r>
              <a:rPr lang="en-US" sz="1400" b="1" dirty="0">
                <a:solidFill>
                  <a:srgbClr val="1B3A6B"/>
                </a:solidFill>
                <a:latin typeface="Meiryo" pitchFamily="34" charset="0"/>
                <a:ea typeface="Meiryo" pitchFamily="34" charset="-122"/>
                <a:cs typeface="Meiryo" pitchFamily="34" charset="-120"/>
              </a:rPr>
              <a:t>東金市</a:t>
            </a:r>
            <a:endParaRPr lang="en-US" sz="1400" dirty="0"/>
          </a:p>
        </p:txBody>
      </p:sp>
      <p:sp>
        <p:nvSpPr>
          <p:cNvPr id="8" name="Text 6"/>
          <p:cNvSpPr/>
          <p:nvPr/>
        </p:nvSpPr>
        <p:spPr>
          <a:xfrm>
            <a:off x="502920" y="6510528"/>
            <a:ext cx="7315200" cy="274320"/>
          </a:xfrm>
          <a:prstGeom prst="rect">
            <a:avLst/>
          </a:prstGeom>
          <a:noFill/>
          <a:ln/>
        </p:spPr>
        <p:txBody>
          <a:bodyPr wrap="square" lIns="0" tIns="0" rIns="0" bIns="0" rtlCol="0" anchor="ctr"/>
          <a:lstStyle/>
          <a:p>
            <a:pPr marL="0" indent="0">
              <a:buNone/>
            </a:pPr>
            <a:r>
              <a:rPr lang="en-US" sz="850" dirty="0">
                <a:solidFill>
                  <a:srgbClr val="666666"/>
                </a:solidFill>
                <a:latin typeface="Meiryo" pitchFamily="34" charset="0"/>
                <a:ea typeface="Meiryo" pitchFamily="34" charset="-122"/>
                <a:cs typeface="Meiryo" pitchFamily="34" charset="-120"/>
              </a:rPr>
              <a:t>Copyright Funai Soken Group. All rights reserved.</a:t>
            </a:r>
            <a:endParaRPr lang="en-US" sz="850" dirty="0"/>
          </a:p>
        </p:txBody>
      </p:sp>
      <p:sp>
        <p:nvSpPr>
          <p:cNvPr id="9" name="Shape 7"/>
          <p:cNvSpPr/>
          <p:nvPr/>
        </p:nvSpPr>
        <p:spPr>
          <a:xfrm>
            <a:off x="502920" y="1783080"/>
            <a:ext cx="6903720" cy="4434840"/>
          </a:xfrm>
          <a:prstGeom prst="rect">
            <a:avLst/>
          </a:prstGeom>
          <a:solidFill>
            <a:srgbClr val="FFFFFF"/>
          </a:solidFill>
          <a:ln w="12700">
            <a:solidFill>
              <a:srgbClr val="9AA7B8"/>
            </a:solidFill>
            <a:prstDash val="solid"/>
          </a:ln>
          <a:effectLst>
            <a:outerShdw blurRad="63500" dist="25400" dir="8100000" algn="bl" rotWithShape="0">
              <a:srgbClr val="000000">
                <a:alpha val="12000"/>
              </a:srgbClr>
            </a:outerShdw>
          </a:effectLst>
        </p:spPr>
      </p:sp>
      <p:sp>
        <p:nvSpPr>
          <p:cNvPr id="10" name="Text 8"/>
          <p:cNvSpPr/>
          <p:nvPr/>
        </p:nvSpPr>
        <p:spPr>
          <a:xfrm>
            <a:off x="704088" y="1911096"/>
            <a:ext cx="6501384" cy="384048"/>
          </a:xfrm>
          <a:prstGeom prst="rect">
            <a:avLst/>
          </a:prstGeom>
          <a:noFill/>
          <a:ln/>
        </p:spPr>
        <p:txBody>
          <a:bodyPr wrap="square" lIns="0" tIns="0" rIns="0" bIns="0" rtlCol="0" anchor="ctr"/>
          <a:lstStyle/>
          <a:p>
            <a:pPr marL="0" indent="0">
              <a:buNone/>
            </a:pPr>
            <a:r>
              <a:rPr lang="en-US" sz="1400" b="1" dirty="0">
                <a:solidFill>
                  <a:srgbClr val="1B3A6B"/>
                </a:solidFill>
                <a:latin typeface="Meiryo" pitchFamily="34" charset="0"/>
                <a:ea typeface="Meiryo" pitchFamily="34" charset="-122"/>
                <a:cs typeface="Meiryo" pitchFamily="34" charset="-120"/>
              </a:rPr>
              <a:t>子ども支援センターぽけっと（児童発達支援・放課後等デイサービス）</a:t>
            </a:r>
            <a:endParaRPr lang="en-US" sz="1400" dirty="0"/>
          </a:p>
        </p:txBody>
      </p:sp>
      <p:sp>
        <p:nvSpPr>
          <p:cNvPr id="11" name="Text 9"/>
          <p:cNvSpPr/>
          <p:nvPr/>
        </p:nvSpPr>
        <p:spPr>
          <a:xfrm>
            <a:off x="704088" y="2331720"/>
            <a:ext cx="6501384" cy="3813048"/>
          </a:xfrm>
          <a:prstGeom prst="rect">
            <a:avLst/>
          </a:prstGeom>
          <a:noFill/>
          <a:ln/>
        </p:spPr>
        <p:txBody>
          <a:bodyPr wrap="square" lIns="0" tIns="0" rIns="0" bIns="0" rtlCol="0" anchor="t"/>
          <a:lstStyle/>
          <a:p>
            <a:pPr marL="0" indent="0">
              <a:lnSpc>
                <a:spcPct val="103000"/>
              </a:lnSpc>
              <a:buNone/>
            </a:pPr>
            <a:r>
              <a:rPr lang="en-US" sz="1050" b="1" dirty="0">
                <a:solidFill>
                  <a:srgbClr val="2E6BB8"/>
                </a:solidFill>
                <a:latin typeface="Meiryo" pitchFamily="34" charset="0"/>
                <a:ea typeface="Meiryo" pitchFamily="34" charset="-122"/>
                <a:cs typeface="Meiryo" pitchFamily="34" charset="-120"/>
              </a:rPr>
              <a:t>▶</a:t>
            </a:r>
            <a:r>
              <a:rPr lang="en-US" sz="1050" b="1" dirty="0">
                <a:solidFill>
                  <a:srgbClr val="222222"/>
                </a:solidFill>
                <a:latin typeface="Meiryo" pitchFamily="34" charset="0"/>
                <a:ea typeface="Meiryo" pitchFamily="34" charset="-122"/>
                <a:cs typeface="Meiryo" pitchFamily="34" charset="-120"/>
              </a:rPr>
              <a:t>対象：</a:t>
            </a:r>
            <a:r>
              <a:rPr lang="en-US" sz="1050" dirty="0">
                <a:solidFill>
                  <a:srgbClr val="222222"/>
                </a:solidFill>
                <a:latin typeface="Meiryo" pitchFamily="34" charset="0"/>
                <a:ea typeface="Meiryo" pitchFamily="34" charset="-122"/>
                <a:cs typeface="Meiryo" pitchFamily="34" charset="-120"/>
              </a:rPr>
              <a:t>未就学児（児童発達支援）〜就学児（放課後等デイサービス）</a:t>
            </a:r>
            <a:endParaRPr lang="en-US" sz="1050" dirty="0"/>
          </a:p>
          <a:p>
            <a:pPr marL="0" indent="0">
              <a:lnSpc>
                <a:spcPct val="103000"/>
              </a:lnSpc>
              <a:buNone/>
            </a:pPr>
            <a:r>
              <a:rPr lang="en-US" sz="1050" b="1" dirty="0">
                <a:solidFill>
                  <a:srgbClr val="2E6BB8"/>
                </a:solidFill>
                <a:latin typeface="Meiryo" pitchFamily="34" charset="0"/>
                <a:ea typeface="Meiryo" pitchFamily="34" charset="-122"/>
                <a:cs typeface="Meiryo" pitchFamily="34" charset="-120"/>
              </a:rPr>
              <a:t>▶</a:t>
            </a:r>
            <a:r>
              <a:rPr lang="en-US" sz="1050" b="1" dirty="0">
                <a:solidFill>
                  <a:srgbClr val="222222"/>
                </a:solidFill>
                <a:latin typeface="Meiryo" pitchFamily="34" charset="0"/>
                <a:ea typeface="Meiryo" pitchFamily="34" charset="-122"/>
                <a:cs typeface="Meiryo" pitchFamily="34" charset="-120"/>
              </a:rPr>
              <a:t>住所：</a:t>
            </a:r>
            <a:r>
              <a:rPr lang="en-US" sz="1050" dirty="0">
                <a:solidFill>
                  <a:srgbClr val="222222"/>
                </a:solidFill>
                <a:latin typeface="Meiryo" pitchFamily="34" charset="0"/>
                <a:ea typeface="Meiryo" pitchFamily="34" charset="-122"/>
                <a:cs typeface="Meiryo" pitchFamily="34" charset="-120"/>
              </a:rPr>
              <a:t>千葉県東金市東上宿6番地2</a:t>
            </a:r>
            <a:endParaRPr lang="en-US" sz="1050" dirty="0"/>
          </a:p>
          <a:p>
            <a:pPr marL="0" indent="0">
              <a:lnSpc>
                <a:spcPct val="103000"/>
              </a:lnSpc>
              <a:buNone/>
            </a:pPr>
            <a:r>
              <a:rPr lang="en-US" sz="1050" b="1" dirty="0">
                <a:solidFill>
                  <a:srgbClr val="2E6BB8"/>
                </a:solidFill>
                <a:latin typeface="Meiryo" pitchFamily="34" charset="0"/>
                <a:ea typeface="Meiryo" pitchFamily="34" charset="-122"/>
                <a:cs typeface="Meiryo" pitchFamily="34" charset="-120"/>
              </a:rPr>
              <a:t>▶</a:t>
            </a:r>
            <a:r>
              <a:rPr lang="en-US" sz="1050" b="1" dirty="0">
                <a:solidFill>
                  <a:srgbClr val="222222"/>
                </a:solidFill>
                <a:latin typeface="Meiryo" pitchFamily="34" charset="0"/>
                <a:ea typeface="Meiryo" pitchFamily="34" charset="-122"/>
                <a:cs typeface="Meiryo" pitchFamily="34" charset="-120"/>
              </a:rPr>
              <a:t>TEL／HP：</a:t>
            </a:r>
            <a:r>
              <a:rPr lang="en-US" sz="1050" dirty="0">
                <a:solidFill>
                  <a:srgbClr val="222222"/>
                </a:solidFill>
                <a:latin typeface="Meiryo" pitchFamily="34" charset="0"/>
                <a:ea typeface="Meiryo" pitchFamily="34" charset="-122"/>
                <a:cs typeface="Meiryo" pitchFamily="34" charset="-120"/>
              </a:rPr>
              <a:t>0475-50-1081 ／ WAM NET（障害福祉サービス等情報公表システム）に事業所情報を掲載</a:t>
            </a:r>
            <a:endParaRPr lang="en-US" sz="1050" dirty="0"/>
          </a:p>
          <a:p>
            <a:pPr marL="0" indent="0">
              <a:lnSpc>
                <a:spcPct val="103000"/>
              </a:lnSpc>
              <a:buNone/>
            </a:pPr>
            <a:r>
              <a:rPr lang="en-US" sz="1050" b="1" dirty="0">
                <a:solidFill>
                  <a:srgbClr val="2E6BB8"/>
                </a:solidFill>
                <a:latin typeface="Meiryo" pitchFamily="34" charset="0"/>
                <a:ea typeface="Meiryo" pitchFamily="34" charset="-122"/>
                <a:cs typeface="Meiryo" pitchFamily="34" charset="-120"/>
              </a:rPr>
              <a:t>▶</a:t>
            </a:r>
            <a:r>
              <a:rPr lang="en-US" sz="1050" b="1" dirty="0">
                <a:solidFill>
                  <a:srgbClr val="222222"/>
                </a:solidFill>
                <a:latin typeface="Meiryo" pitchFamily="34" charset="0"/>
                <a:ea typeface="Meiryo" pitchFamily="34" charset="-122"/>
                <a:cs typeface="Meiryo" pitchFamily="34" charset="-120"/>
              </a:rPr>
              <a:t>サービス提供時間／定員：</a:t>
            </a:r>
            <a:r>
              <a:rPr lang="en-US" sz="1050" dirty="0">
                <a:solidFill>
                  <a:srgbClr val="222222"/>
                </a:solidFill>
                <a:latin typeface="Meiryo" pitchFamily="34" charset="0"/>
                <a:ea typeface="Meiryo" pitchFamily="34" charset="-122"/>
                <a:cs typeface="Meiryo" pitchFamily="34" charset="-120"/>
              </a:rPr>
              <a:t>いずれも要確認（公開情報に記載なし）</a:t>
            </a:r>
            <a:endParaRPr lang="en-US" sz="1050" dirty="0"/>
          </a:p>
          <a:p>
            <a:pPr marL="0" indent="0">
              <a:lnSpc>
                <a:spcPct val="103000"/>
              </a:lnSpc>
              <a:spcAft>
                <a:spcPts val="500"/>
              </a:spcAft>
              <a:buNone/>
            </a:pPr>
            <a:endParaRPr lang="en-US" sz="1050" dirty="0"/>
          </a:p>
          <a:p>
            <a:pPr marL="0" indent="0">
              <a:lnSpc>
                <a:spcPct val="103000"/>
              </a:lnSpc>
              <a:buNone/>
            </a:pPr>
            <a:r>
              <a:rPr lang="en-US" sz="1050" b="1" dirty="0">
                <a:solidFill>
                  <a:srgbClr val="2E6BB8"/>
                </a:solidFill>
                <a:latin typeface="Meiryo" pitchFamily="34" charset="0"/>
                <a:ea typeface="Meiryo" pitchFamily="34" charset="-122"/>
                <a:cs typeface="Meiryo" pitchFamily="34" charset="-120"/>
              </a:rPr>
              <a:t>▶</a:t>
            </a:r>
            <a:r>
              <a:rPr lang="en-US" sz="1050" b="1" dirty="0">
                <a:solidFill>
                  <a:srgbClr val="222222"/>
                </a:solidFill>
                <a:latin typeface="Meiryo" pitchFamily="34" charset="0"/>
                <a:ea typeface="Meiryo" pitchFamily="34" charset="-122"/>
                <a:cs typeface="Meiryo" pitchFamily="34" charset="-120"/>
              </a:rPr>
              <a:t>療育プログラムの特徴：</a:t>
            </a:r>
            <a:r>
              <a:rPr lang="en-US" sz="1050" dirty="0">
                <a:solidFill>
                  <a:srgbClr val="222222"/>
                </a:solidFill>
                <a:latin typeface="Meiryo" pitchFamily="34" charset="0"/>
                <a:ea typeface="Meiryo" pitchFamily="34" charset="-122"/>
                <a:cs typeface="Meiryo" pitchFamily="34" charset="-120"/>
              </a:rPr>
              <a:t>公開情報が限られており、支援内容の詳細は事業所への直接確認が必要。</a:t>
            </a:r>
            <a:endParaRPr lang="en-US" sz="1050" dirty="0"/>
          </a:p>
          <a:p>
            <a:pPr marL="0" indent="0">
              <a:lnSpc>
                <a:spcPct val="103000"/>
              </a:lnSpc>
              <a:spcAft>
                <a:spcPts val="500"/>
              </a:spcAft>
              <a:buNone/>
            </a:pPr>
            <a:r>
              <a:rPr lang="en-US" sz="1050" dirty="0">
                <a:solidFill>
                  <a:srgbClr val="222222"/>
                </a:solidFill>
                <a:latin typeface="Meiryo" pitchFamily="34" charset="0"/>
                <a:ea typeface="Meiryo" pitchFamily="34" charset="-122"/>
                <a:cs typeface="Meiryo" pitchFamily="34" charset="-120"/>
              </a:rPr>
              <a:t>・児童発達支援と放課後等デイサービスを併設し、未就学から就学後まで継続利用できる体制。</a:t>
            </a:r>
            <a:endParaRPr lang="en-US" sz="1050" dirty="0"/>
          </a:p>
          <a:p>
            <a:pPr marL="0" indent="0">
              <a:lnSpc>
                <a:spcPct val="103000"/>
              </a:lnSpc>
              <a:spcAft>
                <a:spcPts val="500"/>
              </a:spcAft>
              <a:buNone/>
            </a:pPr>
            <a:r>
              <a:rPr lang="en-US" sz="1050" dirty="0">
                <a:solidFill>
                  <a:srgbClr val="222222"/>
                </a:solidFill>
                <a:latin typeface="Meiryo" pitchFamily="34" charset="0"/>
                <a:ea typeface="Meiryo" pitchFamily="34" charset="-122"/>
                <a:cs typeface="Meiryo" pitchFamily="34" charset="-120"/>
              </a:rPr>
              <a:t>・東金駅・市役所に近い東上宿の市街地に立地。</a:t>
            </a:r>
            <a:endParaRPr lang="en-US" sz="1050" dirty="0"/>
          </a:p>
          <a:p>
            <a:pPr marL="0" indent="0">
              <a:lnSpc>
                <a:spcPct val="103000"/>
              </a:lnSpc>
              <a:spcAft>
                <a:spcPts val="500"/>
              </a:spcAft>
              <a:buNone/>
            </a:pPr>
            <a:r>
              <a:rPr lang="en-US" sz="1050" dirty="0">
                <a:solidFill>
                  <a:srgbClr val="222222"/>
                </a:solidFill>
                <a:latin typeface="Meiryo" pitchFamily="34" charset="0"/>
                <a:ea typeface="Meiryo" pitchFamily="34" charset="-122"/>
                <a:cs typeface="Meiryo" pitchFamily="34" charset="-120"/>
              </a:rPr>
              <a:t>・同一町域（東上宿6-1）に相談支援事業所「街かど福祉相談室るると」が所在し、相談〜通所の導線が近い。</a:t>
            </a:r>
            <a:endParaRPr lang="en-US" sz="1050" dirty="0"/>
          </a:p>
          <a:p>
            <a:pPr marL="0" indent="0">
              <a:lnSpc>
                <a:spcPct val="103000"/>
              </a:lnSpc>
              <a:spcAft>
                <a:spcPts val="500"/>
              </a:spcAft>
              <a:buNone/>
            </a:pPr>
            <a:endParaRPr lang="en-US" sz="1050" dirty="0"/>
          </a:p>
          <a:p>
            <a:pPr marL="0" indent="0">
              <a:lnSpc>
                <a:spcPct val="103000"/>
              </a:lnSpc>
              <a:buNone/>
            </a:pPr>
            <a:r>
              <a:rPr lang="en-US" sz="1050" b="1" dirty="0">
                <a:solidFill>
                  <a:srgbClr val="2E6BB8"/>
                </a:solidFill>
                <a:latin typeface="Meiryo" pitchFamily="34" charset="0"/>
                <a:ea typeface="Meiryo" pitchFamily="34" charset="-122"/>
                <a:cs typeface="Meiryo" pitchFamily="34" charset="-120"/>
              </a:rPr>
              <a:t>▶</a:t>
            </a:r>
            <a:r>
              <a:rPr lang="en-US" sz="1050" b="1" dirty="0">
                <a:solidFill>
                  <a:srgbClr val="222222"/>
                </a:solidFill>
                <a:latin typeface="Meiryo" pitchFamily="34" charset="0"/>
                <a:ea typeface="Meiryo" pitchFamily="34" charset="-122"/>
                <a:cs typeface="Meiryo" pitchFamily="34" charset="-120"/>
              </a:rPr>
              <a:t>出典：</a:t>
            </a:r>
            <a:r>
              <a:rPr lang="en-US" sz="1050" dirty="0">
                <a:solidFill>
                  <a:srgbClr val="222222"/>
                </a:solidFill>
                <a:latin typeface="Meiryo" pitchFamily="34" charset="0"/>
                <a:ea typeface="Meiryo" pitchFamily="34" charset="-122"/>
                <a:cs typeface="Meiryo" pitchFamily="34" charset="-120"/>
              </a:rPr>
              <a:t>WAM NET 障害福祉サービス等情報公表システム／LITALICO発達ナビ／東金市公式サイト</a:t>
            </a:r>
            <a:endParaRPr lang="en-US" sz="1050" dirty="0"/>
          </a:p>
          <a:p>
            <a:pPr marL="0" indent="0">
              <a:lnSpc>
                <a:spcPct val="103000"/>
              </a:lnSpc>
              <a:buNone/>
            </a:pPr>
            <a:r>
              <a:rPr lang="en-US" sz="1050" b="1" dirty="0">
                <a:solidFill>
                  <a:srgbClr val="2E6BB8"/>
                </a:solidFill>
                <a:latin typeface="Meiryo" pitchFamily="34" charset="0"/>
                <a:ea typeface="Meiryo" pitchFamily="34" charset="-122"/>
                <a:cs typeface="Meiryo" pitchFamily="34" charset="-120"/>
              </a:rPr>
              <a:t>▶</a:t>
            </a:r>
            <a:r>
              <a:rPr lang="en-US" sz="1050" b="1" dirty="0">
                <a:solidFill>
                  <a:srgbClr val="222222"/>
                </a:solidFill>
                <a:latin typeface="Meiryo" pitchFamily="34" charset="0"/>
                <a:ea typeface="Meiryo" pitchFamily="34" charset="-122"/>
                <a:cs typeface="Meiryo" pitchFamily="34" charset="-120"/>
              </a:rPr>
              <a:t>要確認事項：</a:t>
            </a:r>
            <a:r>
              <a:rPr lang="en-US" sz="1050" dirty="0">
                <a:solidFill>
                  <a:srgbClr val="222222"/>
                </a:solidFill>
                <a:latin typeface="Meiryo" pitchFamily="34" charset="0"/>
                <a:ea typeface="Meiryo" pitchFamily="34" charset="-122"/>
                <a:cs typeface="Meiryo" pitchFamily="34" charset="-120"/>
              </a:rPr>
              <a:t>運営法人、サービス提供時間、定員、送迎の有無、プログラム内容　※公開情報がほぼ無く電話ヒアリング必須</a:t>
            </a:r>
            <a:endParaRPr lang="en-US" sz="1050" dirty="0"/>
          </a:p>
        </p:txBody>
      </p:sp>
      <p:sp>
        <p:nvSpPr>
          <p:cNvPr id="13" name="Text 11"/>
          <p:cNvSpPr/>
          <p:nvPr/>
        </p:nvSpPr>
        <p:spPr>
          <a:xfrm>
            <a:off x="7635240" y="1783080"/>
            <a:ext cx="4069080" cy="2148840"/>
          </a:xfrm>
          <a:prstGeom prst="rect">
            <a:avLst/>
          </a:prstGeom>
          <a:solidFill>
            <a:srgbClr val="F4F6FA"/>
          </a:solidFill>
          <a:ln w="12700">
            <a:solidFill>
              <a:srgbClr val="9AA7B8"/>
            </a:solidFill>
            <a:prstDash val="dash"/>
          </a:ln>
        </p:spPr>
        <p:txBody>
          <a:bodyPr wrap="square" lIns="91440" tIns="45720" rIns="91440" bIns="45720" rtlCol="0" anchor="ctr"/>
          <a:lstStyle/>
          <a:p>
            <a:pPr marL="0" indent="0" algn="ctr">
              <a:lnSpc>
                <a:spcPct val="110000"/>
              </a:lnSpc>
              <a:buNone/>
            </a:pPr>
            <a:r>
              <a:rPr lang="en-US" sz="1200" b="1" dirty="0">
                <a:solidFill>
                  <a:srgbClr val="8A99AD"/>
                </a:solidFill>
                <a:latin typeface="Meiryo" pitchFamily="34" charset="0"/>
                <a:ea typeface="Meiryo" pitchFamily="34" charset="-122"/>
                <a:cs typeface="Meiryo" pitchFamily="34" charset="-120"/>
              </a:rPr>
              <a:t>［ 写真挿入エリア ］</a:t>
            </a:r>
            <a:endParaRPr lang="en-US" sz="1200" dirty="0"/>
          </a:p>
          <a:p>
            <a:pPr marL="0" indent="0" algn="ctr">
              <a:lnSpc>
                <a:spcPct val="110000"/>
              </a:lnSpc>
              <a:buNone/>
            </a:pPr>
            <a:r>
              <a:rPr lang="en-US" sz="950" dirty="0">
                <a:solidFill>
                  <a:srgbClr val="97A4B6"/>
                </a:solidFill>
                <a:latin typeface="Meiryo" pitchFamily="34" charset="0"/>
                <a:ea typeface="Meiryo" pitchFamily="34" charset="-122"/>
                <a:cs typeface="Meiryo" pitchFamily="34" charset="-120"/>
              </a:rPr>
              <a:t>（WAM NET 事業所詳細／公式HPの室内写真を挿入）</a:t>
            </a:r>
            <a:endParaRPr lang="en-US" sz="1200" dirty="0"/>
          </a:p>
        </p:txBody>
      </p:sp>
      <p:sp>
        <p:nvSpPr>
          <p:cNvPr id="14" name="Shape 12"/>
          <p:cNvSpPr/>
          <p:nvPr/>
        </p:nvSpPr>
        <p:spPr>
          <a:xfrm>
            <a:off x="7635240" y="4069080"/>
            <a:ext cx="4069080" cy="2148840"/>
          </a:xfrm>
          <a:prstGeom prst="rect">
            <a:avLst/>
          </a:prstGeom>
          <a:solidFill>
            <a:srgbClr val="EEF2F8"/>
          </a:solidFill>
          <a:ln w="12700">
            <a:solidFill>
              <a:srgbClr val="9AA7B8"/>
            </a:solidFill>
            <a:prstDash val="solid"/>
          </a:ln>
        </p:spPr>
      </p:sp>
      <p:sp>
        <p:nvSpPr>
          <p:cNvPr id="15" name="Text 13"/>
          <p:cNvSpPr/>
          <p:nvPr/>
        </p:nvSpPr>
        <p:spPr>
          <a:xfrm>
            <a:off x="7818120" y="4187952"/>
            <a:ext cx="3703320" cy="320040"/>
          </a:xfrm>
          <a:prstGeom prst="rect">
            <a:avLst/>
          </a:prstGeom>
          <a:noFill/>
          <a:ln/>
        </p:spPr>
        <p:txBody>
          <a:bodyPr wrap="square" lIns="0" tIns="0" rIns="0" bIns="0" rtlCol="0" anchor="ctr"/>
          <a:lstStyle/>
          <a:p>
            <a:pPr marL="0" indent="0">
              <a:buNone/>
            </a:pPr>
            <a:r>
              <a:rPr lang="en-US" sz="1250" b="1" dirty="0">
                <a:solidFill>
                  <a:srgbClr val="1B3A6B"/>
                </a:solidFill>
                <a:latin typeface="Meiryo" pitchFamily="34" charset="0"/>
                <a:ea typeface="Meiryo" pitchFamily="34" charset="-122"/>
                <a:cs typeface="Meiryo" pitchFamily="34" charset="-120"/>
              </a:rPr>
              <a:t>注目ポイント</a:t>
            </a:r>
            <a:endParaRPr lang="en-US" sz="1250" dirty="0"/>
          </a:p>
        </p:txBody>
      </p:sp>
      <p:sp>
        <p:nvSpPr>
          <p:cNvPr id="16" name="Text 14"/>
          <p:cNvSpPr/>
          <p:nvPr/>
        </p:nvSpPr>
        <p:spPr>
          <a:xfrm>
            <a:off x="7818120" y="4553712"/>
            <a:ext cx="3703320" cy="1554480"/>
          </a:xfrm>
          <a:prstGeom prst="rect">
            <a:avLst/>
          </a:prstGeom>
          <a:noFill/>
          <a:ln/>
        </p:spPr>
        <p:txBody>
          <a:bodyPr wrap="square" lIns="0" tIns="0" rIns="0" bIns="0" rtlCol="0" anchor="t"/>
          <a:lstStyle/>
          <a:p>
            <a:pPr marL="342900" indent="-342900">
              <a:spcAft>
                <a:spcPts val="700"/>
              </a:spcAft>
              <a:buSzPct val="100000"/>
              <a:buChar char="•"/>
            </a:pPr>
            <a:r>
              <a:rPr lang="en-US" sz="950" dirty="0">
                <a:solidFill>
                  <a:srgbClr val="222222"/>
                </a:solidFill>
                <a:latin typeface="メイリオ" panose="020B0604030504040204" pitchFamily="50" charset="-128"/>
                <a:ea typeface="メイリオ" panose="020B0604030504040204" pitchFamily="50" charset="-128"/>
                <a:cs typeface="Meiryo" pitchFamily="34" charset="-120"/>
              </a:rPr>
              <a:t>市街地中心部の立地で、駅・市役所方面からのアクセス性が高い。</a:t>
            </a:r>
            <a:endParaRPr lang="en-US" sz="1000" dirty="0">
              <a:latin typeface="メイリオ" panose="020B0604030504040204" pitchFamily="50" charset="-128"/>
              <a:ea typeface="メイリオ" panose="020B0604030504040204" pitchFamily="50" charset="-128"/>
            </a:endParaRPr>
          </a:p>
          <a:p>
            <a:pPr marL="342900" indent="-342900">
              <a:spcAft>
                <a:spcPts val="700"/>
              </a:spcAft>
              <a:buSzPct val="100000"/>
              <a:buChar char="•"/>
            </a:pPr>
            <a:r>
              <a:rPr lang="en-US" sz="950" dirty="0">
                <a:solidFill>
                  <a:srgbClr val="222222"/>
                </a:solidFill>
                <a:latin typeface="メイリオ" panose="020B0604030504040204" pitchFamily="50" charset="-128"/>
                <a:ea typeface="メイリオ" panose="020B0604030504040204" pitchFamily="50" charset="-128"/>
                <a:cs typeface="Meiryo" pitchFamily="34" charset="-120"/>
              </a:rPr>
              <a:t>児発／放デイの一貫利用が可能な、市内では数少ないタイプ。</a:t>
            </a:r>
            <a:endParaRPr lang="en-US" sz="1000" dirty="0">
              <a:latin typeface="メイリオ" panose="020B0604030504040204" pitchFamily="50" charset="-128"/>
              <a:ea typeface="メイリオ" panose="020B0604030504040204" pitchFamily="50" charset="-128"/>
            </a:endParaRPr>
          </a:p>
          <a:p>
            <a:pPr marL="342900" indent="-342900">
              <a:spcAft>
                <a:spcPts val="700"/>
              </a:spcAft>
              <a:buSzPct val="100000"/>
              <a:buChar char="•"/>
            </a:pPr>
            <a:r>
              <a:rPr lang="en-US" sz="950" dirty="0">
                <a:solidFill>
                  <a:srgbClr val="222222"/>
                </a:solidFill>
                <a:latin typeface="メイリオ" panose="020B0604030504040204" pitchFamily="50" charset="-128"/>
                <a:ea typeface="メイリオ" panose="020B0604030504040204" pitchFamily="50" charset="-128"/>
                <a:cs typeface="Meiryo" pitchFamily="34" charset="-120"/>
              </a:rPr>
              <a:t>Web上の情報発信が乏しく、集客は行政・相談支援経由の紹介が中心と推察される。</a:t>
            </a:r>
            <a:endParaRPr lang="en-US" sz="1000" dirty="0">
              <a:latin typeface="メイリオ" panose="020B0604030504040204" pitchFamily="50" charset="-128"/>
              <a:ea typeface="メイリオ" panose="020B0604030504040204" pitchFamily="50" charset="-128"/>
            </a:endParaRPr>
          </a:p>
          <a:p>
            <a:pPr marL="342900" indent="-342900">
              <a:spcAft>
                <a:spcPts val="700"/>
              </a:spcAft>
              <a:buSzPct val="100000"/>
              <a:buChar char="•"/>
            </a:pPr>
            <a:r>
              <a:rPr lang="en-US" sz="950" dirty="0">
                <a:solidFill>
                  <a:srgbClr val="222222"/>
                </a:solidFill>
                <a:latin typeface="メイリオ" panose="020B0604030504040204" pitchFamily="50" charset="-128"/>
                <a:ea typeface="メイリオ" panose="020B0604030504040204" pitchFamily="50" charset="-128"/>
                <a:cs typeface="Meiryo" pitchFamily="34" charset="-120"/>
              </a:rPr>
              <a:t>情報発信の弱さは裏返せば、Web集客に強い事業所にとって切り崩しやすい競合といえる。</a:t>
            </a:r>
            <a:endParaRPr lang="en-US" sz="1000" dirty="0">
              <a:latin typeface="メイリオ" panose="020B0604030504040204" pitchFamily="50" charset="-128"/>
              <a:ea typeface="メイリオ" panose="020B0604030504040204" pitchFamily="50" charset="-128"/>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12188952" cy="932688"/>
          </a:xfrm>
          <a:prstGeom prst="rect">
            <a:avLst/>
          </a:prstGeom>
          <a:solidFill>
            <a:srgbClr val="1B3A6B"/>
          </a:solidFill>
          <a:ln/>
        </p:spPr>
      </p:sp>
      <p:sp>
        <p:nvSpPr>
          <p:cNvPr id="3" name="Shape 1"/>
          <p:cNvSpPr/>
          <p:nvPr/>
        </p:nvSpPr>
        <p:spPr>
          <a:xfrm>
            <a:off x="0" y="0"/>
            <a:ext cx="164592" cy="932688"/>
          </a:xfrm>
          <a:prstGeom prst="rect">
            <a:avLst/>
          </a:prstGeom>
          <a:solidFill>
            <a:srgbClr val="13294B"/>
          </a:solidFill>
          <a:ln/>
        </p:spPr>
      </p:sp>
      <p:sp>
        <p:nvSpPr>
          <p:cNvPr id="4" name="Text 2"/>
          <p:cNvSpPr/>
          <p:nvPr/>
        </p:nvSpPr>
        <p:spPr>
          <a:xfrm>
            <a:off x="502920" y="54864"/>
            <a:ext cx="8686800" cy="822960"/>
          </a:xfrm>
          <a:prstGeom prst="rect">
            <a:avLst/>
          </a:prstGeom>
          <a:noFill/>
          <a:ln/>
        </p:spPr>
        <p:txBody>
          <a:bodyPr wrap="square" lIns="0" tIns="0" rIns="0" bIns="0" rtlCol="0" anchor="ctr"/>
          <a:lstStyle/>
          <a:p>
            <a:pPr marL="0" indent="0">
              <a:buNone/>
            </a:pPr>
            <a:r>
              <a:rPr lang="en-US" sz="3000" b="1" dirty="0">
                <a:solidFill>
                  <a:srgbClr val="FFFFFF"/>
                </a:solidFill>
                <a:latin typeface="Meiryo" pitchFamily="34" charset="0"/>
                <a:ea typeface="Meiryo" pitchFamily="34" charset="-122"/>
                <a:cs typeface="Meiryo" pitchFamily="34" charset="-120"/>
              </a:rPr>
              <a:t>II．　事業所別 詳細</a:t>
            </a:r>
            <a:endParaRPr lang="en-US" sz="3000" dirty="0"/>
          </a:p>
        </p:txBody>
      </p:sp>
      <p:sp>
        <p:nvSpPr>
          <p:cNvPr id="5" name="Text 3"/>
          <p:cNvSpPr/>
          <p:nvPr/>
        </p:nvSpPr>
        <p:spPr>
          <a:xfrm>
            <a:off x="502920" y="1115568"/>
            <a:ext cx="8503920" cy="457200"/>
          </a:xfrm>
          <a:prstGeom prst="rect">
            <a:avLst/>
          </a:prstGeom>
          <a:noFill/>
          <a:ln/>
        </p:spPr>
        <p:txBody>
          <a:bodyPr wrap="square" lIns="0" tIns="0" rIns="0" bIns="0" rtlCol="0" anchor="ctr"/>
          <a:lstStyle/>
          <a:p>
            <a:pPr marL="0" indent="0">
              <a:buNone/>
            </a:pPr>
            <a:r>
              <a:rPr lang="en-US" sz="2100" b="1" dirty="0">
                <a:solidFill>
                  <a:srgbClr val="222222"/>
                </a:solidFill>
                <a:latin typeface="Meiryo" pitchFamily="34" charset="0"/>
                <a:ea typeface="Meiryo" pitchFamily="34" charset="-122"/>
                <a:cs typeface="Meiryo" pitchFamily="34" charset="-120"/>
              </a:rPr>
              <a:t>③ こどもプラス東金教室</a:t>
            </a:r>
            <a:endParaRPr lang="en-US" sz="2100" dirty="0"/>
          </a:p>
        </p:txBody>
      </p:sp>
      <p:sp>
        <p:nvSpPr>
          <p:cNvPr id="6" name="Shape 4"/>
          <p:cNvSpPr/>
          <p:nvPr/>
        </p:nvSpPr>
        <p:spPr>
          <a:xfrm>
            <a:off x="10104120" y="1170432"/>
            <a:ext cx="1600200" cy="457200"/>
          </a:xfrm>
          <a:prstGeom prst="rect">
            <a:avLst/>
          </a:prstGeom>
          <a:solidFill>
            <a:srgbClr val="FFFFFF"/>
          </a:solidFill>
          <a:ln w="15875">
            <a:solidFill>
              <a:srgbClr val="1B3A6B"/>
            </a:solidFill>
            <a:prstDash val="solid"/>
          </a:ln>
        </p:spPr>
      </p:sp>
      <p:sp>
        <p:nvSpPr>
          <p:cNvPr id="7" name="Text 5"/>
          <p:cNvSpPr/>
          <p:nvPr/>
        </p:nvSpPr>
        <p:spPr>
          <a:xfrm>
            <a:off x="10104120" y="1170432"/>
            <a:ext cx="1600200" cy="457200"/>
          </a:xfrm>
          <a:prstGeom prst="rect">
            <a:avLst/>
          </a:prstGeom>
          <a:noFill/>
          <a:ln/>
        </p:spPr>
        <p:txBody>
          <a:bodyPr wrap="square" lIns="0" tIns="0" rIns="0" bIns="0" rtlCol="0" anchor="ctr"/>
          <a:lstStyle/>
          <a:p>
            <a:pPr marL="0" indent="0" algn="ctr">
              <a:buNone/>
            </a:pPr>
            <a:r>
              <a:rPr lang="en-US" sz="1400" b="1" dirty="0">
                <a:solidFill>
                  <a:srgbClr val="1B3A6B"/>
                </a:solidFill>
                <a:latin typeface="Meiryo" pitchFamily="34" charset="0"/>
                <a:ea typeface="Meiryo" pitchFamily="34" charset="-122"/>
                <a:cs typeface="Meiryo" pitchFamily="34" charset="-120"/>
              </a:rPr>
              <a:t>東金市</a:t>
            </a:r>
            <a:endParaRPr lang="en-US" sz="1400" dirty="0"/>
          </a:p>
        </p:txBody>
      </p:sp>
      <p:sp>
        <p:nvSpPr>
          <p:cNvPr id="8" name="Text 6"/>
          <p:cNvSpPr/>
          <p:nvPr/>
        </p:nvSpPr>
        <p:spPr>
          <a:xfrm>
            <a:off x="502920" y="6510528"/>
            <a:ext cx="7315200" cy="274320"/>
          </a:xfrm>
          <a:prstGeom prst="rect">
            <a:avLst/>
          </a:prstGeom>
          <a:noFill/>
          <a:ln/>
        </p:spPr>
        <p:txBody>
          <a:bodyPr wrap="square" lIns="0" tIns="0" rIns="0" bIns="0" rtlCol="0" anchor="ctr"/>
          <a:lstStyle/>
          <a:p>
            <a:pPr marL="0" indent="0">
              <a:buNone/>
            </a:pPr>
            <a:r>
              <a:rPr lang="en-US" sz="850" dirty="0">
                <a:solidFill>
                  <a:srgbClr val="666666"/>
                </a:solidFill>
                <a:latin typeface="Meiryo" pitchFamily="34" charset="0"/>
                <a:ea typeface="Meiryo" pitchFamily="34" charset="-122"/>
                <a:cs typeface="Meiryo" pitchFamily="34" charset="-120"/>
              </a:rPr>
              <a:t>Copyright Funai Soken Group. All rights reserved.</a:t>
            </a:r>
            <a:endParaRPr lang="en-US" sz="850" dirty="0"/>
          </a:p>
        </p:txBody>
      </p:sp>
      <p:sp>
        <p:nvSpPr>
          <p:cNvPr id="9" name="Shape 7"/>
          <p:cNvSpPr/>
          <p:nvPr/>
        </p:nvSpPr>
        <p:spPr>
          <a:xfrm>
            <a:off x="502920" y="1783080"/>
            <a:ext cx="6903720" cy="4434840"/>
          </a:xfrm>
          <a:prstGeom prst="rect">
            <a:avLst/>
          </a:prstGeom>
          <a:solidFill>
            <a:srgbClr val="FFFFFF"/>
          </a:solidFill>
          <a:ln w="12700">
            <a:solidFill>
              <a:srgbClr val="9AA7B8"/>
            </a:solidFill>
            <a:prstDash val="solid"/>
          </a:ln>
          <a:effectLst>
            <a:outerShdw blurRad="63500" dist="25400" dir="8100000" algn="bl" rotWithShape="0">
              <a:srgbClr val="000000">
                <a:alpha val="12000"/>
              </a:srgbClr>
            </a:outerShdw>
          </a:effectLst>
        </p:spPr>
      </p:sp>
      <p:sp>
        <p:nvSpPr>
          <p:cNvPr id="10" name="Text 8"/>
          <p:cNvSpPr/>
          <p:nvPr/>
        </p:nvSpPr>
        <p:spPr>
          <a:xfrm>
            <a:off x="704088" y="1911096"/>
            <a:ext cx="6501384" cy="384048"/>
          </a:xfrm>
          <a:prstGeom prst="rect">
            <a:avLst/>
          </a:prstGeom>
          <a:noFill/>
          <a:ln/>
        </p:spPr>
        <p:txBody>
          <a:bodyPr wrap="square" lIns="0" tIns="0" rIns="0" bIns="0" rtlCol="0" anchor="ctr"/>
          <a:lstStyle/>
          <a:p>
            <a:pPr marL="0" indent="0">
              <a:buNone/>
            </a:pPr>
            <a:r>
              <a:rPr lang="en-US" sz="1400" b="1" dirty="0">
                <a:solidFill>
                  <a:srgbClr val="1B3A6B"/>
                </a:solidFill>
                <a:latin typeface="Meiryo" pitchFamily="34" charset="0"/>
                <a:ea typeface="Meiryo" pitchFamily="34" charset="-122"/>
                <a:cs typeface="Meiryo" pitchFamily="34" charset="-120"/>
              </a:rPr>
              <a:t>こどもプラス東金教室（運営：株式会社ベストグロウ）</a:t>
            </a:r>
            <a:endParaRPr lang="en-US" sz="1400" dirty="0"/>
          </a:p>
        </p:txBody>
      </p:sp>
      <p:sp>
        <p:nvSpPr>
          <p:cNvPr id="11" name="Text 9"/>
          <p:cNvSpPr/>
          <p:nvPr/>
        </p:nvSpPr>
        <p:spPr>
          <a:xfrm>
            <a:off x="704088" y="2331720"/>
            <a:ext cx="6501384" cy="3813048"/>
          </a:xfrm>
          <a:prstGeom prst="rect">
            <a:avLst/>
          </a:prstGeom>
          <a:noFill/>
          <a:ln/>
        </p:spPr>
        <p:txBody>
          <a:bodyPr wrap="square" lIns="0" tIns="0" rIns="0" bIns="0" rtlCol="0" anchor="t"/>
          <a:lstStyle/>
          <a:p>
            <a:pPr marL="0" indent="0">
              <a:lnSpc>
                <a:spcPct val="103000"/>
              </a:lnSpc>
              <a:buNone/>
            </a:pPr>
            <a:r>
              <a:rPr lang="en-US" sz="1050" b="1" dirty="0">
                <a:solidFill>
                  <a:srgbClr val="2E6BB8"/>
                </a:solidFill>
                <a:latin typeface="Meiryo" pitchFamily="34" charset="0"/>
                <a:ea typeface="Meiryo" pitchFamily="34" charset="-122"/>
                <a:cs typeface="Meiryo" pitchFamily="34" charset="-120"/>
              </a:rPr>
              <a:t>▶</a:t>
            </a:r>
            <a:r>
              <a:rPr lang="en-US" sz="1050" b="1" dirty="0">
                <a:solidFill>
                  <a:srgbClr val="222222"/>
                </a:solidFill>
                <a:latin typeface="Meiryo" pitchFamily="34" charset="0"/>
                <a:ea typeface="Meiryo" pitchFamily="34" charset="-122"/>
                <a:cs typeface="Meiryo" pitchFamily="34" charset="-120"/>
              </a:rPr>
              <a:t>対象：</a:t>
            </a:r>
            <a:r>
              <a:rPr lang="en-US" sz="1050" dirty="0">
                <a:solidFill>
                  <a:srgbClr val="222222"/>
                </a:solidFill>
                <a:latin typeface="Meiryo" pitchFamily="34" charset="0"/>
                <a:ea typeface="Meiryo" pitchFamily="34" charset="-122"/>
                <a:cs typeface="Meiryo" pitchFamily="34" charset="-120"/>
              </a:rPr>
              <a:t>未就学児（児童発達支援）／就学児（放課後等デイサービス）</a:t>
            </a:r>
            <a:endParaRPr lang="en-US" sz="1050" dirty="0"/>
          </a:p>
          <a:p>
            <a:pPr marL="0" indent="0">
              <a:lnSpc>
                <a:spcPct val="103000"/>
              </a:lnSpc>
              <a:buNone/>
            </a:pPr>
            <a:r>
              <a:rPr lang="en-US" sz="1050" b="1" dirty="0">
                <a:solidFill>
                  <a:srgbClr val="2E6BB8"/>
                </a:solidFill>
                <a:latin typeface="Meiryo" pitchFamily="34" charset="0"/>
                <a:ea typeface="Meiryo" pitchFamily="34" charset="-122"/>
                <a:cs typeface="Meiryo" pitchFamily="34" charset="-120"/>
              </a:rPr>
              <a:t>▶</a:t>
            </a:r>
            <a:r>
              <a:rPr lang="en-US" sz="1050" b="1" dirty="0">
                <a:solidFill>
                  <a:srgbClr val="222222"/>
                </a:solidFill>
                <a:latin typeface="Meiryo" pitchFamily="34" charset="0"/>
                <a:ea typeface="Meiryo" pitchFamily="34" charset="-122"/>
                <a:cs typeface="Meiryo" pitchFamily="34" charset="-120"/>
              </a:rPr>
              <a:t>住所：</a:t>
            </a:r>
            <a:r>
              <a:rPr lang="en-US" sz="1050" dirty="0">
                <a:solidFill>
                  <a:srgbClr val="222222"/>
                </a:solidFill>
                <a:latin typeface="Meiryo" pitchFamily="34" charset="0"/>
                <a:ea typeface="Meiryo" pitchFamily="34" charset="-122"/>
                <a:cs typeface="Meiryo" pitchFamily="34" charset="-120"/>
              </a:rPr>
              <a:t>千葉県東金市東新宿18-1 酒造ビル105号（JR東金線 東金駅から徒歩約7〜9分）</a:t>
            </a:r>
            <a:endParaRPr lang="en-US" sz="1050" dirty="0"/>
          </a:p>
          <a:p>
            <a:pPr marL="0" indent="0">
              <a:lnSpc>
                <a:spcPct val="103000"/>
              </a:lnSpc>
              <a:buNone/>
            </a:pPr>
            <a:r>
              <a:rPr lang="en-US" sz="1050" b="1" dirty="0">
                <a:solidFill>
                  <a:srgbClr val="2E6BB8"/>
                </a:solidFill>
                <a:latin typeface="Meiryo" pitchFamily="34" charset="0"/>
                <a:ea typeface="Meiryo" pitchFamily="34" charset="-122"/>
                <a:cs typeface="Meiryo" pitchFamily="34" charset="-120"/>
              </a:rPr>
              <a:t>▶</a:t>
            </a:r>
            <a:r>
              <a:rPr lang="en-US" sz="1050" b="1" dirty="0">
                <a:solidFill>
                  <a:srgbClr val="222222"/>
                </a:solidFill>
                <a:latin typeface="Meiryo" pitchFamily="34" charset="0"/>
                <a:ea typeface="Meiryo" pitchFamily="34" charset="-122"/>
                <a:cs typeface="Meiryo" pitchFamily="34" charset="-120"/>
              </a:rPr>
              <a:t>TEL／HP：</a:t>
            </a:r>
            <a:r>
              <a:rPr lang="en-US" sz="1050" dirty="0">
                <a:solidFill>
                  <a:srgbClr val="222222"/>
                </a:solidFill>
                <a:latin typeface="Meiryo" pitchFamily="34" charset="0"/>
                <a:ea typeface="Meiryo" pitchFamily="34" charset="-122"/>
                <a:cs typeface="Meiryo" pitchFamily="34" charset="-120"/>
              </a:rPr>
              <a:t>0475-77-8577 ／ kp-tougane.com</a:t>
            </a:r>
            <a:endParaRPr lang="en-US" sz="1050" dirty="0"/>
          </a:p>
          <a:p>
            <a:pPr marL="0" indent="0">
              <a:lnSpc>
                <a:spcPct val="103000"/>
              </a:lnSpc>
              <a:buNone/>
            </a:pPr>
            <a:r>
              <a:rPr lang="en-US" sz="1050" b="1" dirty="0">
                <a:solidFill>
                  <a:srgbClr val="2E6BB8"/>
                </a:solidFill>
                <a:latin typeface="Meiryo" pitchFamily="34" charset="0"/>
                <a:ea typeface="Meiryo" pitchFamily="34" charset="-122"/>
                <a:cs typeface="Meiryo" pitchFamily="34" charset="-120"/>
              </a:rPr>
              <a:t>▶</a:t>
            </a:r>
            <a:r>
              <a:rPr lang="en-US" sz="1050" b="1" dirty="0">
                <a:solidFill>
                  <a:srgbClr val="222222"/>
                </a:solidFill>
                <a:latin typeface="Meiryo" pitchFamily="34" charset="0"/>
                <a:ea typeface="Meiryo" pitchFamily="34" charset="-122"/>
                <a:cs typeface="Meiryo" pitchFamily="34" charset="-120"/>
              </a:rPr>
              <a:t>サービス提供時間：</a:t>
            </a:r>
            <a:r>
              <a:rPr lang="en-US" sz="1050" dirty="0">
                <a:solidFill>
                  <a:srgbClr val="222222"/>
                </a:solidFill>
                <a:latin typeface="Meiryo" pitchFamily="34" charset="0"/>
                <a:ea typeface="Meiryo" pitchFamily="34" charset="-122"/>
                <a:cs typeface="Meiryo" pitchFamily="34" charset="-120"/>
              </a:rPr>
              <a:t>平日 9:00〜18:00　※送迎あり／開設：2015年7月1日</a:t>
            </a:r>
            <a:endParaRPr lang="en-US" sz="1050" dirty="0"/>
          </a:p>
          <a:p>
            <a:pPr marL="0" indent="0">
              <a:lnSpc>
                <a:spcPct val="103000"/>
              </a:lnSpc>
              <a:spcAft>
                <a:spcPts val="500"/>
              </a:spcAft>
              <a:buNone/>
            </a:pPr>
            <a:endParaRPr lang="en-US" sz="1050" dirty="0"/>
          </a:p>
          <a:p>
            <a:pPr marL="0" indent="0">
              <a:lnSpc>
                <a:spcPct val="103000"/>
              </a:lnSpc>
              <a:buNone/>
            </a:pPr>
            <a:r>
              <a:rPr lang="en-US" sz="1050" b="1" dirty="0">
                <a:solidFill>
                  <a:srgbClr val="2E6BB8"/>
                </a:solidFill>
                <a:latin typeface="Meiryo" pitchFamily="34" charset="0"/>
                <a:ea typeface="Meiryo" pitchFamily="34" charset="-122"/>
                <a:cs typeface="Meiryo" pitchFamily="34" charset="-120"/>
              </a:rPr>
              <a:t>▶</a:t>
            </a:r>
            <a:r>
              <a:rPr lang="en-US" sz="1050" b="1" dirty="0">
                <a:solidFill>
                  <a:srgbClr val="222222"/>
                </a:solidFill>
                <a:latin typeface="Meiryo" pitchFamily="34" charset="0"/>
                <a:ea typeface="Meiryo" pitchFamily="34" charset="-122"/>
                <a:cs typeface="Meiryo" pitchFamily="34" charset="-120"/>
              </a:rPr>
              <a:t>療育プログラムの特徴：</a:t>
            </a:r>
            <a:r>
              <a:rPr lang="en-US" sz="1050" dirty="0">
                <a:solidFill>
                  <a:srgbClr val="222222"/>
                </a:solidFill>
                <a:latin typeface="Meiryo" pitchFamily="34" charset="0"/>
                <a:ea typeface="Meiryo" pitchFamily="34" charset="-122"/>
                <a:cs typeface="Meiryo" pitchFamily="34" charset="-120"/>
              </a:rPr>
              <a:t>運動療育を主軸に、学習・あそびを取り入れた総合的な療育を提供。</a:t>
            </a:r>
            <a:endParaRPr lang="en-US" sz="1050" dirty="0"/>
          </a:p>
          <a:p>
            <a:pPr marL="0" indent="0">
              <a:lnSpc>
                <a:spcPct val="103000"/>
              </a:lnSpc>
              <a:spcAft>
                <a:spcPts val="500"/>
              </a:spcAft>
              <a:buNone/>
            </a:pPr>
            <a:r>
              <a:rPr lang="en-US" sz="1050" dirty="0">
                <a:solidFill>
                  <a:srgbClr val="222222"/>
                </a:solidFill>
                <a:latin typeface="Meiryo" pitchFamily="34" charset="0"/>
                <a:ea typeface="Meiryo" pitchFamily="34" charset="-122"/>
                <a:cs typeface="Meiryo" pitchFamily="34" charset="-120"/>
              </a:rPr>
              <a:t>・「柳沢運動プログラム」を導入。運動あそびが大脳活動の発達を促すという理論に基づくカリキュラム。</a:t>
            </a:r>
            <a:endParaRPr lang="en-US" sz="1050" dirty="0"/>
          </a:p>
          <a:p>
            <a:pPr marL="0" indent="0">
              <a:lnSpc>
                <a:spcPct val="103000"/>
              </a:lnSpc>
              <a:spcAft>
                <a:spcPts val="500"/>
              </a:spcAft>
              <a:buNone/>
            </a:pPr>
            <a:r>
              <a:rPr lang="en-US" sz="1050" dirty="0">
                <a:solidFill>
                  <a:srgbClr val="222222"/>
                </a:solidFill>
                <a:latin typeface="Meiryo" pitchFamily="34" charset="0"/>
                <a:ea typeface="Meiryo" pitchFamily="34" charset="-122"/>
                <a:cs typeface="Meiryo" pitchFamily="34" charset="-120"/>
              </a:rPr>
              <a:t>・全身の筋力向上・けがの減少に加え、情緒の安定、切り替えの上達、ルール理解の定着を効果として掲げる。</a:t>
            </a:r>
            <a:endParaRPr lang="en-US" sz="1050" dirty="0"/>
          </a:p>
          <a:p>
            <a:pPr marL="0" indent="0">
              <a:lnSpc>
                <a:spcPct val="103000"/>
              </a:lnSpc>
              <a:spcAft>
                <a:spcPts val="500"/>
              </a:spcAft>
              <a:buNone/>
            </a:pPr>
            <a:r>
              <a:rPr lang="en-US" sz="1050" dirty="0">
                <a:solidFill>
                  <a:srgbClr val="222222"/>
                </a:solidFill>
                <a:latin typeface="Meiryo" pitchFamily="34" charset="0"/>
                <a:ea typeface="Meiryo" pitchFamily="34" charset="-122"/>
                <a:cs typeface="Meiryo" pitchFamily="34" charset="-120"/>
              </a:rPr>
              <a:t>・運営法人は千葉県内に児発・放デイ・相談支援あわせて10事業所を展開（本社：東金市道庭925-1）。</a:t>
            </a:r>
            <a:endParaRPr lang="en-US" sz="1050" dirty="0"/>
          </a:p>
          <a:p>
            <a:pPr marL="0" indent="0">
              <a:lnSpc>
                <a:spcPct val="103000"/>
              </a:lnSpc>
              <a:spcAft>
                <a:spcPts val="500"/>
              </a:spcAft>
              <a:buNone/>
            </a:pPr>
            <a:endParaRPr lang="en-US" sz="1050" dirty="0"/>
          </a:p>
          <a:p>
            <a:pPr marL="0" indent="0">
              <a:lnSpc>
                <a:spcPct val="103000"/>
              </a:lnSpc>
              <a:buNone/>
            </a:pPr>
            <a:r>
              <a:rPr lang="en-US" sz="1050" b="1" dirty="0">
                <a:solidFill>
                  <a:srgbClr val="2E6BB8"/>
                </a:solidFill>
                <a:latin typeface="Meiryo" pitchFamily="34" charset="0"/>
                <a:ea typeface="Meiryo" pitchFamily="34" charset="-122"/>
                <a:cs typeface="Meiryo" pitchFamily="34" charset="-120"/>
              </a:rPr>
              <a:t>▶</a:t>
            </a:r>
            <a:r>
              <a:rPr lang="en-US" sz="1050" b="1" dirty="0">
                <a:solidFill>
                  <a:srgbClr val="222222"/>
                </a:solidFill>
                <a:latin typeface="Meiryo" pitchFamily="34" charset="0"/>
                <a:ea typeface="Meiryo" pitchFamily="34" charset="-122"/>
                <a:cs typeface="Meiryo" pitchFamily="34" charset="-120"/>
              </a:rPr>
              <a:t>出典：</a:t>
            </a:r>
            <a:r>
              <a:rPr lang="en-US" sz="1050" dirty="0">
                <a:solidFill>
                  <a:srgbClr val="222222"/>
                </a:solidFill>
                <a:latin typeface="Meiryo" pitchFamily="34" charset="0"/>
                <a:ea typeface="Meiryo" pitchFamily="34" charset="-122"/>
                <a:cs typeface="Meiryo" pitchFamily="34" charset="-120"/>
              </a:rPr>
              <a:t>公式HP kp-tougane.com／WAM NET／障害者ドットコム／児発ねっと</a:t>
            </a:r>
            <a:endParaRPr lang="en-US" sz="1050" dirty="0"/>
          </a:p>
          <a:p>
            <a:pPr marL="0" indent="0">
              <a:lnSpc>
                <a:spcPct val="103000"/>
              </a:lnSpc>
              <a:buNone/>
            </a:pPr>
            <a:r>
              <a:rPr lang="en-US" sz="1050" b="1" dirty="0">
                <a:solidFill>
                  <a:srgbClr val="2E6BB8"/>
                </a:solidFill>
                <a:latin typeface="Meiryo" pitchFamily="34" charset="0"/>
                <a:ea typeface="Meiryo" pitchFamily="34" charset="-122"/>
                <a:cs typeface="Meiryo" pitchFamily="34" charset="-120"/>
              </a:rPr>
              <a:t>▶</a:t>
            </a:r>
            <a:r>
              <a:rPr lang="en-US" sz="1050" b="1" dirty="0">
                <a:solidFill>
                  <a:srgbClr val="222222"/>
                </a:solidFill>
                <a:latin typeface="Meiryo" pitchFamily="34" charset="0"/>
                <a:ea typeface="Meiryo" pitchFamily="34" charset="-122"/>
                <a:cs typeface="Meiryo" pitchFamily="34" charset="-120"/>
              </a:rPr>
              <a:t>要確認事項：</a:t>
            </a:r>
            <a:r>
              <a:rPr lang="en-US" sz="1050" dirty="0">
                <a:solidFill>
                  <a:srgbClr val="222222"/>
                </a:solidFill>
                <a:latin typeface="Meiryo" pitchFamily="34" charset="0"/>
                <a:ea typeface="Meiryo" pitchFamily="34" charset="-122"/>
                <a:cs typeface="Meiryo" pitchFamily="34" charset="-120"/>
              </a:rPr>
              <a:t>定員、現在の空き状況、送迎範囲、児童発達支援と放課後等デイサービスの時間帯区分</a:t>
            </a:r>
            <a:endParaRPr lang="en-US" sz="1050" dirty="0"/>
          </a:p>
        </p:txBody>
      </p:sp>
      <p:sp>
        <p:nvSpPr>
          <p:cNvPr id="13" name="Text 11"/>
          <p:cNvSpPr/>
          <p:nvPr/>
        </p:nvSpPr>
        <p:spPr>
          <a:xfrm>
            <a:off x="7635240" y="1783080"/>
            <a:ext cx="4069080" cy="2148840"/>
          </a:xfrm>
          <a:prstGeom prst="rect">
            <a:avLst/>
          </a:prstGeom>
          <a:solidFill>
            <a:srgbClr val="F4F6FA"/>
          </a:solidFill>
          <a:ln w="12700">
            <a:solidFill>
              <a:srgbClr val="9AA7B8"/>
            </a:solidFill>
            <a:prstDash val="dash"/>
          </a:ln>
        </p:spPr>
        <p:txBody>
          <a:bodyPr wrap="square" lIns="91440" tIns="45720" rIns="91440" bIns="45720" rtlCol="0" anchor="ctr"/>
          <a:lstStyle/>
          <a:p>
            <a:pPr marL="0" indent="0" algn="ctr">
              <a:lnSpc>
                <a:spcPct val="110000"/>
              </a:lnSpc>
              <a:buNone/>
            </a:pPr>
            <a:r>
              <a:rPr lang="en-US" sz="1200" b="1" dirty="0">
                <a:solidFill>
                  <a:srgbClr val="8A99AD"/>
                </a:solidFill>
                <a:latin typeface="Meiryo" pitchFamily="34" charset="0"/>
                <a:ea typeface="Meiryo" pitchFamily="34" charset="-122"/>
                <a:cs typeface="Meiryo" pitchFamily="34" charset="-120"/>
              </a:rPr>
              <a:t>［ 写真挿入エリア ］</a:t>
            </a:r>
            <a:endParaRPr lang="en-US" sz="1200" dirty="0"/>
          </a:p>
          <a:p>
            <a:pPr marL="0" indent="0" algn="ctr">
              <a:lnSpc>
                <a:spcPct val="110000"/>
              </a:lnSpc>
              <a:buNone/>
            </a:pPr>
            <a:r>
              <a:rPr lang="en-US" sz="950" dirty="0">
                <a:solidFill>
                  <a:srgbClr val="97A4B6"/>
                </a:solidFill>
                <a:latin typeface="Meiryo" pitchFamily="34" charset="0"/>
                <a:ea typeface="Meiryo" pitchFamily="34" charset="-122"/>
                <a:cs typeface="Meiryo" pitchFamily="34" charset="-120"/>
              </a:rPr>
              <a:t>（公式HP kp-tougane.com 掲載の教室・運動あそびの写真を挿入）</a:t>
            </a:r>
            <a:endParaRPr lang="en-US" sz="1200" dirty="0"/>
          </a:p>
        </p:txBody>
      </p:sp>
      <p:sp>
        <p:nvSpPr>
          <p:cNvPr id="14" name="Shape 12"/>
          <p:cNvSpPr/>
          <p:nvPr/>
        </p:nvSpPr>
        <p:spPr>
          <a:xfrm>
            <a:off x="7635240" y="4069080"/>
            <a:ext cx="4069080" cy="2148840"/>
          </a:xfrm>
          <a:prstGeom prst="rect">
            <a:avLst/>
          </a:prstGeom>
          <a:solidFill>
            <a:srgbClr val="EEF2F8"/>
          </a:solidFill>
          <a:ln w="12700">
            <a:solidFill>
              <a:srgbClr val="9AA7B8"/>
            </a:solidFill>
            <a:prstDash val="solid"/>
          </a:ln>
        </p:spPr>
      </p:sp>
      <p:sp>
        <p:nvSpPr>
          <p:cNvPr id="15" name="Text 13"/>
          <p:cNvSpPr/>
          <p:nvPr/>
        </p:nvSpPr>
        <p:spPr>
          <a:xfrm>
            <a:off x="7818120" y="4187952"/>
            <a:ext cx="3703320" cy="320040"/>
          </a:xfrm>
          <a:prstGeom prst="rect">
            <a:avLst/>
          </a:prstGeom>
          <a:noFill/>
          <a:ln/>
        </p:spPr>
        <p:txBody>
          <a:bodyPr wrap="square" lIns="0" tIns="0" rIns="0" bIns="0" rtlCol="0" anchor="ctr"/>
          <a:lstStyle/>
          <a:p>
            <a:pPr marL="0" indent="0">
              <a:buNone/>
            </a:pPr>
            <a:r>
              <a:rPr lang="en-US" sz="1250" b="1" dirty="0">
                <a:solidFill>
                  <a:srgbClr val="1B3A6B"/>
                </a:solidFill>
                <a:latin typeface="Meiryo" pitchFamily="34" charset="0"/>
                <a:ea typeface="Meiryo" pitchFamily="34" charset="-122"/>
                <a:cs typeface="Meiryo" pitchFamily="34" charset="-120"/>
              </a:rPr>
              <a:t>注目ポイント</a:t>
            </a:r>
            <a:endParaRPr lang="en-US" sz="1250" dirty="0"/>
          </a:p>
        </p:txBody>
      </p:sp>
      <p:sp>
        <p:nvSpPr>
          <p:cNvPr id="16" name="Text 14"/>
          <p:cNvSpPr/>
          <p:nvPr/>
        </p:nvSpPr>
        <p:spPr>
          <a:xfrm>
            <a:off x="7818120" y="4553712"/>
            <a:ext cx="3703320" cy="1554480"/>
          </a:xfrm>
          <a:prstGeom prst="rect">
            <a:avLst/>
          </a:prstGeom>
          <a:noFill/>
          <a:ln/>
        </p:spPr>
        <p:txBody>
          <a:bodyPr wrap="square" lIns="0" tIns="0" rIns="0" bIns="0" rtlCol="0" anchor="t"/>
          <a:lstStyle/>
          <a:p>
            <a:pPr marL="342900" indent="-342900">
              <a:spcAft>
                <a:spcPts val="700"/>
              </a:spcAft>
              <a:buSzPct val="100000"/>
              <a:buChar char="•"/>
            </a:pPr>
            <a:r>
              <a:rPr lang="en-US" sz="950" dirty="0">
                <a:solidFill>
                  <a:srgbClr val="222222"/>
                </a:solidFill>
                <a:latin typeface="メイリオ" panose="020B0604030504040204" pitchFamily="50" charset="-128"/>
                <a:ea typeface="メイリオ" panose="020B0604030504040204" pitchFamily="50" charset="-128"/>
                <a:cs typeface="Meiryo" pitchFamily="34" charset="-120"/>
              </a:rPr>
              <a:t>東金駅至近＋送迎ありで、通所利便性は市内トップクラス。</a:t>
            </a:r>
            <a:endParaRPr lang="en-US" sz="1000" dirty="0">
              <a:latin typeface="メイリオ" panose="020B0604030504040204" pitchFamily="50" charset="-128"/>
              <a:ea typeface="メイリオ" panose="020B0604030504040204" pitchFamily="50" charset="-128"/>
            </a:endParaRPr>
          </a:p>
          <a:p>
            <a:pPr marL="342900" indent="-342900">
              <a:spcAft>
                <a:spcPts val="700"/>
              </a:spcAft>
              <a:buSzPct val="100000"/>
              <a:buChar char="•"/>
            </a:pPr>
            <a:r>
              <a:rPr lang="en-US" sz="950" dirty="0">
                <a:solidFill>
                  <a:srgbClr val="222222"/>
                </a:solidFill>
                <a:latin typeface="メイリオ" panose="020B0604030504040204" pitchFamily="50" charset="-128"/>
                <a:ea typeface="メイリオ" panose="020B0604030504040204" pitchFamily="50" charset="-128"/>
                <a:cs typeface="Meiryo" pitchFamily="34" charset="-120"/>
              </a:rPr>
              <a:t>「運動療育」という明確なプログラム軸を打ち出し、Webでの情報発信量も市内最大級。</a:t>
            </a:r>
            <a:endParaRPr lang="en-US" sz="1000" dirty="0">
              <a:latin typeface="メイリオ" panose="020B0604030504040204" pitchFamily="50" charset="-128"/>
              <a:ea typeface="メイリオ" panose="020B0604030504040204" pitchFamily="50" charset="-128"/>
            </a:endParaRPr>
          </a:p>
          <a:p>
            <a:pPr marL="342900" indent="-342900">
              <a:spcAft>
                <a:spcPts val="700"/>
              </a:spcAft>
              <a:buSzPct val="100000"/>
              <a:buChar char="•"/>
            </a:pPr>
            <a:r>
              <a:rPr lang="en-US" sz="950" dirty="0">
                <a:solidFill>
                  <a:srgbClr val="222222"/>
                </a:solidFill>
                <a:latin typeface="メイリオ" panose="020B0604030504040204" pitchFamily="50" charset="-128"/>
                <a:ea typeface="メイリオ" panose="020B0604030504040204" pitchFamily="50" charset="-128"/>
                <a:cs typeface="Meiryo" pitchFamily="34" charset="-120"/>
              </a:rPr>
              <a:t>同一法人の第2教室・相談支援事業所と連携し、相談から通所まで法人内で完結する導線を構築。</a:t>
            </a:r>
            <a:endParaRPr lang="en-US" sz="1000" dirty="0">
              <a:latin typeface="メイリオ" panose="020B0604030504040204" pitchFamily="50" charset="-128"/>
              <a:ea typeface="メイリオ" panose="020B0604030504040204" pitchFamily="50" charset="-128"/>
            </a:endParaRPr>
          </a:p>
          <a:p>
            <a:pPr marL="342900" indent="-342900">
              <a:spcAft>
                <a:spcPts val="700"/>
              </a:spcAft>
              <a:buSzPct val="100000"/>
              <a:buChar char="•"/>
            </a:pPr>
            <a:r>
              <a:rPr lang="en-US" sz="950" dirty="0">
                <a:solidFill>
                  <a:srgbClr val="222222"/>
                </a:solidFill>
                <a:latin typeface="メイリオ" panose="020B0604030504040204" pitchFamily="50" charset="-128"/>
                <a:ea typeface="メイリオ" panose="020B0604030504040204" pitchFamily="50" charset="-128"/>
                <a:cs typeface="Meiryo" pitchFamily="34" charset="-120"/>
              </a:rPr>
              <a:t>市内で最も認知度・集客力が高いと推察され、実質的なベンチマーク先となる事業所。</a:t>
            </a:r>
            <a:endParaRPr lang="en-US" sz="1000" dirty="0">
              <a:latin typeface="メイリオ" panose="020B0604030504040204" pitchFamily="50" charset="-128"/>
              <a:ea typeface="メイリオ" panose="020B0604030504040204" pitchFamily="50" charset="-128"/>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12188952" cy="932688"/>
          </a:xfrm>
          <a:prstGeom prst="rect">
            <a:avLst/>
          </a:prstGeom>
          <a:solidFill>
            <a:srgbClr val="1B3A6B"/>
          </a:solidFill>
          <a:ln/>
        </p:spPr>
      </p:sp>
      <p:sp>
        <p:nvSpPr>
          <p:cNvPr id="3" name="Shape 1"/>
          <p:cNvSpPr/>
          <p:nvPr/>
        </p:nvSpPr>
        <p:spPr>
          <a:xfrm>
            <a:off x="0" y="0"/>
            <a:ext cx="164592" cy="932688"/>
          </a:xfrm>
          <a:prstGeom prst="rect">
            <a:avLst/>
          </a:prstGeom>
          <a:solidFill>
            <a:srgbClr val="13294B"/>
          </a:solidFill>
          <a:ln/>
        </p:spPr>
      </p:sp>
      <p:sp>
        <p:nvSpPr>
          <p:cNvPr id="4" name="Text 2"/>
          <p:cNvSpPr/>
          <p:nvPr/>
        </p:nvSpPr>
        <p:spPr>
          <a:xfrm>
            <a:off x="502920" y="54864"/>
            <a:ext cx="8686800" cy="822960"/>
          </a:xfrm>
          <a:prstGeom prst="rect">
            <a:avLst/>
          </a:prstGeom>
          <a:noFill/>
          <a:ln/>
        </p:spPr>
        <p:txBody>
          <a:bodyPr wrap="square" lIns="0" tIns="0" rIns="0" bIns="0" rtlCol="0" anchor="ctr"/>
          <a:lstStyle/>
          <a:p>
            <a:pPr marL="0" indent="0">
              <a:buNone/>
            </a:pPr>
            <a:r>
              <a:rPr lang="en-US" sz="3000" b="1" dirty="0">
                <a:solidFill>
                  <a:srgbClr val="FFFFFF"/>
                </a:solidFill>
                <a:latin typeface="Meiryo" pitchFamily="34" charset="0"/>
                <a:ea typeface="Meiryo" pitchFamily="34" charset="-122"/>
                <a:cs typeface="Meiryo" pitchFamily="34" charset="-120"/>
              </a:rPr>
              <a:t>II．　事業所別 詳細</a:t>
            </a:r>
            <a:endParaRPr lang="en-US" sz="3000" dirty="0"/>
          </a:p>
        </p:txBody>
      </p:sp>
      <p:sp>
        <p:nvSpPr>
          <p:cNvPr id="5" name="Text 3"/>
          <p:cNvSpPr/>
          <p:nvPr/>
        </p:nvSpPr>
        <p:spPr>
          <a:xfrm>
            <a:off x="502920" y="1115568"/>
            <a:ext cx="8503920" cy="457200"/>
          </a:xfrm>
          <a:prstGeom prst="rect">
            <a:avLst/>
          </a:prstGeom>
          <a:noFill/>
          <a:ln/>
        </p:spPr>
        <p:txBody>
          <a:bodyPr wrap="square" lIns="0" tIns="0" rIns="0" bIns="0" rtlCol="0" anchor="ctr"/>
          <a:lstStyle/>
          <a:p>
            <a:pPr marL="0" indent="0">
              <a:buNone/>
            </a:pPr>
            <a:r>
              <a:rPr lang="en-US" sz="2100" b="1" dirty="0">
                <a:solidFill>
                  <a:srgbClr val="222222"/>
                </a:solidFill>
                <a:latin typeface="Meiryo" pitchFamily="34" charset="0"/>
                <a:ea typeface="Meiryo" pitchFamily="34" charset="-122"/>
                <a:cs typeface="Meiryo" pitchFamily="34" charset="-120"/>
              </a:rPr>
              <a:t>④ こどもプラス第2東金教室</a:t>
            </a:r>
            <a:endParaRPr lang="en-US" sz="2100" dirty="0"/>
          </a:p>
        </p:txBody>
      </p:sp>
      <p:sp>
        <p:nvSpPr>
          <p:cNvPr id="6" name="Shape 4"/>
          <p:cNvSpPr/>
          <p:nvPr/>
        </p:nvSpPr>
        <p:spPr>
          <a:xfrm>
            <a:off x="10104120" y="1170432"/>
            <a:ext cx="1600200" cy="457200"/>
          </a:xfrm>
          <a:prstGeom prst="rect">
            <a:avLst/>
          </a:prstGeom>
          <a:solidFill>
            <a:srgbClr val="FFFFFF"/>
          </a:solidFill>
          <a:ln w="15875">
            <a:solidFill>
              <a:srgbClr val="1B3A6B"/>
            </a:solidFill>
            <a:prstDash val="solid"/>
          </a:ln>
        </p:spPr>
      </p:sp>
      <p:sp>
        <p:nvSpPr>
          <p:cNvPr id="7" name="Text 5"/>
          <p:cNvSpPr/>
          <p:nvPr/>
        </p:nvSpPr>
        <p:spPr>
          <a:xfrm>
            <a:off x="10104120" y="1170432"/>
            <a:ext cx="1600200" cy="457200"/>
          </a:xfrm>
          <a:prstGeom prst="rect">
            <a:avLst/>
          </a:prstGeom>
          <a:noFill/>
          <a:ln/>
        </p:spPr>
        <p:txBody>
          <a:bodyPr wrap="square" lIns="0" tIns="0" rIns="0" bIns="0" rtlCol="0" anchor="ctr"/>
          <a:lstStyle/>
          <a:p>
            <a:pPr marL="0" indent="0" algn="ctr">
              <a:buNone/>
            </a:pPr>
            <a:r>
              <a:rPr lang="en-US" sz="1400" b="1" dirty="0">
                <a:solidFill>
                  <a:srgbClr val="1B3A6B"/>
                </a:solidFill>
                <a:latin typeface="Meiryo" pitchFamily="34" charset="0"/>
                <a:ea typeface="Meiryo" pitchFamily="34" charset="-122"/>
                <a:cs typeface="Meiryo" pitchFamily="34" charset="-120"/>
              </a:rPr>
              <a:t>東金市</a:t>
            </a:r>
            <a:endParaRPr lang="en-US" sz="1400" dirty="0"/>
          </a:p>
        </p:txBody>
      </p:sp>
      <p:sp>
        <p:nvSpPr>
          <p:cNvPr id="8" name="Text 6"/>
          <p:cNvSpPr/>
          <p:nvPr/>
        </p:nvSpPr>
        <p:spPr>
          <a:xfrm>
            <a:off x="502920" y="6510528"/>
            <a:ext cx="7315200" cy="274320"/>
          </a:xfrm>
          <a:prstGeom prst="rect">
            <a:avLst/>
          </a:prstGeom>
          <a:noFill/>
          <a:ln/>
        </p:spPr>
        <p:txBody>
          <a:bodyPr wrap="square" lIns="0" tIns="0" rIns="0" bIns="0" rtlCol="0" anchor="ctr"/>
          <a:lstStyle/>
          <a:p>
            <a:pPr marL="0" indent="0">
              <a:buNone/>
            </a:pPr>
            <a:r>
              <a:rPr lang="en-US" sz="850" dirty="0">
                <a:solidFill>
                  <a:srgbClr val="666666"/>
                </a:solidFill>
                <a:latin typeface="Meiryo" pitchFamily="34" charset="0"/>
                <a:ea typeface="Meiryo" pitchFamily="34" charset="-122"/>
                <a:cs typeface="Meiryo" pitchFamily="34" charset="-120"/>
              </a:rPr>
              <a:t>Copyright Funai Soken Group. All rights reserved.</a:t>
            </a:r>
            <a:endParaRPr lang="en-US" sz="850" dirty="0"/>
          </a:p>
        </p:txBody>
      </p:sp>
      <p:sp>
        <p:nvSpPr>
          <p:cNvPr id="9" name="Shape 7"/>
          <p:cNvSpPr/>
          <p:nvPr/>
        </p:nvSpPr>
        <p:spPr>
          <a:xfrm>
            <a:off x="502920" y="1783080"/>
            <a:ext cx="6903720" cy="4434840"/>
          </a:xfrm>
          <a:prstGeom prst="rect">
            <a:avLst/>
          </a:prstGeom>
          <a:solidFill>
            <a:srgbClr val="FFFFFF"/>
          </a:solidFill>
          <a:ln w="12700">
            <a:solidFill>
              <a:srgbClr val="9AA7B8"/>
            </a:solidFill>
            <a:prstDash val="solid"/>
          </a:ln>
          <a:effectLst>
            <a:outerShdw blurRad="63500" dist="25400" dir="8100000" algn="bl" rotWithShape="0">
              <a:srgbClr val="000000">
                <a:alpha val="12000"/>
              </a:srgbClr>
            </a:outerShdw>
          </a:effectLst>
        </p:spPr>
      </p:sp>
      <p:sp>
        <p:nvSpPr>
          <p:cNvPr id="10" name="Text 8"/>
          <p:cNvSpPr/>
          <p:nvPr/>
        </p:nvSpPr>
        <p:spPr>
          <a:xfrm>
            <a:off x="704088" y="1911096"/>
            <a:ext cx="6501384" cy="384048"/>
          </a:xfrm>
          <a:prstGeom prst="rect">
            <a:avLst/>
          </a:prstGeom>
          <a:noFill/>
          <a:ln/>
        </p:spPr>
        <p:txBody>
          <a:bodyPr wrap="square" lIns="0" tIns="0" rIns="0" bIns="0" rtlCol="0" anchor="ctr"/>
          <a:lstStyle/>
          <a:p>
            <a:pPr marL="0" indent="0">
              <a:buNone/>
            </a:pPr>
            <a:r>
              <a:rPr lang="en-US" sz="1400" b="1" dirty="0">
                <a:solidFill>
                  <a:srgbClr val="1B3A6B"/>
                </a:solidFill>
                <a:latin typeface="Meiryo" pitchFamily="34" charset="0"/>
                <a:ea typeface="Meiryo" pitchFamily="34" charset="-122"/>
                <a:cs typeface="Meiryo" pitchFamily="34" charset="-120"/>
              </a:rPr>
              <a:t>こどもプラス第2東金教室（運営：株式会社ベストグロウ）</a:t>
            </a:r>
            <a:endParaRPr lang="en-US" sz="1400" dirty="0"/>
          </a:p>
        </p:txBody>
      </p:sp>
      <p:sp>
        <p:nvSpPr>
          <p:cNvPr id="11" name="Text 9"/>
          <p:cNvSpPr/>
          <p:nvPr/>
        </p:nvSpPr>
        <p:spPr>
          <a:xfrm>
            <a:off x="704088" y="2331720"/>
            <a:ext cx="6501384" cy="3813048"/>
          </a:xfrm>
          <a:prstGeom prst="rect">
            <a:avLst/>
          </a:prstGeom>
          <a:noFill/>
          <a:ln/>
        </p:spPr>
        <p:txBody>
          <a:bodyPr wrap="square" lIns="0" tIns="0" rIns="0" bIns="0" rtlCol="0" anchor="t"/>
          <a:lstStyle/>
          <a:p>
            <a:pPr marL="0" indent="0">
              <a:lnSpc>
                <a:spcPct val="103000"/>
              </a:lnSpc>
              <a:buNone/>
            </a:pPr>
            <a:r>
              <a:rPr lang="en-US" sz="1050" b="1" dirty="0">
                <a:solidFill>
                  <a:srgbClr val="2E6BB8"/>
                </a:solidFill>
                <a:latin typeface="Meiryo" pitchFamily="34" charset="0"/>
                <a:ea typeface="Meiryo" pitchFamily="34" charset="-122"/>
                <a:cs typeface="Meiryo" pitchFamily="34" charset="-120"/>
              </a:rPr>
              <a:t>▶</a:t>
            </a:r>
            <a:r>
              <a:rPr lang="en-US" sz="1050" b="1" dirty="0">
                <a:solidFill>
                  <a:srgbClr val="222222"/>
                </a:solidFill>
                <a:latin typeface="Meiryo" pitchFamily="34" charset="0"/>
                <a:ea typeface="Meiryo" pitchFamily="34" charset="-122"/>
                <a:cs typeface="Meiryo" pitchFamily="34" charset="-120"/>
              </a:rPr>
              <a:t>対象：</a:t>
            </a:r>
            <a:r>
              <a:rPr lang="en-US" sz="1050" dirty="0">
                <a:solidFill>
                  <a:srgbClr val="222222"/>
                </a:solidFill>
                <a:latin typeface="Meiryo" pitchFamily="34" charset="0"/>
                <a:ea typeface="Meiryo" pitchFamily="34" charset="-122"/>
                <a:cs typeface="Meiryo" pitchFamily="34" charset="-120"/>
              </a:rPr>
              <a:t>未就学児（児童発達支援）／就学児（放課後等デイサービス）</a:t>
            </a:r>
            <a:endParaRPr lang="en-US" sz="1050" dirty="0"/>
          </a:p>
          <a:p>
            <a:pPr marL="0" indent="0">
              <a:lnSpc>
                <a:spcPct val="103000"/>
              </a:lnSpc>
              <a:buNone/>
            </a:pPr>
            <a:r>
              <a:rPr lang="en-US" sz="1050" b="1" dirty="0">
                <a:solidFill>
                  <a:srgbClr val="2E6BB8"/>
                </a:solidFill>
                <a:latin typeface="Meiryo" pitchFamily="34" charset="0"/>
                <a:ea typeface="Meiryo" pitchFamily="34" charset="-122"/>
                <a:cs typeface="Meiryo" pitchFamily="34" charset="-120"/>
              </a:rPr>
              <a:t>▶</a:t>
            </a:r>
            <a:r>
              <a:rPr lang="en-US" sz="1050" b="1" dirty="0">
                <a:solidFill>
                  <a:srgbClr val="222222"/>
                </a:solidFill>
                <a:latin typeface="Meiryo" pitchFamily="34" charset="0"/>
                <a:ea typeface="Meiryo" pitchFamily="34" charset="-122"/>
                <a:cs typeface="Meiryo" pitchFamily="34" charset="-120"/>
              </a:rPr>
              <a:t>住所：</a:t>
            </a:r>
            <a:r>
              <a:rPr lang="en-US" sz="1050" dirty="0">
                <a:solidFill>
                  <a:srgbClr val="222222"/>
                </a:solidFill>
                <a:latin typeface="Meiryo" pitchFamily="34" charset="0"/>
                <a:ea typeface="Meiryo" pitchFamily="34" charset="-122"/>
                <a:cs typeface="Meiryo" pitchFamily="34" charset="-120"/>
              </a:rPr>
              <a:t>千葉県東金市田間1丁目6番地4号</a:t>
            </a:r>
            <a:endParaRPr lang="en-US" sz="1050" dirty="0"/>
          </a:p>
          <a:p>
            <a:pPr marL="0" indent="0">
              <a:lnSpc>
                <a:spcPct val="103000"/>
              </a:lnSpc>
              <a:buNone/>
            </a:pPr>
            <a:r>
              <a:rPr lang="en-US" sz="1050" b="1" dirty="0">
                <a:solidFill>
                  <a:srgbClr val="2E6BB8"/>
                </a:solidFill>
                <a:latin typeface="Meiryo" pitchFamily="34" charset="0"/>
                <a:ea typeface="Meiryo" pitchFamily="34" charset="-122"/>
                <a:cs typeface="Meiryo" pitchFamily="34" charset="-120"/>
              </a:rPr>
              <a:t>▶</a:t>
            </a:r>
            <a:r>
              <a:rPr lang="en-US" sz="1050" b="1" dirty="0">
                <a:solidFill>
                  <a:srgbClr val="222222"/>
                </a:solidFill>
                <a:latin typeface="Meiryo" pitchFamily="34" charset="0"/>
                <a:ea typeface="Meiryo" pitchFamily="34" charset="-122"/>
                <a:cs typeface="Meiryo" pitchFamily="34" charset="-120"/>
              </a:rPr>
              <a:t>TEL／HP：</a:t>
            </a:r>
            <a:r>
              <a:rPr lang="en-US" sz="1050" dirty="0">
                <a:solidFill>
                  <a:srgbClr val="222222"/>
                </a:solidFill>
                <a:latin typeface="Meiryo" pitchFamily="34" charset="0"/>
                <a:ea typeface="Meiryo" pitchFamily="34" charset="-122"/>
                <a:cs typeface="Meiryo" pitchFamily="34" charset="-120"/>
              </a:rPr>
              <a:t>要確認（法人代表 0475-77-8577）／ kp-daini-tougane.com</a:t>
            </a:r>
            <a:endParaRPr lang="en-US" sz="1050" dirty="0"/>
          </a:p>
          <a:p>
            <a:pPr marL="0" indent="0">
              <a:lnSpc>
                <a:spcPct val="103000"/>
              </a:lnSpc>
              <a:buNone/>
            </a:pPr>
            <a:r>
              <a:rPr lang="en-US" sz="1050" b="1" dirty="0">
                <a:solidFill>
                  <a:srgbClr val="2E6BB8"/>
                </a:solidFill>
                <a:latin typeface="Meiryo" pitchFamily="34" charset="0"/>
                <a:ea typeface="Meiryo" pitchFamily="34" charset="-122"/>
                <a:cs typeface="Meiryo" pitchFamily="34" charset="-120"/>
              </a:rPr>
              <a:t>▶</a:t>
            </a:r>
            <a:r>
              <a:rPr lang="en-US" sz="1050" b="1" dirty="0">
                <a:solidFill>
                  <a:srgbClr val="222222"/>
                </a:solidFill>
                <a:latin typeface="Meiryo" pitchFamily="34" charset="0"/>
                <a:ea typeface="Meiryo" pitchFamily="34" charset="-122"/>
                <a:cs typeface="Meiryo" pitchFamily="34" charset="-120"/>
              </a:rPr>
              <a:t>サービス提供時間／定員：</a:t>
            </a:r>
            <a:r>
              <a:rPr lang="en-US" sz="1050" dirty="0">
                <a:solidFill>
                  <a:srgbClr val="222222"/>
                </a:solidFill>
                <a:latin typeface="Meiryo" pitchFamily="34" charset="0"/>
                <a:ea typeface="Meiryo" pitchFamily="34" charset="-122"/>
                <a:cs typeface="Meiryo" pitchFamily="34" charset="-120"/>
              </a:rPr>
              <a:t>いずれも要確認</a:t>
            </a:r>
            <a:endParaRPr lang="en-US" sz="1050" dirty="0"/>
          </a:p>
          <a:p>
            <a:pPr marL="0" indent="0">
              <a:lnSpc>
                <a:spcPct val="103000"/>
              </a:lnSpc>
              <a:spcAft>
                <a:spcPts val="500"/>
              </a:spcAft>
              <a:buNone/>
            </a:pPr>
            <a:endParaRPr lang="en-US" sz="1050" dirty="0"/>
          </a:p>
          <a:p>
            <a:pPr marL="0" indent="0">
              <a:lnSpc>
                <a:spcPct val="103000"/>
              </a:lnSpc>
              <a:buNone/>
            </a:pPr>
            <a:r>
              <a:rPr lang="en-US" sz="1050" b="1" dirty="0">
                <a:solidFill>
                  <a:srgbClr val="2E6BB8"/>
                </a:solidFill>
                <a:latin typeface="Meiryo" pitchFamily="34" charset="0"/>
                <a:ea typeface="Meiryo" pitchFamily="34" charset="-122"/>
                <a:cs typeface="Meiryo" pitchFamily="34" charset="-120"/>
              </a:rPr>
              <a:t>▶</a:t>
            </a:r>
            <a:r>
              <a:rPr lang="en-US" sz="1050" b="1" dirty="0">
                <a:solidFill>
                  <a:srgbClr val="222222"/>
                </a:solidFill>
                <a:latin typeface="Meiryo" pitchFamily="34" charset="0"/>
                <a:ea typeface="Meiryo" pitchFamily="34" charset="-122"/>
                <a:cs typeface="Meiryo" pitchFamily="34" charset="-120"/>
              </a:rPr>
              <a:t>療育プログラムの特徴：</a:t>
            </a:r>
            <a:r>
              <a:rPr lang="en-US" sz="1050" dirty="0">
                <a:solidFill>
                  <a:srgbClr val="222222"/>
                </a:solidFill>
                <a:latin typeface="Meiryo" pitchFamily="34" charset="0"/>
                <a:ea typeface="Meiryo" pitchFamily="34" charset="-122"/>
                <a:cs typeface="Meiryo" pitchFamily="34" charset="-120"/>
              </a:rPr>
              <a:t>発達段階に合わせた支援と、楽しく取り組める運動療育を組み合わせて提供。</a:t>
            </a:r>
            <a:endParaRPr lang="en-US" sz="1050" dirty="0"/>
          </a:p>
          <a:p>
            <a:pPr marL="0" indent="0">
              <a:lnSpc>
                <a:spcPct val="103000"/>
              </a:lnSpc>
              <a:spcAft>
                <a:spcPts val="500"/>
              </a:spcAft>
              <a:buNone/>
            </a:pPr>
            <a:r>
              <a:rPr lang="en-US" sz="1050" dirty="0">
                <a:solidFill>
                  <a:srgbClr val="222222"/>
                </a:solidFill>
                <a:latin typeface="Meiryo" pitchFamily="34" charset="0"/>
                <a:ea typeface="Meiryo" pitchFamily="34" charset="-122"/>
                <a:cs typeface="Meiryo" pitchFamily="34" charset="-120"/>
              </a:rPr>
              <a:t>・脳の活性化につながる「柳沢運動プログラム」を取り入れ、毎日の活動を構成。</a:t>
            </a:r>
            <a:endParaRPr lang="en-US" sz="1050" dirty="0"/>
          </a:p>
          <a:p>
            <a:pPr marL="0" indent="0">
              <a:lnSpc>
                <a:spcPct val="103000"/>
              </a:lnSpc>
              <a:spcAft>
                <a:spcPts val="500"/>
              </a:spcAft>
              <a:buNone/>
            </a:pPr>
            <a:r>
              <a:rPr lang="en-US" sz="1050" dirty="0">
                <a:solidFill>
                  <a:srgbClr val="222222"/>
                </a:solidFill>
                <a:latin typeface="Meiryo" pitchFamily="34" charset="0"/>
                <a:ea typeface="Meiryo" pitchFamily="34" charset="-122"/>
                <a:cs typeface="Meiryo" pitchFamily="34" charset="-120"/>
              </a:rPr>
              <a:t>・学習と運動あそびのバランスを取りながら、子どもの「できた！」を積み重ねることを重視。</a:t>
            </a:r>
            <a:endParaRPr lang="en-US" sz="1050" dirty="0"/>
          </a:p>
          <a:p>
            <a:pPr marL="0" indent="0">
              <a:lnSpc>
                <a:spcPct val="103000"/>
              </a:lnSpc>
              <a:spcAft>
                <a:spcPts val="500"/>
              </a:spcAft>
              <a:buNone/>
            </a:pPr>
            <a:r>
              <a:rPr lang="en-US" sz="1050" dirty="0">
                <a:solidFill>
                  <a:srgbClr val="222222"/>
                </a:solidFill>
                <a:latin typeface="Meiryo" pitchFamily="34" charset="0"/>
                <a:ea typeface="Meiryo" pitchFamily="34" charset="-122"/>
                <a:cs typeface="Meiryo" pitchFamily="34" charset="-120"/>
              </a:rPr>
              <a:t>・地域密着型の教室として、家庭と連携しながら安心して通える場所づくりを掲げる。</a:t>
            </a:r>
            <a:endParaRPr lang="en-US" sz="1050" dirty="0"/>
          </a:p>
          <a:p>
            <a:pPr marL="0" indent="0">
              <a:lnSpc>
                <a:spcPct val="103000"/>
              </a:lnSpc>
              <a:spcAft>
                <a:spcPts val="500"/>
              </a:spcAft>
              <a:buNone/>
            </a:pPr>
            <a:endParaRPr lang="en-US" sz="1050" dirty="0"/>
          </a:p>
          <a:p>
            <a:pPr marL="0" indent="0">
              <a:lnSpc>
                <a:spcPct val="103000"/>
              </a:lnSpc>
              <a:buNone/>
            </a:pPr>
            <a:r>
              <a:rPr lang="en-US" sz="1050" b="1" dirty="0">
                <a:solidFill>
                  <a:srgbClr val="2E6BB8"/>
                </a:solidFill>
                <a:latin typeface="Meiryo" pitchFamily="34" charset="0"/>
                <a:ea typeface="Meiryo" pitchFamily="34" charset="-122"/>
                <a:cs typeface="Meiryo" pitchFamily="34" charset="-120"/>
              </a:rPr>
              <a:t>▶</a:t>
            </a:r>
            <a:r>
              <a:rPr lang="en-US" sz="1050" b="1" dirty="0">
                <a:solidFill>
                  <a:srgbClr val="222222"/>
                </a:solidFill>
                <a:latin typeface="Meiryo" pitchFamily="34" charset="0"/>
                <a:ea typeface="Meiryo" pitchFamily="34" charset="-122"/>
                <a:cs typeface="Meiryo" pitchFamily="34" charset="-120"/>
              </a:rPr>
              <a:t>出典：</a:t>
            </a:r>
            <a:r>
              <a:rPr lang="en-US" sz="1050" dirty="0">
                <a:solidFill>
                  <a:srgbClr val="222222"/>
                </a:solidFill>
                <a:latin typeface="Meiryo" pitchFamily="34" charset="0"/>
                <a:ea typeface="Meiryo" pitchFamily="34" charset="-122"/>
                <a:cs typeface="Meiryo" pitchFamily="34" charset="-120"/>
              </a:rPr>
              <a:t>公式HP kp-daini-tougane.com／株式会社ベストグロウ公式（bestgrow-chiba.com）</a:t>
            </a:r>
            <a:endParaRPr lang="en-US" sz="1050" dirty="0"/>
          </a:p>
          <a:p>
            <a:pPr marL="0" indent="0">
              <a:lnSpc>
                <a:spcPct val="103000"/>
              </a:lnSpc>
              <a:buNone/>
            </a:pPr>
            <a:r>
              <a:rPr lang="en-US" sz="1050" b="1" dirty="0">
                <a:solidFill>
                  <a:srgbClr val="2E6BB8"/>
                </a:solidFill>
                <a:latin typeface="Meiryo" pitchFamily="34" charset="0"/>
                <a:ea typeface="Meiryo" pitchFamily="34" charset="-122"/>
                <a:cs typeface="Meiryo" pitchFamily="34" charset="-120"/>
              </a:rPr>
              <a:t>▶</a:t>
            </a:r>
            <a:r>
              <a:rPr lang="en-US" sz="1050" b="1" dirty="0">
                <a:solidFill>
                  <a:srgbClr val="222222"/>
                </a:solidFill>
                <a:latin typeface="Meiryo" pitchFamily="34" charset="0"/>
                <a:ea typeface="Meiryo" pitchFamily="34" charset="-122"/>
                <a:cs typeface="Meiryo" pitchFamily="34" charset="-120"/>
              </a:rPr>
              <a:t>要確認事項：</a:t>
            </a:r>
            <a:r>
              <a:rPr lang="en-US" sz="1050" dirty="0">
                <a:solidFill>
                  <a:srgbClr val="222222"/>
                </a:solidFill>
                <a:latin typeface="Meiryo" pitchFamily="34" charset="0"/>
                <a:ea typeface="Meiryo" pitchFamily="34" charset="-122"/>
                <a:cs typeface="Meiryo" pitchFamily="34" charset="-120"/>
              </a:rPr>
              <a:t>電話番号、サービス提供時間、定員、送迎範囲、第1教室との役割分担</a:t>
            </a:r>
            <a:endParaRPr lang="en-US" sz="1050" dirty="0"/>
          </a:p>
        </p:txBody>
      </p:sp>
      <p:sp>
        <p:nvSpPr>
          <p:cNvPr id="13" name="Text 11"/>
          <p:cNvSpPr/>
          <p:nvPr/>
        </p:nvSpPr>
        <p:spPr>
          <a:xfrm>
            <a:off x="7635240" y="1783080"/>
            <a:ext cx="4069080" cy="2148840"/>
          </a:xfrm>
          <a:prstGeom prst="rect">
            <a:avLst/>
          </a:prstGeom>
          <a:solidFill>
            <a:srgbClr val="F4F6FA"/>
          </a:solidFill>
          <a:ln w="12700">
            <a:solidFill>
              <a:srgbClr val="9AA7B8"/>
            </a:solidFill>
            <a:prstDash val="dash"/>
          </a:ln>
        </p:spPr>
        <p:txBody>
          <a:bodyPr wrap="square" lIns="91440" tIns="45720" rIns="91440" bIns="45720" rtlCol="0" anchor="ctr"/>
          <a:lstStyle/>
          <a:p>
            <a:pPr marL="0" indent="0" algn="ctr">
              <a:lnSpc>
                <a:spcPct val="110000"/>
              </a:lnSpc>
              <a:buNone/>
            </a:pPr>
            <a:r>
              <a:rPr lang="en-US" sz="1200" b="1" dirty="0">
                <a:solidFill>
                  <a:srgbClr val="8A99AD"/>
                </a:solidFill>
                <a:latin typeface="Meiryo" pitchFamily="34" charset="0"/>
                <a:ea typeface="Meiryo" pitchFamily="34" charset="-122"/>
                <a:cs typeface="Meiryo" pitchFamily="34" charset="-120"/>
              </a:rPr>
              <a:t>［ 写真挿入エリア ］</a:t>
            </a:r>
            <a:endParaRPr lang="en-US" sz="1200" dirty="0"/>
          </a:p>
          <a:p>
            <a:pPr marL="0" indent="0" algn="ctr">
              <a:lnSpc>
                <a:spcPct val="110000"/>
              </a:lnSpc>
              <a:buNone/>
            </a:pPr>
            <a:r>
              <a:rPr lang="en-US" sz="950" dirty="0">
                <a:solidFill>
                  <a:srgbClr val="97A4B6"/>
                </a:solidFill>
                <a:latin typeface="Meiryo" pitchFamily="34" charset="0"/>
                <a:ea typeface="Meiryo" pitchFamily="34" charset="-122"/>
                <a:cs typeface="Meiryo" pitchFamily="34" charset="-120"/>
              </a:rPr>
              <a:t>（公式HP kp-daini-tougane.com 掲載の教室・活動風景の写真を挿入）</a:t>
            </a:r>
            <a:endParaRPr lang="en-US" sz="1200" dirty="0"/>
          </a:p>
        </p:txBody>
      </p:sp>
      <p:sp>
        <p:nvSpPr>
          <p:cNvPr id="14" name="Shape 12"/>
          <p:cNvSpPr/>
          <p:nvPr/>
        </p:nvSpPr>
        <p:spPr>
          <a:xfrm>
            <a:off x="7635240" y="4069080"/>
            <a:ext cx="4069080" cy="2148840"/>
          </a:xfrm>
          <a:prstGeom prst="rect">
            <a:avLst/>
          </a:prstGeom>
          <a:solidFill>
            <a:srgbClr val="EEF2F8"/>
          </a:solidFill>
          <a:ln w="12700">
            <a:solidFill>
              <a:srgbClr val="9AA7B8"/>
            </a:solidFill>
            <a:prstDash val="solid"/>
          </a:ln>
        </p:spPr>
      </p:sp>
      <p:sp>
        <p:nvSpPr>
          <p:cNvPr id="15" name="Text 13"/>
          <p:cNvSpPr/>
          <p:nvPr/>
        </p:nvSpPr>
        <p:spPr>
          <a:xfrm>
            <a:off x="7818120" y="4187952"/>
            <a:ext cx="3703320" cy="320040"/>
          </a:xfrm>
          <a:prstGeom prst="rect">
            <a:avLst/>
          </a:prstGeom>
          <a:noFill/>
          <a:ln/>
        </p:spPr>
        <p:txBody>
          <a:bodyPr wrap="square" lIns="0" tIns="0" rIns="0" bIns="0" rtlCol="0" anchor="ctr"/>
          <a:lstStyle/>
          <a:p>
            <a:pPr marL="0" indent="0">
              <a:buNone/>
            </a:pPr>
            <a:r>
              <a:rPr lang="en-US" sz="1250" b="1" dirty="0">
                <a:solidFill>
                  <a:srgbClr val="1B3A6B"/>
                </a:solidFill>
                <a:latin typeface="Meiryo" pitchFamily="34" charset="0"/>
                <a:ea typeface="Meiryo" pitchFamily="34" charset="-122"/>
                <a:cs typeface="Meiryo" pitchFamily="34" charset="-120"/>
              </a:rPr>
              <a:t>注目ポイント</a:t>
            </a:r>
            <a:endParaRPr lang="en-US" sz="1250" dirty="0"/>
          </a:p>
        </p:txBody>
      </p:sp>
      <p:sp>
        <p:nvSpPr>
          <p:cNvPr id="16" name="Text 14"/>
          <p:cNvSpPr/>
          <p:nvPr/>
        </p:nvSpPr>
        <p:spPr>
          <a:xfrm>
            <a:off x="7818120" y="4553712"/>
            <a:ext cx="3703320" cy="1554480"/>
          </a:xfrm>
          <a:prstGeom prst="rect">
            <a:avLst/>
          </a:prstGeom>
          <a:noFill/>
          <a:ln/>
        </p:spPr>
        <p:txBody>
          <a:bodyPr wrap="square" lIns="0" tIns="0" rIns="0" bIns="0" rtlCol="0" anchor="t"/>
          <a:lstStyle/>
          <a:p>
            <a:pPr marL="342900" indent="-342900">
              <a:spcAft>
                <a:spcPts val="700"/>
              </a:spcAft>
              <a:buSzPct val="100000"/>
              <a:buChar char="•"/>
            </a:pPr>
            <a:r>
              <a:rPr lang="en-US" sz="950" dirty="0">
                <a:solidFill>
                  <a:srgbClr val="222222"/>
                </a:solidFill>
                <a:latin typeface="メイリオ" panose="020B0604030504040204" pitchFamily="50" charset="-128"/>
                <a:ea typeface="メイリオ" panose="020B0604030504040204" pitchFamily="50" charset="-128"/>
                <a:cs typeface="Meiryo" pitchFamily="34" charset="-120"/>
              </a:rPr>
              <a:t>③と同一法人・同一プログラムの2拠点目。田間エリア（市役所・ふれあいセンター側）をカバーし市内を面で展開。</a:t>
            </a:r>
            <a:endParaRPr lang="en-US" sz="1000" dirty="0">
              <a:latin typeface="メイリオ" panose="020B0604030504040204" pitchFamily="50" charset="-128"/>
              <a:ea typeface="メイリオ" panose="020B0604030504040204" pitchFamily="50" charset="-128"/>
            </a:endParaRPr>
          </a:p>
          <a:p>
            <a:pPr marL="342900" indent="-342900">
              <a:spcAft>
                <a:spcPts val="700"/>
              </a:spcAft>
              <a:buSzPct val="100000"/>
              <a:buChar char="•"/>
            </a:pPr>
            <a:r>
              <a:rPr lang="en-US" sz="950" dirty="0">
                <a:solidFill>
                  <a:srgbClr val="222222"/>
                </a:solidFill>
                <a:latin typeface="メイリオ" panose="020B0604030504040204" pitchFamily="50" charset="-128"/>
                <a:ea typeface="メイリオ" panose="020B0604030504040204" pitchFamily="50" charset="-128"/>
                <a:cs typeface="Meiryo" pitchFamily="34" charset="-120"/>
              </a:rPr>
              <a:t>公立の簡易マザーズホーム（田間3-9-1）と同一エリアにあり、公立からの移行導線が近い。</a:t>
            </a:r>
            <a:endParaRPr lang="en-US" sz="1000" dirty="0">
              <a:latin typeface="メイリオ" panose="020B0604030504040204" pitchFamily="50" charset="-128"/>
              <a:ea typeface="メイリオ" panose="020B0604030504040204" pitchFamily="50" charset="-128"/>
            </a:endParaRPr>
          </a:p>
          <a:p>
            <a:pPr marL="342900" indent="-342900">
              <a:spcAft>
                <a:spcPts val="700"/>
              </a:spcAft>
              <a:buSzPct val="100000"/>
              <a:buChar char="•"/>
            </a:pPr>
            <a:r>
              <a:rPr lang="en-US" sz="950" dirty="0">
                <a:solidFill>
                  <a:srgbClr val="222222"/>
                </a:solidFill>
                <a:latin typeface="メイリオ" panose="020B0604030504040204" pitchFamily="50" charset="-128"/>
                <a:ea typeface="メイリオ" panose="020B0604030504040204" pitchFamily="50" charset="-128"/>
                <a:cs typeface="Meiryo" pitchFamily="34" charset="-120"/>
              </a:rPr>
              <a:t>第1教室が「運動主軸」なのに対し「学習と運動のバランス」を明示し、法人内でも訴求を微差別化。</a:t>
            </a:r>
            <a:endParaRPr lang="en-US" sz="1000" dirty="0">
              <a:latin typeface="メイリオ" panose="020B0604030504040204" pitchFamily="50" charset="-128"/>
              <a:ea typeface="メイリオ" panose="020B0604030504040204" pitchFamily="50" charset="-128"/>
            </a:endParaRPr>
          </a:p>
          <a:p>
            <a:pPr marL="342900" indent="-342900">
              <a:spcAft>
                <a:spcPts val="700"/>
              </a:spcAft>
              <a:buSzPct val="100000"/>
              <a:buChar char="•"/>
            </a:pPr>
            <a:r>
              <a:rPr lang="en-US" sz="950" dirty="0">
                <a:solidFill>
                  <a:srgbClr val="222222"/>
                </a:solidFill>
                <a:latin typeface="メイリオ" panose="020B0604030504040204" pitchFamily="50" charset="-128"/>
                <a:ea typeface="メイリオ" panose="020B0604030504040204" pitchFamily="50" charset="-128"/>
                <a:cs typeface="Meiryo" pitchFamily="34" charset="-120"/>
              </a:rPr>
              <a:t>田間エリアは公立・民間が近接する激戦区。差別化には時間帯と送迎範囲の設計が鍵となる。</a:t>
            </a:r>
            <a:endParaRPr lang="en-US" sz="1000" dirty="0">
              <a:latin typeface="メイリオ" panose="020B0604030504040204" pitchFamily="50" charset="-128"/>
              <a:ea typeface="メイリオ" panose="020B0604030504040204" pitchFamily="50" charset="-128"/>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12188952" cy="932688"/>
          </a:xfrm>
          <a:prstGeom prst="rect">
            <a:avLst/>
          </a:prstGeom>
          <a:solidFill>
            <a:srgbClr val="1B3A6B"/>
          </a:solidFill>
          <a:ln/>
        </p:spPr>
      </p:sp>
      <p:sp>
        <p:nvSpPr>
          <p:cNvPr id="3" name="Shape 1"/>
          <p:cNvSpPr/>
          <p:nvPr/>
        </p:nvSpPr>
        <p:spPr>
          <a:xfrm>
            <a:off x="0" y="0"/>
            <a:ext cx="164592" cy="932688"/>
          </a:xfrm>
          <a:prstGeom prst="rect">
            <a:avLst/>
          </a:prstGeom>
          <a:solidFill>
            <a:srgbClr val="13294B"/>
          </a:solidFill>
          <a:ln/>
        </p:spPr>
      </p:sp>
      <p:sp>
        <p:nvSpPr>
          <p:cNvPr id="4" name="Text 2"/>
          <p:cNvSpPr/>
          <p:nvPr/>
        </p:nvSpPr>
        <p:spPr>
          <a:xfrm>
            <a:off x="502920" y="54864"/>
            <a:ext cx="8686800" cy="822960"/>
          </a:xfrm>
          <a:prstGeom prst="rect">
            <a:avLst/>
          </a:prstGeom>
          <a:noFill/>
          <a:ln/>
        </p:spPr>
        <p:txBody>
          <a:bodyPr wrap="square" lIns="0" tIns="0" rIns="0" bIns="0" rtlCol="0" anchor="ctr"/>
          <a:lstStyle/>
          <a:p>
            <a:pPr marL="0" indent="0">
              <a:buNone/>
            </a:pPr>
            <a:r>
              <a:rPr lang="en-US" sz="3000" b="1" dirty="0">
                <a:solidFill>
                  <a:srgbClr val="FFFFFF"/>
                </a:solidFill>
                <a:latin typeface="Meiryo" pitchFamily="34" charset="0"/>
                <a:ea typeface="Meiryo" pitchFamily="34" charset="-122"/>
                <a:cs typeface="Meiryo" pitchFamily="34" charset="-120"/>
              </a:rPr>
              <a:t>II．　事業所別 詳細</a:t>
            </a:r>
            <a:endParaRPr lang="en-US" sz="3000" dirty="0"/>
          </a:p>
        </p:txBody>
      </p:sp>
      <p:sp>
        <p:nvSpPr>
          <p:cNvPr id="5" name="Text 3"/>
          <p:cNvSpPr/>
          <p:nvPr/>
        </p:nvSpPr>
        <p:spPr>
          <a:xfrm>
            <a:off x="502920" y="1115568"/>
            <a:ext cx="8503920" cy="457200"/>
          </a:xfrm>
          <a:prstGeom prst="rect">
            <a:avLst/>
          </a:prstGeom>
          <a:noFill/>
          <a:ln/>
        </p:spPr>
        <p:txBody>
          <a:bodyPr wrap="square" lIns="0" tIns="0" rIns="0" bIns="0" rtlCol="0" anchor="ctr"/>
          <a:lstStyle/>
          <a:p>
            <a:pPr marL="0" indent="0">
              <a:buNone/>
            </a:pPr>
            <a:r>
              <a:rPr lang="en-US" sz="2100" b="1" dirty="0">
                <a:solidFill>
                  <a:srgbClr val="222222"/>
                </a:solidFill>
                <a:latin typeface="Meiryo" pitchFamily="34" charset="0"/>
                <a:ea typeface="Meiryo" pitchFamily="34" charset="-122"/>
                <a:cs typeface="Meiryo" pitchFamily="34" charset="-120"/>
              </a:rPr>
              <a:t>⑤ 基本塾優遊（市内5拠点）</a:t>
            </a:r>
            <a:endParaRPr lang="en-US" sz="2100" dirty="0"/>
          </a:p>
        </p:txBody>
      </p:sp>
      <p:sp>
        <p:nvSpPr>
          <p:cNvPr id="6" name="Shape 4"/>
          <p:cNvSpPr/>
          <p:nvPr/>
        </p:nvSpPr>
        <p:spPr>
          <a:xfrm>
            <a:off x="10104120" y="1170432"/>
            <a:ext cx="1600200" cy="457200"/>
          </a:xfrm>
          <a:prstGeom prst="rect">
            <a:avLst/>
          </a:prstGeom>
          <a:solidFill>
            <a:srgbClr val="FFFFFF"/>
          </a:solidFill>
          <a:ln w="15875">
            <a:solidFill>
              <a:srgbClr val="1B3A6B"/>
            </a:solidFill>
            <a:prstDash val="solid"/>
          </a:ln>
        </p:spPr>
      </p:sp>
      <p:sp>
        <p:nvSpPr>
          <p:cNvPr id="7" name="Text 5"/>
          <p:cNvSpPr/>
          <p:nvPr/>
        </p:nvSpPr>
        <p:spPr>
          <a:xfrm>
            <a:off x="10104120" y="1170432"/>
            <a:ext cx="1600200" cy="457200"/>
          </a:xfrm>
          <a:prstGeom prst="rect">
            <a:avLst/>
          </a:prstGeom>
          <a:noFill/>
          <a:ln/>
        </p:spPr>
        <p:txBody>
          <a:bodyPr wrap="square" lIns="0" tIns="0" rIns="0" bIns="0" rtlCol="0" anchor="ctr"/>
          <a:lstStyle/>
          <a:p>
            <a:pPr marL="0" indent="0" algn="ctr">
              <a:buNone/>
            </a:pPr>
            <a:r>
              <a:rPr lang="en-US" sz="1400" b="1" dirty="0">
                <a:solidFill>
                  <a:srgbClr val="1B3A6B"/>
                </a:solidFill>
                <a:latin typeface="Meiryo" pitchFamily="34" charset="0"/>
                <a:ea typeface="Meiryo" pitchFamily="34" charset="-122"/>
                <a:cs typeface="Meiryo" pitchFamily="34" charset="-120"/>
              </a:rPr>
              <a:t>東金市</a:t>
            </a:r>
            <a:endParaRPr lang="en-US" sz="1400" dirty="0"/>
          </a:p>
        </p:txBody>
      </p:sp>
      <p:sp>
        <p:nvSpPr>
          <p:cNvPr id="8" name="Text 6"/>
          <p:cNvSpPr/>
          <p:nvPr/>
        </p:nvSpPr>
        <p:spPr>
          <a:xfrm>
            <a:off x="502920" y="6510528"/>
            <a:ext cx="7315200" cy="274320"/>
          </a:xfrm>
          <a:prstGeom prst="rect">
            <a:avLst/>
          </a:prstGeom>
          <a:noFill/>
          <a:ln/>
        </p:spPr>
        <p:txBody>
          <a:bodyPr wrap="square" lIns="0" tIns="0" rIns="0" bIns="0" rtlCol="0" anchor="ctr"/>
          <a:lstStyle/>
          <a:p>
            <a:pPr marL="0" indent="0">
              <a:buNone/>
            </a:pPr>
            <a:r>
              <a:rPr lang="en-US" sz="850" dirty="0">
                <a:solidFill>
                  <a:srgbClr val="666666"/>
                </a:solidFill>
                <a:latin typeface="Meiryo" pitchFamily="34" charset="0"/>
                <a:ea typeface="Meiryo" pitchFamily="34" charset="-122"/>
                <a:cs typeface="Meiryo" pitchFamily="34" charset="-120"/>
              </a:rPr>
              <a:t>Copyright Funai Soken Group. All rights reserved.</a:t>
            </a:r>
            <a:endParaRPr lang="en-US" sz="850" dirty="0"/>
          </a:p>
        </p:txBody>
      </p:sp>
      <p:sp>
        <p:nvSpPr>
          <p:cNvPr id="9" name="Shape 7"/>
          <p:cNvSpPr/>
          <p:nvPr/>
        </p:nvSpPr>
        <p:spPr>
          <a:xfrm>
            <a:off x="502920" y="1783080"/>
            <a:ext cx="6903720" cy="4434840"/>
          </a:xfrm>
          <a:prstGeom prst="rect">
            <a:avLst/>
          </a:prstGeom>
          <a:solidFill>
            <a:srgbClr val="FFFFFF"/>
          </a:solidFill>
          <a:ln w="12700">
            <a:solidFill>
              <a:srgbClr val="9AA7B8"/>
            </a:solidFill>
            <a:prstDash val="solid"/>
          </a:ln>
          <a:effectLst>
            <a:outerShdw blurRad="63500" dist="25400" dir="8100000" algn="bl" rotWithShape="0">
              <a:srgbClr val="000000">
                <a:alpha val="12000"/>
              </a:srgbClr>
            </a:outerShdw>
          </a:effectLst>
        </p:spPr>
      </p:sp>
      <p:sp>
        <p:nvSpPr>
          <p:cNvPr id="10" name="Text 8"/>
          <p:cNvSpPr/>
          <p:nvPr/>
        </p:nvSpPr>
        <p:spPr>
          <a:xfrm>
            <a:off x="704088" y="1911096"/>
            <a:ext cx="6501384" cy="384048"/>
          </a:xfrm>
          <a:prstGeom prst="rect">
            <a:avLst/>
          </a:prstGeom>
          <a:noFill/>
          <a:ln/>
        </p:spPr>
        <p:txBody>
          <a:bodyPr wrap="square" lIns="0" tIns="0" rIns="0" bIns="0" rtlCol="0" anchor="ctr"/>
          <a:lstStyle/>
          <a:p>
            <a:pPr marL="0" indent="0">
              <a:buNone/>
            </a:pPr>
            <a:r>
              <a:rPr lang="en-US" sz="1400" b="1" dirty="0">
                <a:solidFill>
                  <a:srgbClr val="1B3A6B"/>
                </a:solidFill>
                <a:latin typeface="Meiryo" pitchFamily="34" charset="0"/>
                <a:ea typeface="Meiryo" pitchFamily="34" charset="-122"/>
                <a:cs typeface="Meiryo" pitchFamily="34" charset="-120"/>
              </a:rPr>
              <a:t>基本塾優遊（運営：特定非営利活動法人 基本塾）　市内5拠点</a:t>
            </a:r>
            <a:endParaRPr lang="en-US" sz="1400" dirty="0"/>
          </a:p>
        </p:txBody>
      </p:sp>
      <p:sp>
        <p:nvSpPr>
          <p:cNvPr id="11" name="Text 9"/>
          <p:cNvSpPr/>
          <p:nvPr/>
        </p:nvSpPr>
        <p:spPr>
          <a:xfrm>
            <a:off x="704088" y="2331720"/>
            <a:ext cx="6501384" cy="3813048"/>
          </a:xfrm>
          <a:prstGeom prst="rect">
            <a:avLst/>
          </a:prstGeom>
          <a:noFill/>
          <a:ln/>
        </p:spPr>
        <p:txBody>
          <a:bodyPr wrap="square" lIns="0" tIns="0" rIns="0" bIns="0" rtlCol="0" anchor="t"/>
          <a:lstStyle/>
          <a:p>
            <a:pPr marL="0" indent="0">
              <a:lnSpc>
                <a:spcPct val="103000"/>
              </a:lnSpc>
              <a:buNone/>
            </a:pPr>
            <a:r>
              <a:rPr lang="en-US" sz="1000" b="1" dirty="0">
                <a:solidFill>
                  <a:srgbClr val="2E6BB8"/>
                </a:solidFill>
                <a:latin typeface="Meiryo" pitchFamily="34" charset="0"/>
                <a:ea typeface="Meiryo" pitchFamily="34" charset="-122"/>
                <a:cs typeface="Meiryo" pitchFamily="34" charset="-120"/>
              </a:rPr>
              <a:t>▶</a:t>
            </a:r>
            <a:r>
              <a:rPr lang="en-US" sz="1000" b="1" dirty="0">
                <a:solidFill>
                  <a:srgbClr val="222222"/>
                </a:solidFill>
                <a:latin typeface="Meiryo" pitchFamily="34" charset="0"/>
                <a:ea typeface="Meiryo" pitchFamily="34" charset="-122"/>
                <a:cs typeface="Meiryo" pitchFamily="34" charset="-120"/>
              </a:rPr>
              <a:t>対象：</a:t>
            </a:r>
            <a:r>
              <a:rPr lang="en-US" sz="1000" dirty="0">
                <a:solidFill>
                  <a:srgbClr val="222222"/>
                </a:solidFill>
                <a:latin typeface="Meiryo" pitchFamily="34" charset="0"/>
                <a:ea typeface="Meiryo" pitchFamily="34" charset="-122"/>
                <a:cs typeface="Meiryo" pitchFamily="34" charset="-120"/>
              </a:rPr>
              <a:t>未就学児（児発）／就学児（放デイ）　※松之郷は身体・知的・精神障がい・難病まで対応、八坂台は小学生・翌年度就学予定児が中心</a:t>
            </a:r>
            <a:endParaRPr lang="en-US" sz="1050" dirty="0"/>
          </a:p>
          <a:p>
            <a:pPr marL="0" indent="0">
              <a:lnSpc>
                <a:spcPct val="103000"/>
              </a:lnSpc>
              <a:buNone/>
            </a:pPr>
            <a:r>
              <a:rPr lang="en-US" sz="1000" b="1" dirty="0">
                <a:solidFill>
                  <a:srgbClr val="2E6BB8"/>
                </a:solidFill>
                <a:latin typeface="Meiryo" pitchFamily="34" charset="0"/>
                <a:ea typeface="Meiryo" pitchFamily="34" charset="-122"/>
                <a:cs typeface="Meiryo" pitchFamily="34" charset="-120"/>
              </a:rPr>
              <a:t>▶</a:t>
            </a:r>
            <a:r>
              <a:rPr lang="en-US" sz="1000" b="1" dirty="0">
                <a:solidFill>
                  <a:srgbClr val="222222"/>
                </a:solidFill>
                <a:latin typeface="Meiryo" pitchFamily="34" charset="0"/>
                <a:ea typeface="Meiryo" pitchFamily="34" charset="-122"/>
                <a:cs typeface="Meiryo" pitchFamily="34" charset="-120"/>
              </a:rPr>
              <a:t>拠点／TEL：</a:t>
            </a:r>
            <a:r>
              <a:rPr lang="en-US" sz="1000" dirty="0">
                <a:solidFill>
                  <a:srgbClr val="222222"/>
                </a:solidFill>
                <a:latin typeface="Meiryo" pitchFamily="34" charset="0"/>
                <a:ea typeface="Meiryo" pitchFamily="34" charset="-122"/>
                <a:cs typeface="Meiryo" pitchFamily="34" charset="-120"/>
              </a:rPr>
              <a:t>【日吉台】日吉台2-26-3／0475-52-6414　【松之郷】松之郷2423-1／0475-51-4082</a:t>
            </a:r>
            <a:endParaRPr lang="en-US" sz="1050" dirty="0"/>
          </a:p>
          <a:p>
            <a:pPr marL="0" indent="0">
              <a:lnSpc>
                <a:spcPct val="103000"/>
              </a:lnSpc>
              <a:spcAft>
                <a:spcPts val="500"/>
              </a:spcAft>
              <a:buNone/>
            </a:pPr>
            <a:r>
              <a:rPr lang="en-US" sz="1000" dirty="0">
                <a:solidFill>
                  <a:srgbClr val="222222"/>
                </a:solidFill>
                <a:latin typeface="Meiryo" pitchFamily="34" charset="0"/>
                <a:ea typeface="Meiryo" pitchFamily="34" charset="-122"/>
                <a:cs typeface="Meiryo" pitchFamily="34" charset="-120"/>
              </a:rPr>
              <a:t xml:space="preserve">　　　　　　【八坂台】八坂台5-11-1／0475-51-5010　【八坂西】八坂台4-2-4／0475-51-6631　【八坂中央】要確認</a:t>
            </a:r>
            <a:endParaRPr lang="en-US" sz="1050" dirty="0"/>
          </a:p>
          <a:p>
            <a:pPr marL="0" indent="0">
              <a:lnSpc>
                <a:spcPct val="103000"/>
              </a:lnSpc>
              <a:buNone/>
            </a:pPr>
            <a:r>
              <a:rPr lang="en-US" sz="1000" b="1" dirty="0">
                <a:solidFill>
                  <a:srgbClr val="2E6BB8"/>
                </a:solidFill>
                <a:latin typeface="Meiryo" pitchFamily="34" charset="0"/>
                <a:ea typeface="Meiryo" pitchFamily="34" charset="-122"/>
                <a:cs typeface="Meiryo" pitchFamily="34" charset="-120"/>
              </a:rPr>
              <a:t>▶</a:t>
            </a:r>
            <a:r>
              <a:rPr lang="en-US" sz="1000" b="1" dirty="0">
                <a:solidFill>
                  <a:srgbClr val="222222"/>
                </a:solidFill>
                <a:latin typeface="Meiryo" pitchFamily="34" charset="0"/>
                <a:ea typeface="Meiryo" pitchFamily="34" charset="-122"/>
                <a:cs typeface="Meiryo" pitchFamily="34" charset="-120"/>
              </a:rPr>
              <a:t>HP：</a:t>
            </a:r>
            <a:r>
              <a:rPr lang="en-US" sz="1000" dirty="0">
                <a:solidFill>
                  <a:srgbClr val="222222"/>
                </a:solidFill>
                <a:latin typeface="Meiryo" pitchFamily="34" charset="0"/>
                <a:ea typeface="Meiryo" pitchFamily="34" charset="-122"/>
                <a:cs typeface="Meiryo" pitchFamily="34" charset="-120"/>
              </a:rPr>
              <a:t>kihonjuku-yuuyuu.com（info@kihonjuku-yuuyuu.com）</a:t>
            </a:r>
            <a:endParaRPr lang="en-US" sz="1050" dirty="0"/>
          </a:p>
          <a:p>
            <a:pPr marL="0" indent="0">
              <a:lnSpc>
                <a:spcPct val="103000"/>
              </a:lnSpc>
              <a:buNone/>
            </a:pPr>
            <a:r>
              <a:rPr lang="en-US" sz="1000" b="1" dirty="0">
                <a:solidFill>
                  <a:srgbClr val="2E6BB8"/>
                </a:solidFill>
                <a:latin typeface="Meiryo" pitchFamily="34" charset="0"/>
                <a:ea typeface="Meiryo" pitchFamily="34" charset="-122"/>
                <a:cs typeface="Meiryo" pitchFamily="34" charset="-120"/>
              </a:rPr>
              <a:t>▶</a:t>
            </a:r>
            <a:r>
              <a:rPr lang="en-US" sz="1000" b="1" dirty="0">
                <a:solidFill>
                  <a:srgbClr val="222222"/>
                </a:solidFill>
                <a:latin typeface="Meiryo" pitchFamily="34" charset="0"/>
                <a:ea typeface="Meiryo" pitchFamily="34" charset="-122"/>
                <a:cs typeface="Meiryo" pitchFamily="34" charset="-120"/>
              </a:rPr>
              <a:t>提供時間／定員：</a:t>
            </a:r>
            <a:r>
              <a:rPr lang="en-US" sz="1000" dirty="0">
                <a:solidFill>
                  <a:srgbClr val="222222"/>
                </a:solidFill>
                <a:latin typeface="Meiryo" pitchFamily="34" charset="0"/>
                <a:ea typeface="Meiryo" pitchFamily="34" charset="-122"/>
                <a:cs typeface="Meiryo" pitchFamily="34" charset="-120"/>
              </a:rPr>
              <a:t>9:00〜18:00（共通の目安）・日曜祝日年末年始休　※八坂台は土曜も定休</a:t>
            </a:r>
            <a:endParaRPr lang="en-US" sz="1050" dirty="0"/>
          </a:p>
          <a:p>
            <a:pPr marL="0" indent="0">
              <a:lnSpc>
                <a:spcPct val="103000"/>
              </a:lnSpc>
              <a:spcAft>
                <a:spcPts val="500"/>
              </a:spcAft>
              <a:buNone/>
            </a:pPr>
            <a:r>
              <a:rPr lang="en-US" sz="1000" dirty="0">
                <a:solidFill>
                  <a:srgbClr val="222222"/>
                </a:solidFill>
                <a:latin typeface="Meiryo" pitchFamily="34" charset="0"/>
                <a:ea typeface="Meiryo" pitchFamily="34" charset="-122"/>
                <a:cs typeface="Meiryo" pitchFamily="34" charset="-120"/>
              </a:rPr>
              <a:t xml:space="preserve">　　　　　　　　松之郷10名（送迎あり・要相談）、八坂台10名・職員9名（児発管1・児童指導員4・保育士4）、他拠点は要確認</a:t>
            </a:r>
            <a:endParaRPr lang="en-US" sz="1050" dirty="0"/>
          </a:p>
          <a:p>
            <a:pPr marL="0" indent="0">
              <a:lnSpc>
                <a:spcPct val="103000"/>
              </a:lnSpc>
              <a:spcAft>
                <a:spcPts val="500"/>
              </a:spcAft>
              <a:buNone/>
            </a:pPr>
            <a:endParaRPr lang="en-US" sz="1050" dirty="0"/>
          </a:p>
          <a:p>
            <a:pPr marL="0" indent="0">
              <a:lnSpc>
                <a:spcPct val="103000"/>
              </a:lnSpc>
              <a:buNone/>
            </a:pPr>
            <a:r>
              <a:rPr lang="en-US" sz="1000" b="1" dirty="0">
                <a:solidFill>
                  <a:srgbClr val="2E6BB8"/>
                </a:solidFill>
                <a:latin typeface="Meiryo" pitchFamily="34" charset="0"/>
                <a:ea typeface="Meiryo" pitchFamily="34" charset="-122"/>
                <a:cs typeface="Meiryo" pitchFamily="34" charset="-120"/>
              </a:rPr>
              <a:t>▶</a:t>
            </a:r>
            <a:r>
              <a:rPr lang="en-US" sz="1000" b="1" dirty="0">
                <a:solidFill>
                  <a:srgbClr val="222222"/>
                </a:solidFill>
                <a:latin typeface="Meiryo" pitchFamily="34" charset="0"/>
                <a:ea typeface="Meiryo" pitchFamily="34" charset="-122"/>
                <a:cs typeface="Meiryo" pitchFamily="34" charset="-120"/>
              </a:rPr>
              <a:t>療育プログラムの特徴：</a:t>
            </a:r>
            <a:r>
              <a:rPr lang="en-US" sz="1000" dirty="0">
                <a:solidFill>
                  <a:srgbClr val="222222"/>
                </a:solidFill>
                <a:latin typeface="Meiryo" pitchFamily="34" charset="0"/>
                <a:ea typeface="Meiryo" pitchFamily="34" charset="-122"/>
                <a:cs typeface="Meiryo" pitchFamily="34" charset="-120"/>
              </a:rPr>
              <a:t>個々のニーズに応じた個別支援プログラムと「10の活動」を全拠点共通の基本形とする。</a:t>
            </a:r>
            <a:endParaRPr lang="en-US" sz="1050" dirty="0"/>
          </a:p>
          <a:p>
            <a:pPr marL="0" indent="0">
              <a:lnSpc>
                <a:spcPct val="103000"/>
              </a:lnSpc>
              <a:spcAft>
                <a:spcPts val="500"/>
              </a:spcAft>
              <a:buNone/>
            </a:pPr>
            <a:r>
              <a:rPr lang="en-US" sz="1000" dirty="0">
                <a:solidFill>
                  <a:srgbClr val="222222"/>
                </a:solidFill>
                <a:latin typeface="Meiryo" pitchFamily="34" charset="0"/>
                <a:ea typeface="Meiryo" pitchFamily="34" charset="-122"/>
                <a:cs typeface="Meiryo" pitchFamily="34" charset="-120"/>
              </a:rPr>
              <a:t>・日吉台＝園庭あり。リトミック・体操・英語教育。小学校校長／幼稚園園長経験者、特別支援教育士、心理検査士、言語聴覚士などが在籍。</a:t>
            </a:r>
            <a:endParaRPr lang="en-US" sz="1050" dirty="0"/>
          </a:p>
          <a:p>
            <a:pPr marL="0" indent="0">
              <a:lnSpc>
                <a:spcPct val="103000"/>
              </a:lnSpc>
              <a:spcAft>
                <a:spcPts val="500"/>
              </a:spcAft>
              <a:buNone/>
            </a:pPr>
            <a:r>
              <a:rPr lang="en-US" sz="1000" dirty="0">
                <a:solidFill>
                  <a:srgbClr val="222222"/>
                </a:solidFill>
                <a:latin typeface="Meiryo" pitchFamily="34" charset="0"/>
                <a:ea typeface="Meiryo" pitchFamily="34" charset="-122"/>
                <a:cs typeface="Meiryo" pitchFamily="34" charset="-120"/>
              </a:rPr>
              <a:t>・松之郷＝アートセラピー・運動・社会性を育むグループ活動。／八坂台＝少人数の活動・制作、地域連携イベント、元サッカー選手の「サッカー療育」。</a:t>
            </a:r>
            <a:endParaRPr lang="en-US" sz="1050" dirty="0"/>
          </a:p>
          <a:p>
            <a:pPr marL="0" indent="0">
              <a:lnSpc>
                <a:spcPct val="103000"/>
              </a:lnSpc>
              <a:spcAft>
                <a:spcPts val="500"/>
              </a:spcAft>
              <a:buNone/>
            </a:pPr>
            <a:endParaRPr lang="en-US" sz="1050" dirty="0"/>
          </a:p>
          <a:p>
            <a:pPr marL="0" indent="0">
              <a:lnSpc>
                <a:spcPct val="103000"/>
              </a:lnSpc>
              <a:buNone/>
            </a:pPr>
            <a:r>
              <a:rPr lang="en-US" sz="1000" b="1" dirty="0">
                <a:solidFill>
                  <a:srgbClr val="2E6BB8"/>
                </a:solidFill>
                <a:latin typeface="Meiryo" pitchFamily="34" charset="0"/>
                <a:ea typeface="Meiryo" pitchFamily="34" charset="-122"/>
                <a:cs typeface="Meiryo" pitchFamily="34" charset="-120"/>
              </a:rPr>
              <a:t>▶</a:t>
            </a:r>
            <a:r>
              <a:rPr lang="en-US" sz="1000" b="1" dirty="0">
                <a:solidFill>
                  <a:srgbClr val="222222"/>
                </a:solidFill>
                <a:latin typeface="Meiryo" pitchFamily="34" charset="0"/>
                <a:ea typeface="Meiryo" pitchFamily="34" charset="-122"/>
                <a:cs typeface="Meiryo" pitchFamily="34" charset="-120"/>
              </a:rPr>
              <a:t>出典：</a:t>
            </a:r>
            <a:r>
              <a:rPr lang="en-US" sz="1000" dirty="0">
                <a:solidFill>
                  <a:srgbClr val="222222"/>
                </a:solidFill>
                <a:latin typeface="Meiryo" pitchFamily="34" charset="0"/>
                <a:ea typeface="Meiryo" pitchFamily="34" charset="-122"/>
                <a:cs typeface="Meiryo" pitchFamily="34" charset="-120"/>
              </a:rPr>
              <a:t>公式HP kihonjuku-yuuyuu.com／LITALICO発達ナビ／児発ねっと／ホイシル／ADDS kikotto施設検索</a:t>
            </a:r>
            <a:endParaRPr lang="en-US" sz="1050" dirty="0"/>
          </a:p>
          <a:p>
            <a:pPr marL="0" indent="0">
              <a:lnSpc>
                <a:spcPct val="103000"/>
              </a:lnSpc>
              <a:buNone/>
            </a:pPr>
            <a:r>
              <a:rPr lang="en-US" sz="1000" b="1" dirty="0">
                <a:solidFill>
                  <a:srgbClr val="2E6BB8"/>
                </a:solidFill>
                <a:latin typeface="Meiryo" pitchFamily="34" charset="0"/>
                <a:ea typeface="Meiryo" pitchFamily="34" charset="-122"/>
                <a:cs typeface="Meiryo" pitchFamily="34" charset="-120"/>
              </a:rPr>
              <a:t>▶</a:t>
            </a:r>
            <a:r>
              <a:rPr lang="en-US" sz="1000" b="1" dirty="0">
                <a:solidFill>
                  <a:srgbClr val="222222"/>
                </a:solidFill>
                <a:latin typeface="Meiryo" pitchFamily="34" charset="0"/>
                <a:ea typeface="Meiryo" pitchFamily="34" charset="-122"/>
                <a:cs typeface="Meiryo" pitchFamily="34" charset="-120"/>
              </a:rPr>
              <a:t>要確認事項：</a:t>
            </a:r>
            <a:r>
              <a:rPr lang="en-US" sz="1000" dirty="0">
                <a:solidFill>
                  <a:srgbClr val="222222"/>
                </a:solidFill>
                <a:latin typeface="Meiryo" pitchFamily="34" charset="0"/>
                <a:ea typeface="Meiryo" pitchFamily="34" charset="-122"/>
                <a:cs typeface="Meiryo" pitchFamily="34" charset="-120"/>
              </a:rPr>
              <a:t>日吉台・八坂西・八坂中央の定員、児発と放デイの時間帯区分、各拠点の送迎範囲、八坂中央の開所時期・所在地・TEL</a:t>
            </a:r>
            <a:endParaRPr lang="en-US" sz="1050" dirty="0"/>
          </a:p>
        </p:txBody>
      </p:sp>
      <p:sp>
        <p:nvSpPr>
          <p:cNvPr id="13" name="Text 11"/>
          <p:cNvSpPr/>
          <p:nvPr/>
        </p:nvSpPr>
        <p:spPr>
          <a:xfrm>
            <a:off x="7635240" y="1783080"/>
            <a:ext cx="4069080" cy="2148840"/>
          </a:xfrm>
          <a:prstGeom prst="rect">
            <a:avLst/>
          </a:prstGeom>
          <a:solidFill>
            <a:srgbClr val="F4F6FA"/>
          </a:solidFill>
          <a:ln w="12700">
            <a:solidFill>
              <a:srgbClr val="9AA7B8"/>
            </a:solidFill>
            <a:prstDash val="dash"/>
          </a:ln>
        </p:spPr>
        <p:txBody>
          <a:bodyPr wrap="square" lIns="91440" tIns="45720" rIns="91440" bIns="45720" rtlCol="0" anchor="ctr"/>
          <a:lstStyle/>
          <a:p>
            <a:pPr marL="0" indent="0" algn="ctr">
              <a:lnSpc>
                <a:spcPct val="110000"/>
              </a:lnSpc>
              <a:buNone/>
            </a:pPr>
            <a:r>
              <a:rPr lang="en-US" sz="1200" b="1" dirty="0">
                <a:solidFill>
                  <a:srgbClr val="8A99AD"/>
                </a:solidFill>
                <a:latin typeface="Meiryo" pitchFamily="34" charset="0"/>
                <a:ea typeface="Meiryo" pitchFamily="34" charset="-122"/>
                <a:cs typeface="Meiryo" pitchFamily="34" charset="-120"/>
              </a:rPr>
              <a:t>［ 写真挿入エリア ］</a:t>
            </a:r>
            <a:endParaRPr lang="en-US" sz="1200" dirty="0"/>
          </a:p>
          <a:p>
            <a:pPr marL="0" indent="0" algn="ctr">
              <a:lnSpc>
                <a:spcPct val="110000"/>
              </a:lnSpc>
              <a:buNone/>
            </a:pPr>
            <a:r>
              <a:rPr lang="en-US" sz="950" dirty="0">
                <a:solidFill>
                  <a:srgbClr val="97A4B6"/>
                </a:solidFill>
                <a:latin typeface="Meiryo" pitchFamily="34" charset="0"/>
                <a:ea typeface="Meiryo" pitchFamily="34" charset="-122"/>
                <a:cs typeface="Meiryo" pitchFamily="34" charset="-120"/>
              </a:rPr>
              <a:t>（公式HP kihonjuku-yuuyuu.com 掲載の各拠点の教室・園庭・活動写真を挿入）</a:t>
            </a:r>
            <a:endParaRPr lang="en-US" sz="1200" dirty="0"/>
          </a:p>
        </p:txBody>
      </p:sp>
      <p:sp>
        <p:nvSpPr>
          <p:cNvPr id="14" name="Shape 12"/>
          <p:cNvSpPr/>
          <p:nvPr/>
        </p:nvSpPr>
        <p:spPr>
          <a:xfrm>
            <a:off x="7635240" y="4069080"/>
            <a:ext cx="4069080" cy="2148840"/>
          </a:xfrm>
          <a:prstGeom prst="rect">
            <a:avLst/>
          </a:prstGeom>
          <a:solidFill>
            <a:srgbClr val="EEF2F8"/>
          </a:solidFill>
          <a:ln w="12700">
            <a:solidFill>
              <a:srgbClr val="9AA7B8"/>
            </a:solidFill>
            <a:prstDash val="solid"/>
          </a:ln>
        </p:spPr>
      </p:sp>
      <p:sp>
        <p:nvSpPr>
          <p:cNvPr id="15" name="Text 13"/>
          <p:cNvSpPr/>
          <p:nvPr/>
        </p:nvSpPr>
        <p:spPr>
          <a:xfrm>
            <a:off x="7818120" y="4187952"/>
            <a:ext cx="3703320" cy="320040"/>
          </a:xfrm>
          <a:prstGeom prst="rect">
            <a:avLst/>
          </a:prstGeom>
          <a:noFill/>
          <a:ln/>
        </p:spPr>
        <p:txBody>
          <a:bodyPr wrap="square" lIns="0" tIns="0" rIns="0" bIns="0" rtlCol="0" anchor="ctr"/>
          <a:lstStyle/>
          <a:p>
            <a:pPr marL="0" indent="0">
              <a:buNone/>
            </a:pPr>
            <a:r>
              <a:rPr lang="en-US" sz="1250" b="1" dirty="0">
                <a:solidFill>
                  <a:srgbClr val="1B3A6B"/>
                </a:solidFill>
                <a:latin typeface="Meiryo" pitchFamily="34" charset="0"/>
                <a:ea typeface="Meiryo" pitchFamily="34" charset="-122"/>
                <a:cs typeface="Meiryo" pitchFamily="34" charset="-120"/>
              </a:rPr>
              <a:t>注目ポイント</a:t>
            </a:r>
            <a:endParaRPr lang="en-US" sz="1250" dirty="0"/>
          </a:p>
        </p:txBody>
      </p:sp>
      <p:sp>
        <p:nvSpPr>
          <p:cNvPr id="16" name="Text 14"/>
          <p:cNvSpPr/>
          <p:nvPr/>
        </p:nvSpPr>
        <p:spPr>
          <a:xfrm>
            <a:off x="7818120" y="4553712"/>
            <a:ext cx="3703320" cy="1554480"/>
          </a:xfrm>
          <a:prstGeom prst="rect">
            <a:avLst/>
          </a:prstGeom>
          <a:noFill/>
          <a:ln/>
        </p:spPr>
        <p:txBody>
          <a:bodyPr wrap="square" lIns="0" tIns="0" rIns="0" bIns="0" rtlCol="0" anchor="t"/>
          <a:lstStyle/>
          <a:p>
            <a:pPr marL="342900" indent="-342900">
              <a:spcAft>
                <a:spcPts val="700"/>
              </a:spcAft>
              <a:buSzPct val="100000"/>
              <a:buChar char="•"/>
            </a:pPr>
            <a:r>
              <a:rPr lang="en-US" sz="950" dirty="0">
                <a:solidFill>
                  <a:srgbClr val="222222"/>
                </a:solidFill>
                <a:latin typeface="メイリオ" panose="020B0604030504040204" pitchFamily="50" charset="-128"/>
                <a:ea typeface="メイリオ" panose="020B0604030504040204" pitchFamily="50" charset="-128"/>
                <a:cs typeface="Meiryo" pitchFamily="34" charset="-120"/>
              </a:rPr>
              <a:t>市内11拠点のうち5拠点を占める最大手。1法人で東金市の児童発達支援供給の約半数を握る。</a:t>
            </a:r>
            <a:endParaRPr lang="en-US" sz="1000" dirty="0">
              <a:latin typeface="メイリオ" panose="020B0604030504040204" pitchFamily="50" charset="-128"/>
              <a:ea typeface="メイリオ" panose="020B0604030504040204" pitchFamily="50" charset="-128"/>
            </a:endParaRPr>
          </a:p>
          <a:p>
            <a:pPr marL="342900" indent="-342900">
              <a:spcAft>
                <a:spcPts val="700"/>
              </a:spcAft>
              <a:buSzPct val="100000"/>
              <a:buChar char="•"/>
            </a:pPr>
            <a:r>
              <a:rPr lang="en-US" sz="950" dirty="0">
                <a:solidFill>
                  <a:srgbClr val="222222"/>
                </a:solidFill>
                <a:latin typeface="メイリオ" panose="020B0604030504040204" pitchFamily="50" charset="-128"/>
                <a:ea typeface="メイリオ" panose="020B0604030504040204" pitchFamily="50" charset="-128"/>
                <a:cs typeface="Meiryo" pitchFamily="34" charset="-120"/>
              </a:rPr>
              <a:t>教育畑の専門人材（校長・園長経験者、言語聴覚士、心理検査士）の厚みが最大の差別化要素で、参入障壁も高い。</a:t>
            </a:r>
            <a:endParaRPr lang="en-US" sz="1000" dirty="0">
              <a:latin typeface="メイリオ" panose="020B0604030504040204" pitchFamily="50" charset="-128"/>
              <a:ea typeface="メイリオ" panose="020B0604030504040204" pitchFamily="50" charset="-128"/>
            </a:endParaRPr>
          </a:p>
          <a:p>
            <a:pPr marL="342900" indent="-342900">
              <a:spcAft>
                <a:spcPts val="700"/>
              </a:spcAft>
              <a:buSzPct val="100000"/>
              <a:buChar char="•"/>
            </a:pPr>
            <a:r>
              <a:rPr lang="en-US" sz="950" dirty="0">
                <a:solidFill>
                  <a:srgbClr val="222222"/>
                </a:solidFill>
                <a:latin typeface="メイリオ" panose="020B0604030504040204" pitchFamily="50" charset="-128"/>
                <a:ea typeface="メイリオ" panose="020B0604030504040204" pitchFamily="50" charset="-128"/>
                <a:cs typeface="Meiryo" pitchFamily="34" charset="-120"/>
              </a:rPr>
              <a:t>拠点を小規模に分散させ、少人数環境を保ちながら総定員を確保するモデル。八坂台エリアだけで3拠点。</a:t>
            </a:r>
            <a:endParaRPr lang="en-US" sz="1000" dirty="0">
              <a:latin typeface="メイリオ" panose="020B0604030504040204" pitchFamily="50" charset="-128"/>
              <a:ea typeface="メイリオ" panose="020B0604030504040204" pitchFamily="50" charset="-128"/>
            </a:endParaRPr>
          </a:p>
          <a:p>
            <a:pPr marL="342900" indent="-342900">
              <a:spcAft>
                <a:spcPts val="700"/>
              </a:spcAft>
              <a:buSzPct val="100000"/>
              <a:buChar char="•"/>
            </a:pPr>
            <a:r>
              <a:rPr lang="en-US" sz="950" dirty="0">
                <a:solidFill>
                  <a:srgbClr val="222222"/>
                </a:solidFill>
                <a:latin typeface="メイリオ" panose="020B0604030504040204" pitchFamily="50" charset="-128"/>
                <a:ea typeface="メイリオ" panose="020B0604030504040204" pitchFamily="50" charset="-128"/>
                <a:cs typeface="Meiryo" pitchFamily="34" charset="-120"/>
              </a:rPr>
              <a:t>八坂台・日吉台への新規出店は基本塾との正面競合。土曜（八坂台は定休）や送迎圏の隙間が狙い目となる。</a:t>
            </a:r>
            <a:endParaRPr lang="en-US" sz="1000" dirty="0">
              <a:latin typeface="メイリオ" panose="020B0604030504040204" pitchFamily="50" charset="-128"/>
              <a:ea typeface="メイリオ" panose="020B0604030504040204" pitchFamily="50" charset="-128"/>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12188952" cy="932688"/>
          </a:xfrm>
          <a:prstGeom prst="rect">
            <a:avLst/>
          </a:prstGeom>
          <a:solidFill>
            <a:srgbClr val="1B3A6B"/>
          </a:solidFill>
          <a:ln/>
        </p:spPr>
      </p:sp>
      <p:sp>
        <p:nvSpPr>
          <p:cNvPr id="3" name="Shape 1"/>
          <p:cNvSpPr/>
          <p:nvPr/>
        </p:nvSpPr>
        <p:spPr>
          <a:xfrm>
            <a:off x="0" y="0"/>
            <a:ext cx="164592" cy="932688"/>
          </a:xfrm>
          <a:prstGeom prst="rect">
            <a:avLst/>
          </a:prstGeom>
          <a:solidFill>
            <a:srgbClr val="13294B"/>
          </a:solidFill>
          <a:ln/>
        </p:spPr>
      </p:sp>
      <p:sp>
        <p:nvSpPr>
          <p:cNvPr id="4" name="Text 2"/>
          <p:cNvSpPr/>
          <p:nvPr/>
        </p:nvSpPr>
        <p:spPr>
          <a:xfrm>
            <a:off x="502920" y="54864"/>
            <a:ext cx="8686800" cy="822960"/>
          </a:xfrm>
          <a:prstGeom prst="rect">
            <a:avLst/>
          </a:prstGeom>
          <a:noFill/>
          <a:ln/>
        </p:spPr>
        <p:txBody>
          <a:bodyPr wrap="square" lIns="0" tIns="0" rIns="0" bIns="0" rtlCol="0" anchor="ctr"/>
          <a:lstStyle/>
          <a:p>
            <a:pPr marL="0" indent="0">
              <a:buNone/>
            </a:pPr>
            <a:r>
              <a:rPr lang="en-US" sz="3000" b="1" dirty="0">
                <a:solidFill>
                  <a:srgbClr val="FFFFFF"/>
                </a:solidFill>
                <a:latin typeface="Meiryo" pitchFamily="34" charset="0"/>
                <a:ea typeface="Meiryo" pitchFamily="34" charset="-122"/>
                <a:cs typeface="Meiryo" pitchFamily="34" charset="-120"/>
              </a:rPr>
              <a:t>II．　事業所別 詳細</a:t>
            </a:r>
            <a:endParaRPr lang="en-US" sz="3000" dirty="0"/>
          </a:p>
        </p:txBody>
      </p:sp>
      <p:sp>
        <p:nvSpPr>
          <p:cNvPr id="5" name="Text 3"/>
          <p:cNvSpPr/>
          <p:nvPr/>
        </p:nvSpPr>
        <p:spPr>
          <a:xfrm>
            <a:off x="502920" y="1115568"/>
            <a:ext cx="8503920" cy="457200"/>
          </a:xfrm>
          <a:prstGeom prst="rect">
            <a:avLst/>
          </a:prstGeom>
          <a:noFill/>
          <a:ln/>
        </p:spPr>
        <p:txBody>
          <a:bodyPr wrap="square" lIns="0" tIns="0" rIns="0" bIns="0" rtlCol="0" anchor="ctr"/>
          <a:lstStyle/>
          <a:p>
            <a:pPr marL="0" indent="0">
              <a:buNone/>
            </a:pPr>
            <a:r>
              <a:rPr lang="en-US" sz="2100" b="1" dirty="0">
                <a:solidFill>
                  <a:srgbClr val="222222"/>
                </a:solidFill>
                <a:latin typeface="Meiryo" pitchFamily="34" charset="0"/>
                <a:ea typeface="Meiryo" pitchFamily="34" charset="-122"/>
                <a:cs typeface="Meiryo" pitchFamily="34" charset="-120"/>
              </a:rPr>
              <a:t>⑥ 児童発達支援コンパッション保育所</a:t>
            </a:r>
            <a:endParaRPr lang="en-US" sz="2100" dirty="0"/>
          </a:p>
        </p:txBody>
      </p:sp>
      <p:sp>
        <p:nvSpPr>
          <p:cNvPr id="6" name="Shape 4"/>
          <p:cNvSpPr/>
          <p:nvPr/>
        </p:nvSpPr>
        <p:spPr>
          <a:xfrm>
            <a:off x="10104120" y="1170432"/>
            <a:ext cx="1600200" cy="457200"/>
          </a:xfrm>
          <a:prstGeom prst="rect">
            <a:avLst/>
          </a:prstGeom>
          <a:solidFill>
            <a:srgbClr val="FFFFFF"/>
          </a:solidFill>
          <a:ln w="15875">
            <a:solidFill>
              <a:srgbClr val="1B3A6B"/>
            </a:solidFill>
            <a:prstDash val="solid"/>
          </a:ln>
        </p:spPr>
      </p:sp>
      <p:sp>
        <p:nvSpPr>
          <p:cNvPr id="7" name="Text 5"/>
          <p:cNvSpPr/>
          <p:nvPr/>
        </p:nvSpPr>
        <p:spPr>
          <a:xfrm>
            <a:off x="10104120" y="1170432"/>
            <a:ext cx="1600200" cy="457200"/>
          </a:xfrm>
          <a:prstGeom prst="rect">
            <a:avLst/>
          </a:prstGeom>
          <a:noFill/>
          <a:ln/>
        </p:spPr>
        <p:txBody>
          <a:bodyPr wrap="square" lIns="0" tIns="0" rIns="0" bIns="0" rtlCol="0" anchor="ctr"/>
          <a:lstStyle/>
          <a:p>
            <a:pPr marL="0" indent="0" algn="ctr">
              <a:buNone/>
            </a:pPr>
            <a:r>
              <a:rPr lang="en-US" sz="1400" b="1" dirty="0">
                <a:solidFill>
                  <a:srgbClr val="1B3A6B"/>
                </a:solidFill>
                <a:latin typeface="Meiryo" pitchFamily="34" charset="0"/>
                <a:ea typeface="Meiryo" pitchFamily="34" charset="-122"/>
                <a:cs typeface="Meiryo" pitchFamily="34" charset="-120"/>
              </a:rPr>
              <a:t>東金市</a:t>
            </a:r>
            <a:endParaRPr lang="en-US" sz="1400" dirty="0"/>
          </a:p>
        </p:txBody>
      </p:sp>
      <p:sp>
        <p:nvSpPr>
          <p:cNvPr id="8" name="Text 6"/>
          <p:cNvSpPr/>
          <p:nvPr/>
        </p:nvSpPr>
        <p:spPr>
          <a:xfrm>
            <a:off x="502920" y="6510528"/>
            <a:ext cx="7315200" cy="274320"/>
          </a:xfrm>
          <a:prstGeom prst="rect">
            <a:avLst/>
          </a:prstGeom>
          <a:noFill/>
          <a:ln/>
        </p:spPr>
        <p:txBody>
          <a:bodyPr wrap="square" lIns="0" tIns="0" rIns="0" bIns="0" rtlCol="0" anchor="ctr"/>
          <a:lstStyle/>
          <a:p>
            <a:pPr marL="0" indent="0">
              <a:buNone/>
            </a:pPr>
            <a:r>
              <a:rPr lang="en-US" sz="850" dirty="0">
                <a:solidFill>
                  <a:srgbClr val="666666"/>
                </a:solidFill>
                <a:latin typeface="Meiryo" pitchFamily="34" charset="0"/>
                <a:ea typeface="Meiryo" pitchFamily="34" charset="-122"/>
                <a:cs typeface="Meiryo" pitchFamily="34" charset="-120"/>
              </a:rPr>
              <a:t>Copyright Funai Soken Group. All rights reserved.</a:t>
            </a:r>
            <a:endParaRPr lang="en-US" sz="850" dirty="0"/>
          </a:p>
        </p:txBody>
      </p:sp>
      <p:sp>
        <p:nvSpPr>
          <p:cNvPr id="9" name="Shape 7"/>
          <p:cNvSpPr/>
          <p:nvPr/>
        </p:nvSpPr>
        <p:spPr>
          <a:xfrm>
            <a:off x="502920" y="1783080"/>
            <a:ext cx="6903720" cy="4434840"/>
          </a:xfrm>
          <a:prstGeom prst="rect">
            <a:avLst/>
          </a:prstGeom>
          <a:solidFill>
            <a:srgbClr val="FFFFFF"/>
          </a:solidFill>
          <a:ln w="12700">
            <a:solidFill>
              <a:srgbClr val="9AA7B8"/>
            </a:solidFill>
            <a:prstDash val="solid"/>
          </a:ln>
          <a:effectLst>
            <a:outerShdw blurRad="63500" dist="25400" dir="8100000" algn="bl" rotWithShape="0">
              <a:srgbClr val="000000">
                <a:alpha val="12000"/>
              </a:srgbClr>
            </a:outerShdw>
          </a:effectLst>
        </p:spPr>
      </p:sp>
      <p:sp>
        <p:nvSpPr>
          <p:cNvPr id="10" name="Text 8"/>
          <p:cNvSpPr/>
          <p:nvPr/>
        </p:nvSpPr>
        <p:spPr>
          <a:xfrm>
            <a:off x="704088" y="1911096"/>
            <a:ext cx="6501384" cy="384048"/>
          </a:xfrm>
          <a:prstGeom prst="rect">
            <a:avLst/>
          </a:prstGeom>
          <a:noFill/>
          <a:ln/>
        </p:spPr>
        <p:txBody>
          <a:bodyPr wrap="square" lIns="0" tIns="0" rIns="0" bIns="0" rtlCol="0" anchor="ctr"/>
          <a:lstStyle/>
          <a:p>
            <a:pPr marL="0" indent="0">
              <a:buNone/>
            </a:pPr>
            <a:r>
              <a:rPr lang="en-US" sz="1400" b="1" dirty="0">
                <a:solidFill>
                  <a:srgbClr val="1B3A6B"/>
                </a:solidFill>
                <a:latin typeface="Meiryo" pitchFamily="34" charset="0"/>
                <a:ea typeface="Meiryo" pitchFamily="34" charset="-122"/>
                <a:cs typeface="Meiryo" pitchFamily="34" charset="-120"/>
              </a:rPr>
              <a:t>児童発達支援コンパッション保育所</a:t>
            </a:r>
            <a:endParaRPr lang="en-US" sz="1400" dirty="0"/>
          </a:p>
        </p:txBody>
      </p:sp>
      <p:sp>
        <p:nvSpPr>
          <p:cNvPr id="11" name="Text 9"/>
          <p:cNvSpPr/>
          <p:nvPr/>
        </p:nvSpPr>
        <p:spPr>
          <a:xfrm>
            <a:off x="704088" y="2331720"/>
            <a:ext cx="6501384" cy="3813048"/>
          </a:xfrm>
          <a:prstGeom prst="rect">
            <a:avLst/>
          </a:prstGeom>
          <a:noFill/>
          <a:ln/>
        </p:spPr>
        <p:txBody>
          <a:bodyPr wrap="square" lIns="0" tIns="0" rIns="0" bIns="0" rtlCol="0" anchor="t"/>
          <a:lstStyle/>
          <a:p>
            <a:pPr marL="0" indent="0">
              <a:lnSpc>
                <a:spcPct val="103000"/>
              </a:lnSpc>
              <a:buNone/>
            </a:pPr>
            <a:r>
              <a:rPr lang="en-US" sz="1050" b="1" dirty="0">
                <a:solidFill>
                  <a:srgbClr val="2E6BB8"/>
                </a:solidFill>
                <a:latin typeface="Meiryo" pitchFamily="34" charset="0"/>
                <a:ea typeface="Meiryo" pitchFamily="34" charset="-122"/>
                <a:cs typeface="Meiryo" pitchFamily="34" charset="-120"/>
              </a:rPr>
              <a:t>▶</a:t>
            </a:r>
            <a:r>
              <a:rPr lang="en-US" sz="1050" b="1" dirty="0">
                <a:solidFill>
                  <a:srgbClr val="222222"/>
                </a:solidFill>
                <a:latin typeface="Meiryo" pitchFamily="34" charset="0"/>
                <a:ea typeface="Meiryo" pitchFamily="34" charset="-122"/>
                <a:cs typeface="Meiryo" pitchFamily="34" charset="-120"/>
              </a:rPr>
              <a:t>対象：</a:t>
            </a:r>
            <a:r>
              <a:rPr lang="en-US" sz="1050" dirty="0">
                <a:solidFill>
                  <a:srgbClr val="222222"/>
                </a:solidFill>
                <a:latin typeface="Meiryo" pitchFamily="34" charset="0"/>
                <a:ea typeface="Meiryo" pitchFamily="34" charset="-122"/>
                <a:cs typeface="Meiryo" pitchFamily="34" charset="-120"/>
              </a:rPr>
              <a:t>未就学児（児童発達支援）</a:t>
            </a:r>
            <a:endParaRPr lang="en-US" sz="1050" dirty="0"/>
          </a:p>
          <a:p>
            <a:pPr marL="0" indent="0">
              <a:lnSpc>
                <a:spcPct val="103000"/>
              </a:lnSpc>
              <a:buNone/>
            </a:pPr>
            <a:r>
              <a:rPr lang="en-US" sz="1050" b="1" dirty="0">
                <a:solidFill>
                  <a:srgbClr val="2E6BB8"/>
                </a:solidFill>
                <a:latin typeface="Meiryo" pitchFamily="34" charset="0"/>
                <a:ea typeface="Meiryo" pitchFamily="34" charset="-122"/>
                <a:cs typeface="Meiryo" pitchFamily="34" charset="-120"/>
              </a:rPr>
              <a:t>▶</a:t>
            </a:r>
            <a:r>
              <a:rPr lang="en-US" sz="1050" b="1" dirty="0">
                <a:solidFill>
                  <a:srgbClr val="222222"/>
                </a:solidFill>
                <a:latin typeface="Meiryo" pitchFamily="34" charset="0"/>
                <a:ea typeface="Meiryo" pitchFamily="34" charset="-122"/>
                <a:cs typeface="Meiryo" pitchFamily="34" charset="-120"/>
              </a:rPr>
              <a:t>住所：</a:t>
            </a:r>
            <a:r>
              <a:rPr lang="en-US" sz="1050" dirty="0">
                <a:solidFill>
                  <a:srgbClr val="222222"/>
                </a:solidFill>
                <a:latin typeface="Meiryo" pitchFamily="34" charset="0"/>
                <a:ea typeface="Meiryo" pitchFamily="34" charset="-122"/>
                <a:cs typeface="Meiryo" pitchFamily="34" charset="-120"/>
              </a:rPr>
              <a:t>千葉県東金市家之子1671-36</a:t>
            </a:r>
            <a:endParaRPr lang="en-US" sz="1050" dirty="0"/>
          </a:p>
          <a:p>
            <a:pPr marL="0" indent="0">
              <a:lnSpc>
                <a:spcPct val="103000"/>
              </a:lnSpc>
              <a:buNone/>
            </a:pPr>
            <a:r>
              <a:rPr lang="en-US" sz="1050" b="1" dirty="0">
                <a:solidFill>
                  <a:srgbClr val="2E6BB8"/>
                </a:solidFill>
                <a:latin typeface="Meiryo" pitchFamily="34" charset="0"/>
                <a:ea typeface="Meiryo" pitchFamily="34" charset="-122"/>
                <a:cs typeface="Meiryo" pitchFamily="34" charset="-120"/>
              </a:rPr>
              <a:t>▶</a:t>
            </a:r>
            <a:r>
              <a:rPr lang="en-US" sz="1050" b="1" dirty="0">
                <a:solidFill>
                  <a:srgbClr val="222222"/>
                </a:solidFill>
                <a:latin typeface="Meiryo" pitchFamily="34" charset="0"/>
                <a:ea typeface="Meiryo" pitchFamily="34" charset="-122"/>
                <a:cs typeface="Meiryo" pitchFamily="34" charset="-120"/>
              </a:rPr>
              <a:t>TEL／HP：</a:t>
            </a:r>
            <a:r>
              <a:rPr lang="en-US" sz="1050" dirty="0">
                <a:solidFill>
                  <a:srgbClr val="222222"/>
                </a:solidFill>
                <a:latin typeface="Meiryo" pitchFamily="34" charset="0"/>
                <a:ea typeface="Meiryo" pitchFamily="34" charset="-122"/>
                <a:cs typeface="Meiryo" pitchFamily="34" charset="-120"/>
              </a:rPr>
              <a:t>要確認（公開情報に記載なし）</a:t>
            </a:r>
            <a:endParaRPr lang="en-US" sz="1050" dirty="0"/>
          </a:p>
          <a:p>
            <a:pPr marL="0" indent="0">
              <a:lnSpc>
                <a:spcPct val="103000"/>
              </a:lnSpc>
              <a:buNone/>
            </a:pPr>
            <a:r>
              <a:rPr lang="en-US" sz="1050" b="1" dirty="0">
                <a:solidFill>
                  <a:srgbClr val="2E6BB8"/>
                </a:solidFill>
                <a:latin typeface="Meiryo" pitchFamily="34" charset="0"/>
                <a:ea typeface="Meiryo" pitchFamily="34" charset="-122"/>
                <a:cs typeface="Meiryo" pitchFamily="34" charset="-120"/>
              </a:rPr>
              <a:t>▶</a:t>
            </a:r>
            <a:r>
              <a:rPr lang="en-US" sz="1050" b="1" dirty="0">
                <a:solidFill>
                  <a:srgbClr val="222222"/>
                </a:solidFill>
                <a:latin typeface="Meiryo" pitchFamily="34" charset="0"/>
                <a:ea typeface="Meiryo" pitchFamily="34" charset="-122"/>
                <a:cs typeface="Meiryo" pitchFamily="34" charset="-120"/>
              </a:rPr>
              <a:t>サービス提供時間／定員：</a:t>
            </a:r>
            <a:r>
              <a:rPr lang="en-US" sz="1050" dirty="0">
                <a:solidFill>
                  <a:srgbClr val="222222"/>
                </a:solidFill>
                <a:latin typeface="Meiryo" pitchFamily="34" charset="0"/>
                <a:ea typeface="Meiryo" pitchFamily="34" charset="-122"/>
                <a:cs typeface="Meiryo" pitchFamily="34" charset="-120"/>
              </a:rPr>
              <a:t>いずれも要確認</a:t>
            </a:r>
            <a:endParaRPr lang="en-US" sz="1050" dirty="0"/>
          </a:p>
          <a:p>
            <a:pPr marL="0" indent="0">
              <a:lnSpc>
                <a:spcPct val="103000"/>
              </a:lnSpc>
              <a:spcAft>
                <a:spcPts val="500"/>
              </a:spcAft>
              <a:buNone/>
            </a:pPr>
            <a:endParaRPr lang="en-US" sz="1050" dirty="0"/>
          </a:p>
          <a:p>
            <a:pPr marL="0" indent="0">
              <a:lnSpc>
                <a:spcPct val="103000"/>
              </a:lnSpc>
              <a:buNone/>
            </a:pPr>
            <a:r>
              <a:rPr lang="en-US" sz="1050" b="1" dirty="0">
                <a:solidFill>
                  <a:srgbClr val="2E6BB8"/>
                </a:solidFill>
                <a:latin typeface="Meiryo" pitchFamily="34" charset="0"/>
                <a:ea typeface="Meiryo" pitchFamily="34" charset="-122"/>
                <a:cs typeface="Meiryo" pitchFamily="34" charset="-120"/>
              </a:rPr>
              <a:t>▶</a:t>
            </a:r>
            <a:r>
              <a:rPr lang="en-US" sz="1050" b="1" dirty="0">
                <a:solidFill>
                  <a:srgbClr val="222222"/>
                </a:solidFill>
                <a:latin typeface="Meiryo" pitchFamily="34" charset="0"/>
                <a:ea typeface="Meiryo" pitchFamily="34" charset="-122"/>
                <a:cs typeface="Meiryo" pitchFamily="34" charset="-120"/>
              </a:rPr>
              <a:t>療育プログラムの特徴：</a:t>
            </a:r>
            <a:r>
              <a:rPr lang="en-US" sz="1050" dirty="0">
                <a:solidFill>
                  <a:srgbClr val="222222"/>
                </a:solidFill>
                <a:latin typeface="Meiryo" pitchFamily="34" charset="0"/>
                <a:ea typeface="Meiryo" pitchFamily="34" charset="-122"/>
                <a:cs typeface="Meiryo" pitchFamily="34" charset="-120"/>
              </a:rPr>
              <a:t>保育所を母体とする児童発達支援。保育の場と療育の場が同一施設にある併設型。</a:t>
            </a:r>
            <a:endParaRPr lang="en-US" sz="1050" dirty="0"/>
          </a:p>
          <a:p>
            <a:pPr marL="0" indent="0">
              <a:lnSpc>
                <a:spcPct val="103000"/>
              </a:lnSpc>
              <a:spcAft>
                <a:spcPts val="500"/>
              </a:spcAft>
              <a:buNone/>
            </a:pPr>
            <a:r>
              <a:rPr lang="en-US" sz="1050" dirty="0">
                <a:solidFill>
                  <a:srgbClr val="222222"/>
                </a:solidFill>
                <a:latin typeface="Meiryo" pitchFamily="34" charset="0"/>
                <a:ea typeface="Meiryo" pitchFamily="34" charset="-122"/>
                <a:cs typeface="Meiryo" pitchFamily="34" charset="-120"/>
              </a:rPr>
              <a:t>・市および発達支援施設検索サイトの児童発達支援事業所一覧に掲載されている。</a:t>
            </a:r>
            <a:endParaRPr lang="en-US" sz="1050" dirty="0"/>
          </a:p>
          <a:p>
            <a:pPr marL="0" indent="0">
              <a:lnSpc>
                <a:spcPct val="103000"/>
              </a:lnSpc>
              <a:spcAft>
                <a:spcPts val="500"/>
              </a:spcAft>
              <a:buNone/>
            </a:pPr>
            <a:r>
              <a:rPr lang="en-US" sz="1050" dirty="0">
                <a:solidFill>
                  <a:srgbClr val="222222"/>
                </a:solidFill>
                <a:latin typeface="Meiryo" pitchFamily="34" charset="0"/>
                <a:ea typeface="Meiryo" pitchFamily="34" charset="-122"/>
                <a:cs typeface="Meiryo" pitchFamily="34" charset="-120"/>
              </a:rPr>
              <a:t>・Web上の公開情報は極めて限定的で、支援プログラムの詳細は現地・電話での確認が必要。</a:t>
            </a:r>
            <a:endParaRPr lang="en-US" sz="1050" dirty="0"/>
          </a:p>
          <a:p>
            <a:pPr marL="0" indent="0">
              <a:lnSpc>
                <a:spcPct val="103000"/>
              </a:lnSpc>
              <a:spcAft>
                <a:spcPts val="500"/>
              </a:spcAft>
              <a:buNone/>
            </a:pPr>
            <a:endParaRPr lang="en-US" sz="1050" dirty="0"/>
          </a:p>
          <a:p>
            <a:pPr marL="0" indent="0">
              <a:lnSpc>
                <a:spcPct val="103000"/>
              </a:lnSpc>
              <a:buNone/>
            </a:pPr>
            <a:r>
              <a:rPr lang="en-US" sz="1050" b="1" dirty="0">
                <a:solidFill>
                  <a:srgbClr val="2E6BB8"/>
                </a:solidFill>
                <a:latin typeface="Meiryo" pitchFamily="34" charset="0"/>
                <a:ea typeface="Meiryo" pitchFamily="34" charset="-122"/>
                <a:cs typeface="Meiryo" pitchFamily="34" charset="-120"/>
              </a:rPr>
              <a:t>▶</a:t>
            </a:r>
            <a:r>
              <a:rPr lang="en-US" sz="1050" b="1" dirty="0">
                <a:solidFill>
                  <a:srgbClr val="222222"/>
                </a:solidFill>
                <a:latin typeface="Meiryo" pitchFamily="34" charset="0"/>
                <a:ea typeface="Meiryo" pitchFamily="34" charset="-122"/>
                <a:cs typeface="Meiryo" pitchFamily="34" charset="-120"/>
              </a:rPr>
              <a:t>出典：</a:t>
            </a:r>
            <a:r>
              <a:rPr lang="en-US" sz="1050" dirty="0">
                <a:solidFill>
                  <a:srgbClr val="222222"/>
                </a:solidFill>
                <a:latin typeface="Meiryo" pitchFamily="34" charset="0"/>
                <a:ea typeface="Meiryo" pitchFamily="34" charset="-122"/>
                <a:cs typeface="Meiryo" pitchFamily="34" charset="-120"/>
              </a:rPr>
              <a:t>東金市公式サイト／LITALICO発達ナビ 東金市 児童発達支援事業所一覧</a:t>
            </a:r>
            <a:endParaRPr lang="en-US" sz="1050" dirty="0"/>
          </a:p>
          <a:p>
            <a:pPr marL="0" indent="0">
              <a:lnSpc>
                <a:spcPct val="103000"/>
              </a:lnSpc>
              <a:buNone/>
            </a:pPr>
            <a:r>
              <a:rPr lang="en-US" sz="1050" b="1" dirty="0">
                <a:solidFill>
                  <a:srgbClr val="2E6BB8"/>
                </a:solidFill>
                <a:latin typeface="Meiryo" pitchFamily="34" charset="0"/>
                <a:ea typeface="Meiryo" pitchFamily="34" charset="-122"/>
                <a:cs typeface="Meiryo" pitchFamily="34" charset="-120"/>
              </a:rPr>
              <a:t>▶</a:t>
            </a:r>
            <a:r>
              <a:rPr lang="en-US" sz="1050" b="1" dirty="0">
                <a:solidFill>
                  <a:srgbClr val="222222"/>
                </a:solidFill>
                <a:latin typeface="Meiryo" pitchFamily="34" charset="0"/>
                <a:ea typeface="Meiryo" pitchFamily="34" charset="-122"/>
                <a:cs typeface="Meiryo" pitchFamily="34" charset="-120"/>
              </a:rPr>
              <a:t>要確認事項：</a:t>
            </a:r>
            <a:r>
              <a:rPr lang="en-US" sz="1050" dirty="0">
                <a:solidFill>
                  <a:srgbClr val="222222"/>
                </a:solidFill>
                <a:latin typeface="Meiryo" pitchFamily="34" charset="0"/>
                <a:ea typeface="Meiryo" pitchFamily="34" charset="-122"/>
                <a:cs typeface="Meiryo" pitchFamily="34" charset="-120"/>
              </a:rPr>
              <a:t>運営法人、電話番号、定員、提供時間、母体となる保育所との関係　※公開情報がほぼ無い</a:t>
            </a:r>
            <a:endParaRPr lang="en-US" sz="1050" dirty="0"/>
          </a:p>
        </p:txBody>
      </p:sp>
      <p:sp>
        <p:nvSpPr>
          <p:cNvPr id="13" name="Text 11"/>
          <p:cNvSpPr/>
          <p:nvPr/>
        </p:nvSpPr>
        <p:spPr>
          <a:xfrm>
            <a:off x="7635240" y="1783080"/>
            <a:ext cx="4069080" cy="2148840"/>
          </a:xfrm>
          <a:prstGeom prst="rect">
            <a:avLst/>
          </a:prstGeom>
          <a:solidFill>
            <a:srgbClr val="F4F6FA"/>
          </a:solidFill>
          <a:ln w="12700">
            <a:solidFill>
              <a:srgbClr val="9AA7B8"/>
            </a:solidFill>
            <a:prstDash val="dash"/>
          </a:ln>
        </p:spPr>
        <p:txBody>
          <a:bodyPr wrap="square" lIns="91440" tIns="45720" rIns="91440" bIns="45720" rtlCol="0" anchor="ctr"/>
          <a:lstStyle/>
          <a:p>
            <a:pPr marL="0" indent="0" algn="ctr">
              <a:lnSpc>
                <a:spcPct val="110000"/>
              </a:lnSpc>
              <a:buNone/>
            </a:pPr>
            <a:r>
              <a:rPr lang="en-US" sz="1200" b="1" dirty="0">
                <a:solidFill>
                  <a:srgbClr val="8A99AD"/>
                </a:solidFill>
                <a:latin typeface="Meiryo" pitchFamily="34" charset="0"/>
                <a:ea typeface="Meiryo" pitchFamily="34" charset="-122"/>
                <a:cs typeface="Meiryo" pitchFamily="34" charset="-120"/>
              </a:rPr>
              <a:t>［ 写真挿入エリア ］</a:t>
            </a:r>
            <a:endParaRPr lang="en-US" sz="1200" dirty="0"/>
          </a:p>
          <a:p>
            <a:pPr marL="0" indent="0" algn="ctr">
              <a:lnSpc>
                <a:spcPct val="110000"/>
              </a:lnSpc>
              <a:buNone/>
            </a:pPr>
            <a:r>
              <a:rPr lang="en-US" sz="950" dirty="0">
                <a:solidFill>
                  <a:srgbClr val="97A4B6"/>
                </a:solidFill>
                <a:latin typeface="Meiryo" pitchFamily="34" charset="0"/>
                <a:ea typeface="Meiryo" pitchFamily="34" charset="-122"/>
                <a:cs typeface="Meiryo" pitchFamily="34" charset="-120"/>
              </a:rPr>
              <a:t>（LITALICO発達ナビ／東金市公式の施設外観・保育室の写真を挿入）</a:t>
            </a:r>
            <a:endParaRPr lang="en-US" sz="1200" dirty="0"/>
          </a:p>
        </p:txBody>
      </p:sp>
      <p:sp>
        <p:nvSpPr>
          <p:cNvPr id="14" name="Shape 12"/>
          <p:cNvSpPr/>
          <p:nvPr/>
        </p:nvSpPr>
        <p:spPr>
          <a:xfrm>
            <a:off x="7635240" y="4069080"/>
            <a:ext cx="4069080" cy="2148840"/>
          </a:xfrm>
          <a:prstGeom prst="rect">
            <a:avLst/>
          </a:prstGeom>
          <a:solidFill>
            <a:srgbClr val="EEF2F8"/>
          </a:solidFill>
          <a:ln w="12700">
            <a:solidFill>
              <a:srgbClr val="9AA7B8"/>
            </a:solidFill>
            <a:prstDash val="solid"/>
          </a:ln>
        </p:spPr>
      </p:sp>
      <p:sp>
        <p:nvSpPr>
          <p:cNvPr id="15" name="Text 13"/>
          <p:cNvSpPr/>
          <p:nvPr/>
        </p:nvSpPr>
        <p:spPr>
          <a:xfrm>
            <a:off x="7818120" y="4187952"/>
            <a:ext cx="3703320" cy="320040"/>
          </a:xfrm>
          <a:prstGeom prst="rect">
            <a:avLst/>
          </a:prstGeom>
          <a:noFill/>
          <a:ln/>
        </p:spPr>
        <p:txBody>
          <a:bodyPr wrap="square" lIns="0" tIns="0" rIns="0" bIns="0" rtlCol="0" anchor="ctr"/>
          <a:lstStyle/>
          <a:p>
            <a:pPr marL="0" indent="0">
              <a:buNone/>
            </a:pPr>
            <a:r>
              <a:rPr lang="en-US" sz="1250" b="1" dirty="0">
                <a:solidFill>
                  <a:srgbClr val="1B3A6B"/>
                </a:solidFill>
                <a:latin typeface="Meiryo" pitchFamily="34" charset="0"/>
                <a:ea typeface="Meiryo" pitchFamily="34" charset="-122"/>
                <a:cs typeface="Meiryo" pitchFamily="34" charset="-120"/>
              </a:rPr>
              <a:t>注目ポイント</a:t>
            </a:r>
            <a:endParaRPr lang="en-US" sz="1250" dirty="0"/>
          </a:p>
        </p:txBody>
      </p:sp>
      <p:sp>
        <p:nvSpPr>
          <p:cNvPr id="16" name="Text 14"/>
          <p:cNvSpPr/>
          <p:nvPr/>
        </p:nvSpPr>
        <p:spPr>
          <a:xfrm>
            <a:off x="7818120" y="4553712"/>
            <a:ext cx="3703320" cy="1554480"/>
          </a:xfrm>
          <a:prstGeom prst="rect">
            <a:avLst/>
          </a:prstGeom>
          <a:noFill/>
          <a:ln/>
        </p:spPr>
        <p:txBody>
          <a:bodyPr wrap="square" lIns="0" tIns="0" rIns="0" bIns="0" rtlCol="0" anchor="t"/>
          <a:lstStyle/>
          <a:p>
            <a:pPr marL="342900" indent="-342900">
              <a:spcAft>
                <a:spcPts val="700"/>
              </a:spcAft>
              <a:buSzPct val="100000"/>
              <a:buChar char="•"/>
            </a:pPr>
            <a:r>
              <a:rPr lang="en-US" sz="950" dirty="0">
                <a:solidFill>
                  <a:srgbClr val="222222"/>
                </a:solidFill>
                <a:latin typeface="メイリオ" panose="020B0604030504040204" pitchFamily="50" charset="-128"/>
                <a:ea typeface="メイリオ" panose="020B0604030504040204" pitchFamily="50" charset="-128"/>
                <a:cs typeface="Meiryo" pitchFamily="34" charset="-120"/>
              </a:rPr>
              <a:t>市街地から離れた家之子地区（市北部）に立地し、周辺の事業所空白地帯をカバー。</a:t>
            </a:r>
            <a:endParaRPr lang="en-US" sz="1000" dirty="0">
              <a:latin typeface="メイリオ" panose="020B0604030504040204" pitchFamily="50" charset="-128"/>
              <a:ea typeface="メイリオ" panose="020B0604030504040204" pitchFamily="50" charset="-128"/>
            </a:endParaRPr>
          </a:p>
          <a:p>
            <a:pPr marL="342900" indent="-342900">
              <a:spcAft>
                <a:spcPts val="700"/>
              </a:spcAft>
              <a:buSzPct val="100000"/>
              <a:buChar char="•"/>
            </a:pPr>
            <a:r>
              <a:rPr lang="en-US" sz="950" dirty="0">
                <a:solidFill>
                  <a:srgbClr val="222222"/>
                </a:solidFill>
                <a:latin typeface="メイリオ" panose="020B0604030504040204" pitchFamily="50" charset="-128"/>
                <a:ea typeface="メイリオ" panose="020B0604030504040204" pitchFamily="50" charset="-128"/>
                <a:cs typeface="Meiryo" pitchFamily="34" charset="-120"/>
              </a:rPr>
              <a:t>保育所併設型は市内で唯一。定型発達児との日常的な交流が可能な環境が構造的な強み。</a:t>
            </a:r>
            <a:endParaRPr lang="en-US" sz="1000" dirty="0">
              <a:latin typeface="メイリオ" panose="020B0604030504040204" pitchFamily="50" charset="-128"/>
              <a:ea typeface="メイリオ" panose="020B0604030504040204" pitchFamily="50" charset="-128"/>
            </a:endParaRPr>
          </a:p>
          <a:p>
            <a:pPr marL="342900" indent="-342900">
              <a:spcAft>
                <a:spcPts val="700"/>
              </a:spcAft>
              <a:buSzPct val="100000"/>
              <a:buChar char="•"/>
            </a:pPr>
            <a:r>
              <a:rPr lang="en-US" sz="950" dirty="0">
                <a:solidFill>
                  <a:srgbClr val="222222"/>
                </a:solidFill>
                <a:latin typeface="メイリオ" panose="020B0604030504040204" pitchFamily="50" charset="-128"/>
                <a:ea typeface="メイリオ" panose="020B0604030504040204" pitchFamily="50" charset="-128"/>
                <a:cs typeface="Meiryo" pitchFamily="34" charset="-120"/>
              </a:rPr>
              <a:t>情報発信がほぼ無く、稼働状況・空き枠の把握には直接ヒアリングが必須。</a:t>
            </a:r>
            <a:endParaRPr lang="en-US" sz="1000" dirty="0">
              <a:latin typeface="メイリオ" panose="020B0604030504040204" pitchFamily="50" charset="-128"/>
              <a:ea typeface="メイリオ" panose="020B0604030504040204" pitchFamily="50" charset="-128"/>
            </a:endParaRPr>
          </a:p>
          <a:p>
            <a:pPr marL="342900" indent="-342900">
              <a:spcAft>
                <a:spcPts val="700"/>
              </a:spcAft>
              <a:buSzPct val="100000"/>
              <a:buChar char="•"/>
            </a:pPr>
            <a:r>
              <a:rPr lang="en-US" sz="950" dirty="0">
                <a:solidFill>
                  <a:srgbClr val="222222"/>
                </a:solidFill>
                <a:latin typeface="メイリオ" panose="020B0604030504040204" pitchFamily="50" charset="-128"/>
                <a:ea typeface="メイリオ" panose="020B0604030504040204" pitchFamily="50" charset="-128"/>
                <a:cs typeface="Meiryo" pitchFamily="34" charset="-120"/>
              </a:rPr>
              <a:t>市北部（家之子・丘山方面）は事業所が少なく、送迎圏として狙える余地がある。</a:t>
            </a:r>
            <a:endParaRPr lang="en-US" sz="1000" dirty="0">
              <a:latin typeface="メイリオ" panose="020B0604030504040204" pitchFamily="50" charset="-128"/>
              <a:ea typeface="メイリオ" panose="020B0604030504040204" pitchFamily="50" charset="-128"/>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12188952" cy="932688"/>
          </a:xfrm>
          <a:prstGeom prst="rect">
            <a:avLst/>
          </a:prstGeom>
          <a:solidFill>
            <a:srgbClr val="1B3A6B"/>
          </a:solidFill>
          <a:ln/>
        </p:spPr>
      </p:sp>
      <p:sp>
        <p:nvSpPr>
          <p:cNvPr id="3" name="Shape 1"/>
          <p:cNvSpPr/>
          <p:nvPr/>
        </p:nvSpPr>
        <p:spPr>
          <a:xfrm>
            <a:off x="0" y="0"/>
            <a:ext cx="164592" cy="932688"/>
          </a:xfrm>
          <a:prstGeom prst="rect">
            <a:avLst/>
          </a:prstGeom>
          <a:solidFill>
            <a:srgbClr val="13294B"/>
          </a:solidFill>
          <a:ln/>
        </p:spPr>
      </p:sp>
      <p:sp>
        <p:nvSpPr>
          <p:cNvPr id="4" name="Text 2"/>
          <p:cNvSpPr/>
          <p:nvPr/>
        </p:nvSpPr>
        <p:spPr>
          <a:xfrm>
            <a:off x="502920" y="54864"/>
            <a:ext cx="8686800" cy="822960"/>
          </a:xfrm>
          <a:prstGeom prst="rect">
            <a:avLst/>
          </a:prstGeom>
          <a:noFill/>
          <a:ln/>
        </p:spPr>
        <p:txBody>
          <a:bodyPr wrap="square" lIns="0" tIns="0" rIns="0" bIns="0" rtlCol="0" anchor="ctr"/>
          <a:lstStyle/>
          <a:p>
            <a:pPr marL="0" indent="0">
              <a:buNone/>
            </a:pPr>
            <a:r>
              <a:rPr lang="en-US" sz="3000" b="1" dirty="0">
                <a:solidFill>
                  <a:srgbClr val="FFFFFF"/>
                </a:solidFill>
                <a:latin typeface="Meiryo" pitchFamily="34" charset="0"/>
                <a:ea typeface="Meiryo" pitchFamily="34" charset="-122"/>
                <a:cs typeface="Meiryo" pitchFamily="34" charset="-120"/>
              </a:rPr>
              <a:t>II．　事業所別 詳細</a:t>
            </a:r>
            <a:endParaRPr lang="en-US" sz="3000" dirty="0"/>
          </a:p>
        </p:txBody>
      </p:sp>
      <p:sp>
        <p:nvSpPr>
          <p:cNvPr id="5" name="Text 3"/>
          <p:cNvSpPr/>
          <p:nvPr/>
        </p:nvSpPr>
        <p:spPr>
          <a:xfrm>
            <a:off x="502920" y="1115568"/>
            <a:ext cx="8503920" cy="457200"/>
          </a:xfrm>
          <a:prstGeom prst="rect">
            <a:avLst/>
          </a:prstGeom>
          <a:noFill/>
          <a:ln/>
        </p:spPr>
        <p:txBody>
          <a:bodyPr wrap="square" lIns="0" tIns="0" rIns="0" bIns="0" rtlCol="0" anchor="ctr"/>
          <a:lstStyle/>
          <a:p>
            <a:pPr marL="0" indent="0">
              <a:buNone/>
            </a:pPr>
            <a:r>
              <a:rPr lang="en-US" sz="2100" b="1" dirty="0">
                <a:solidFill>
                  <a:srgbClr val="222222"/>
                </a:solidFill>
                <a:latin typeface="Meiryo" pitchFamily="34" charset="0"/>
                <a:ea typeface="Meiryo" pitchFamily="34" charset="-122"/>
                <a:cs typeface="Meiryo" pitchFamily="34" charset="-120"/>
              </a:rPr>
              <a:t>⑦ 鴇嶺の家</a:t>
            </a:r>
            <a:endParaRPr lang="en-US" sz="2100" dirty="0"/>
          </a:p>
        </p:txBody>
      </p:sp>
      <p:sp>
        <p:nvSpPr>
          <p:cNvPr id="6" name="Shape 4"/>
          <p:cNvSpPr/>
          <p:nvPr/>
        </p:nvSpPr>
        <p:spPr>
          <a:xfrm>
            <a:off x="10104120" y="1170432"/>
            <a:ext cx="1600200" cy="457200"/>
          </a:xfrm>
          <a:prstGeom prst="rect">
            <a:avLst/>
          </a:prstGeom>
          <a:solidFill>
            <a:srgbClr val="FFFFFF"/>
          </a:solidFill>
          <a:ln w="15875">
            <a:solidFill>
              <a:srgbClr val="1B3A6B"/>
            </a:solidFill>
            <a:prstDash val="solid"/>
          </a:ln>
        </p:spPr>
      </p:sp>
      <p:sp>
        <p:nvSpPr>
          <p:cNvPr id="7" name="Text 5"/>
          <p:cNvSpPr/>
          <p:nvPr/>
        </p:nvSpPr>
        <p:spPr>
          <a:xfrm>
            <a:off x="10104120" y="1170432"/>
            <a:ext cx="1600200" cy="457200"/>
          </a:xfrm>
          <a:prstGeom prst="rect">
            <a:avLst/>
          </a:prstGeom>
          <a:noFill/>
          <a:ln/>
        </p:spPr>
        <p:txBody>
          <a:bodyPr wrap="square" lIns="0" tIns="0" rIns="0" bIns="0" rtlCol="0" anchor="ctr"/>
          <a:lstStyle/>
          <a:p>
            <a:pPr marL="0" indent="0" algn="ctr">
              <a:buNone/>
            </a:pPr>
            <a:r>
              <a:rPr lang="en-US" sz="1400" b="1" dirty="0">
                <a:solidFill>
                  <a:srgbClr val="1B3A6B"/>
                </a:solidFill>
                <a:latin typeface="Meiryo" pitchFamily="34" charset="0"/>
                <a:ea typeface="Meiryo" pitchFamily="34" charset="-122"/>
                <a:cs typeface="Meiryo" pitchFamily="34" charset="-120"/>
              </a:rPr>
              <a:t>東金市</a:t>
            </a:r>
            <a:endParaRPr lang="en-US" sz="1400" dirty="0"/>
          </a:p>
        </p:txBody>
      </p:sp>
      <p:sp>
        <p:nvSpPr>
          <p:cNvPr id="8" name="Text 6"/>
          <p:cNvSpPr/>
          <p:nvPr/>
        </p:nvSpPr>
        <p:spPr>
          <a:xfrm>
            <a:off x="502920" y="6510528"/>
            <a:ext cx="7315200" cy="274320"/>
          </a:xfrm>
          <a:prstGeom prst="rect">
            <a:avLst/>
          </a:prstGeom>
          <a:noFill/>
          <a:ln/>
        </p:spPr>
        <p:txBody>
          <a:bodyPr wrap="square" lIns="0" tIns="0" rIns="0" bIns="0" rtlCol="0" anchor="ctr"/>
          <a:lstStyle/>
          <a:p>
            <a:pPr marL="0" indent="0">
              <a:buNone/>
            </a:pPr>
            <a:r>
              <a:rPr lang="en-US" sz="850" dirty="0">
                <a:solidFill>
                  <a:srgbClr val="666666"/>
                </a:solidFill>
                <a:latin typeface="Meiryo" pitchFamily="34" charset="0"/>
                <a:ea typeface="Meiryo" pitchFamily="34" charset="-122"/>
                <a:cs typeface="Meiryo" pitchFamily="34" charset="-120"/>
              </a:rPr>
              <a:t>Copyright Funai Soken Group. All rights reserved.</a:t>
            </a:r>
            <a:endParaRPr lang="en-US" sz="850" dirty="0"/>
          </a:p>
        </p:txBody>
      </p:sp>
      <p:sp>
        <p:nvSpPr>
          <p:cNvPr id="9" name="Shape 7"/>
          <p:cNvSpPr/>
          <p:nvPr/>
        </p:nvSpPr>
        <p:spPr>
          <a:xfrm>
            <a:off x="502920" y="1783080"/>
            <a:ext cx="6903720" cy="4434840"/>
          </a:xfrm>
          <a:prstGeom prst="rect">
            <a:avLst/>
          </a:prstGeom>
          <a:solidFill>
            <a:srgbClr val="FFFFFF"/>
          </a:solidFill>
          <a:ln w="12700">
            <a:solidFill>
              <a:srgbClr val="9AA7B8"/>
            </a:solidFill>
            <a:prstDash val="solid"/>
          </a:ln>
          <a:effectLst>
            <a:outerShdw blurRad="63500" dist="25400" dir="8100000" algn="bl" rotWithShape="0">
              <a:srgbClr val="000000">
                <a:alpha val="12000"/>
              </a:srgbClr>
            </a:outerShdw>
          </a:effectLst>
        </p:spPr>
      </p:sp>
      <p:sp>
        <p:nvSpPr>
          <p:cNvPr id="10" name="Text 8"/>
          <p:cNvSpPr/>
          <p:nvPr/>
        </p:nvSpPr>
        <p:spPr>
          <a:xfrm>
            <a:off x="704088" y="1911096"/>
            <a:ext cx="6501384" cy="384048"/>
          </a:xfrm>
          <a:prstGeom prst="rect">
            <a:avLst/>
          </a:prstGeom>
          <a:noFill/>
          <a:ln/>
        </p:spPr>
        <p:txBody>
          <a:bodyPr wrap="square" lIns="0" tIns="0" rIns="0" bIns="0" rtlCol="0" anchor="ctr"/>
          <a:lstStyle/>
          <a:p>
            <a:pPr marL="0" indent="0">
              <a:buNone/>
            </a:pPr>
            <a:r>
              <a:rPr lang="en-US" sz="1400" b="1" dirty="0">
                <a:solidFill>
                  <a:srgbClr val="1B3A6B"/>
                </a:solidFill>
                <a:latin typeface="Meiryo" pitchFamily="34" charset="0"/>
                <a:ea typeface="Meiryo" pitchFamily="34" charset="-122"/>
                <a:cs typeface="Meiryo" pitchFamily="34" charset="-120"/>
              </a:rPr>
              <a:t>鴇嶺の家（児童発達支援・放課後等デイサービス）</a:t>
            </a:r>
            <a:endParaRPr lang="en-US" sz="1400" dirty="0"/>
          </a:p>
        </p:txBody>
      </p:sp>
      <p:sp>
        <p:nvSpPr>
          <p:cNvPr id="11" name="Text 9"/>
          <p:cNvSpPr/>
          <p:nvPr/>
        </p:nvSpPr>
        <p:spPr>
          <a:xfrm>
            <a:off x="704088" y="2331720"/>
            <a:ext cx="6501384" cy="3813048"/>
          </a:xfrm>
          <a:prstGeom prst="rect">
            <a:avLst/>
          </a:prstGeom>
          <a:noFill/>
          <a:ln/>
        </p:spPr>
        <p:txBody>
          <a:bodyPr wrap="square" lIns="0" tIns="0" rIns="0" bIns="0" rtlCol="0" anchor="t"/>
          <a:lstStyle/>
          <a:p>
            <a:pPr marL="0" indent="0">
              <a:lnSpc>
                <a:spcPct val="103000"/>
              </a:lnSpc>
              <a:buNone/>
            </a:pPr>
            <a:r>
              <a:rPr lang="en-US" sz="1050" b="1" dirty="0">
                <a:solidFill>
                  <a:srgbClr val="2E6BB8"/>
                </a:solidFill>
                <a:latin typeface="Meiryo" pitchFamily="34" charset="0"/>
                <a:ea typeface="Meiryo" pitchFamily="34" charset="-122"/>
                <a:cs typeface="Meiryo" pitchFamily="34" charset="-120"/>
              </a:rPr>
              <a:t>▶</a:t>
            </a:r>
            <a:r>
              <a:rPr lang="en-US" sz="1050" b="1" dirty="0">
                <a:solidFill>
                  <a:srgbClr val="222222"/>
                </a:solidFill>
                <a:latin typeface="Meiryo" pitchFamily="34" charset="0"/>
                <a:ea typeface="Meiryo" pitchFamily="34" charset="-122"/>
                <a:cs typeface="Meiryo" pitchFamily="34" charset="-120"/>
              </a:rPr>
              <a:t>対象：</a:t>
            </a:r>
            <a:r>
              <a:rPr lang="en-US" sz="1050" dirty="0">
                <a:solidFill>
                  <a:srgbClr val="222222"/>
                </a:solidFill>
                <a:latin typeface="Meiryo" pitchFamily="34" charset="0"/>
                <a:ea typeface="Meiryo" pitchFamily="34" charset="-122"/>
                <a:cs typeface="Meiryo" pitchFamily="34" charset="-120"/>
              </a:rPr>
              <a:t>未就学児（児童発達支援）〜就学児（放課後等デイサービス）</a:t>
            </a:r>
            <a:endParaRPr lang="en-US" sz="1050" dirty="0"/>
          </a:p>
          <a:p>
            <a:pPr marL="0" indent="0">
              <a:lnSpc>
                <a:spcPct val="103000"/>
              </a:lnSpc>
              <a:buNone/>
            </a:pPr>
            <a:r>
              <a:rPr lang="en-US" sz="1050" b="1" dirty="0">
                <a:solidFill>
                  <a:srgbClr val="2E6BB8"/>
                </a:solidFill>
                <a:latin typeface="Meiryo" pitchFamily="34" charset="0"/>
                <a:ea typeface="Meiryo" pitchFamily="34" charset="-122"/>
                <a:cs typeface="Meiryo" pitchFamily="34" charset="-120"/>
              </a:rPr>
              <a:t>▶</a:t>
            </a:r>
            <a:r>
              <a:rPr lang="en-US" sz="1050" b="1" dirty="0">
                <a:solidFill>
                  <a:srgbClr val="222222"/>
                </a:solidFill>
                <a:latin typeface="Meiryo" pitchFamily="34" charset="0"/>
                <a:ea typeface="Meiryo" pitchFamily="34" charset="-122"/>
                <a:cs typeface="Meiryo" pitchFamily="34" charset="-120"/>
              </a:rPr>
              <a:t>住所：</a:t>
            </a:r>
            <a:r>
              <a:rPr lang="en-US" sz="1050" dirty="0">
                <a:solidFill>
                  <a:srgbClr val="222222"/>
                </a:solidFill>
                <a:latin typeface="Meiryo" pitchFamily="34" charset="0"/>
                <a:ea typeface="Meiryo" pitchFamily="34" charset="-122"/>
                <a:cs typeface="Meiryo" pitchFamily="34" charset="-120"/>
              </a:rPr>
              <a:t>千葉県東金市東金425-2</a:t>
            </a:r>
            <a:endParaRPr lang="en-US" sz="1050" dirty="0"/>
          </a:p>
          <a:p>
            <a:pPr marL="0" indent="0">
              <a:lnSpc>
                <a:spcPct val="103000"/>
              </a:lnSpc>
              <a:buNone/>
            </a:pPr>
            <a:r>
              <a:rPr lang="en-US" sz="1050" b="1" dirty="0">
                <a:solidFill>
                  <a:srgbClr val="2E6BB8"/>
                </a:solidFill>
                <a:latin typeface="Meiryo" pitchFamily="34" charset="0"/>
                <a:ea typeface="Meiryo" pitchFamily="34" charset="-122"/>
                <a:cs typeface="Meiryo" pitchFamily="34" charset="-120"/>
              </a:rPr>
              <a:t>▶</a:t>
            </a:r>
            <a:r>
              <a:rPr lang="en-US" sz="1050" b="1" dirty="0">
                <a:solidFill>
                  <a:srgbClr val="222222"/>
                </a:solidFill>
                <a:latin typeface="Meiryo" pitchFamily="34" charset="0"/>
                <a:ea typeface="Meiryo" pitchFamily="34" charset="-122"/>
                <a:cs typeface="Meiryo" pitchFamily="34" charset="-120"/>
              </a:rPr>
              <a:t>TEL／HP：</a:t>
            </a:r>
            <a:r>
              <a:rPr lang="en-US" sz="1050" dirty="0">
                <a:solidFill>
                  <a:srgbClr val="222222"/>
                </a:solidFill>
                <a:latin typeface="Meiryo" pitchFamily="34" charset="0"/>
                <a:ea typeface="Meiryo" pitchFamily="34" charset="-122"/>
                <a:cs typeface="Meiryo" pitchFamily="34" charset="-120"/>
              </a:rPr>
              <a:t>要確認（公開情報では下4桁「0285」までの記載にとどまる）／公開HPなし</a:t>
            </a:r>
            <a:endParaRPr lang="en-US" sz="1050" dirty="0"/>
          </a:p>
          <a:p>
            <a:pPr marL="0" indent="0">
              <a:lnSpc>
                <a:spcPct val="103000"/>
              </a:lnSpc>
              <a:buNone/>
            </a:pPr>
            <a:r>
              <a:rPr lang="en-US" sz="1050" b="1" dirty="0">
                <a:solidFill>
                  <a:srgbClr val="2E6BB8"/>
                </a:solidFill>
                <a:latin typeface="Meiryo" pitchFamily="34" charset="0"/>
                <a:ea typeface="Meiryo" pitchFamily="34" charset="-122"/>
                <a:cs typeface="Meiryo" pitchFamily="34" charset="-120"/>
              </a:rPr>
              <a:t>▶</a:t>
            </a:r>
            <a:r>
              <a:rPr lang="en-US" sz="1050" b="1" dirty="0">
                <a:solidFill>
                  <a:srgbClr val="222222"/>
                </a:solidFill>
                <a:latin typeface="Meiryo" pitchFamily="34" charset="0"/>
                <a:ea typeface="Meiryo" pitchFamily="34" charset="-122"/>
                <a:cs typeface="Meiryo" pitchFamily="34" charset="-120"/>
              </a:rPr>
              <a:t>サービス提供時間／定員：</a:t>
            </a:r>
            <a:r>
              <a:rPr lang="en-US" sz="1050" dirty="0">
                <a:solidFill>
                  <a:srgbClr val="222222"/>
                </a:solidFill>
                <a:latin typeface="Meiryo" pitchFamily="34" charset="0"/>
                <a:ea typeface="Meiryo" pitchFamily="34" charset="-122"/>
                <a:cs typeface="Meiryo" pitchFamily="34" charset="-120"/>
              </a:rPr>
              <a:t>いずれも要確認</a:t>
            </a:r>
            <a:endParaRPr lang="en-US" sz="1050" dirty="0"/>
          </a:p>
          <a:p>
            <a:pPr marL="0" indent="0">
              <a:lnSpc>
                <a:spcPct val="103000"/>
              </a:lnSpc>
              <a:spcAft>
                <a:spcPts val="500"/>
              </a:spcAft>
              <a:buNone/>
            </a:pPr>
            <a:endParaRPr lang="en-US" sz="1050" dirty="0"/>
          </a:p>
          <a:p>
            <a:pPr marL="0" indent="0">
              <a:lnSpc>
                <a:spcPct val="103000"/>
              </a:lnSpc>
              <a:buNone/>
            </a:pPr>
            <a:r>
              <a:rPr lang="en-US" sz="1050" b="1" dirty="0">
                <a:solidFill>
                  <a:srgbClr val="2E6BB8"/>
                </a:solidFill>
                <a:latin typeface="Meiryo" pitchFamily="34" charset="0"/>
                <a:ea typeface="Meiryo" pitchFamily="34" charset="-122"/>
                <a:cs typeface="Meiryo" pitchFamily="34" charset="-120"/>
              </a:rPr>
              <a:t>▶</a:t>
            </a:r>
            <a:r>
              <a:rPr lang="en-US" sz="1050" b="1" dirty="0">
                <a:solidFill>
                  <a:srgbClr val="222222"/>
                </a:solidFill>
                <a:latin typeface="Meiryo" pitchFamily="34" charset="0"/>
                <a:ea typeface="Meiryo" pitchFamily="34" charset="-122"/>
                <a:cs typeface="Meiryo" pitchFamily="34" charset="-120"/>
              </a:rPr>
              <a:t>療育プログラムの特徴：</a:t>
            </a:r>
            <a:r>
              <a:rPr lang="en-US" sz="1050" dirty="0">
                <a:solidFill>
                  <a:srgbClr val="222222"/>
                </a:solidFill>
                <a:latin typeface="Meiryo" pitchFamily="34" charset="0"/>
                <a:ea typeface="Meiryo" pitchFamily="34" charset="-122"/>
                <a:cs typeface="Meiryo" pitchFamily="34" charset="-120"/>
              </a:rPr>
              <a:t>児童発達支援と放課後等デイサービスを併設。プログラム内容は公開情報からは確認できず要確認。</a:t>
            </a:r>
            <a:endParaRPr lang="en-US" sz="1050" dirty="0"/>
          </a:p>
          <a:p>
            <a:pPr marL="0" indent="0">
              <a:lnSpc>
                <a:spcPct val="103000"/>
              </a:lnSpc>
              <a:spcAft>
                <a:spcPts val="500"/>
              </a:spcAft>
              <a:buNone/>
            </a:pPr>
            <a:r>
              <a:rPr lang="en-US" sz="1050" dirty="0">
                <a:solidFill>
                  <a:srgbClr val="222222"/>
                </a:solidFill>
                <a:latin typeface="Meiryo" pitchFamily="34" charset="0"/>
                <a:ea typeface="Meiryo" pitchFamily="34" charset="-122"/>
                <a:cs typeface="Meiryo" pitchFamily="34" charset="-120"/>
              </a:rPr>
              <a:t>・東金地区（旧市街・鴇嶺小学校区）に立地し、学校からの通所導線が近い。</a:t>
            </a:r>
            <a:endParaRPr lang="en-US" sz="1050" dirty="0"/>
          </a:p>
          <a:p>
            <a:pPr marL="0" indent="0">
              <a:lnSpc>
                <a:spcPct val="103000"/>
              </a:lnSpc>
              <a:spcAft>
                <a:spcPts val="500"/>
              </a:spcAft>
              <a:buNone/>
            </a:pPr>
            <a:r>
              <a:rPr lang="en-US" sz="1050" dirty="0">
                <a:solidFill>
                  <a:srgbClr val="222222"/>
                </a:solidFill>
                <a:latin typeface="Meiryo" pitchFamily="34" charset="0"/>
                <a:ea typeface="Meiryo" pitchFamily="34" charset="-122"/>
                <a:cs typeface="Meiryo" pitchFamily="34" charset="-120"/>
              </a:rPr>
              <a:t>・同一町域の東金723にスターワーク東金（放デイ）があり、東金駅東口エリアに事業所が集積。</a:t>
            </a:r>
            <a:endParaRPr lang="en-US" sz="1050" dirty="0"/>
          </a:p>
          <a:p>
            <a:pPr marL="0" indent="0">
              <a:lnSpc>
                <a:spcPct val="103000"/>
              </a:lnSpc>
              <a:spcAft>
                <a:spcPts val="500"/>
              </a:spcAft>
              <a:buNone/>
            </a:pPr>
            <a:endParaRPr lang="en-US" sz="1050" dirty="0"/>
          </a:p>
          <a:p>
            <a:pPr marL="0" indent="0">
              <a:lnSpc>
                <a:spcPct val="103000"/>
              </a:lnSpc>
              <a:buNone/>
            </a:pPr>
            <a:r>
              <a:rPr lang="en-US" sz="1050" b="1" dirty="0">
                <a:solidFill>
                  <a:srgbClr val="2E6BB8"/>
                </a:solidFill>
                <a:latin typeface="Meiryo" pitchFamily="34" charset="0"/>
                <a:ea typeface="Meiryo" pitchFamily="34" charset="-122"/>
                <a:cs typeface="Meiryo" pitchFamily="34" charset="-120"/>
              </a:rPr>
              <a:t>▶</a:t>
            </a:r>
            <a:r>
              <a:rPr lang="en-US" sz="1050" b="1" dirty="0">
                <a:solidFill>
                  <a:srgbClr val="222222"/>
                </a:solidFill>
                <a:latin typeface="Meiryo" pitchFamily="34" charset="0"/>
                <a:ea typeface="Meiryo" pitchFamily="34" charset="-122"/>
                <a:cs typeface="Meiryo" pitchFamily="34" charset="-120"/>
              </a:rPr>
              <a:t>出典：</a:t>
            </a:r>
            <a:r>
              <a:rPr lang="en-US" sz="1050" dirty="0">
                <a:solidFill>
                  <a:srgbClr val="222222"/>
                </a:solidFill>
                <a:latin typeface="Meiryo" pitchFamily="34" charset="0"/>
                <a:ea typeface="Meiryo" pitchFamily="34" charset="-122"/>
                <a:cs typeface="Meiryo" pitchFamily="34" charset="-120"/>
              </a:rPr>
              <a:t>東金市公式サイト／LITALICO発達ナビ 東金市 児童発達支援事業所一覧</a:t>
            </a:r>
            <a:endParaRPr lang="en-US" sz="1050" dirty="0"/>
          </a:p>
          <a:p>
            <a:pPr marL="0" indent="0">
              <a:lnSpc>
                <a:spcPct val="103000"/>
              </a:lnSpc>
              <a:buNone/>
            </a:pPr>
            <a:r>
              <a:rPr lang="en-US" sz="1050" b="1" dirty="0">
                <a:solidFill>
                  <a:srgbClr val="2E6BB8"/>
                </a:solidFill>
                <a:latin typeface="Meiryo" pitchFamily="34" charset="0"/>
                <a:ea typeface="Meiryo" pitchFamily="34" charset="-122"/>
                <a:cs typeface="Meiryo" pitchFamily="34" charset="-120"/>
              </a:rPr>
              <a:t>▶</a:t>
            </a:r>
            <a:r>
              <a:rPr lang="en-US" sz="1050" b="1" dirty="0">
                <a:solidFill>
                  <a:srgbClr val="222222"/>
                </a:solidFill>
                <a:latin typeface="Meiryo" pitchFamily="34" charset="0"/>
                <a:ea typeface="Meiryo" pitchFamily="34" charset="-122"/>
                <a:cs typeface="Meiryo" pitchFamily="34" charset="-120"/>
              </a:rPr>
              <a:t>要確認事項：</a:t>
            </a:r>
            <a:r>
              <a:rPr lang="en-US" sz="1050" dirty="0">
                <a:solidFill>
                  <a:srgbClr val="222222"/>
                </a:solidFill>
                <a:latin typeface="Meiryo" pitchFamily="34" charset="0"/>
                <a:ea typeface="Meiryo" pitchFamily="34" charset="-122"/>
                <a:cs typeface="Meiryo" pitchFamily="34" charset="-120"/>
              </a:rPr>
              <a:t>運営法人、正確な電話番号、定員、提供時間、プログラム内容　※公開情報がほぼ無い</a:t>
            </a:r>
            <a:endParaRPr lang="en-US" sz="1050" dirty="0"/>
          </a:p>
        </p:txBody>
      </p:sp>
      <p:sp>
        <p:nvSpPr>
          <p:cNvPr id="13" name="Text 11"/>
          <p:cNvSpPr/>
          <p:nvPr/>
        </p:nvSpPr>
        <p:spPr>
          <a:xfrm>
            <a:off x="7635240" y="1783080"/>
            <a:ext cx="4069080" cy="2148840"/>
          </a:xfrm>
          <a:prstGeom prst="rect">
            <a:avLst/>
          </a:prstGeom>
          <a:solidFill>
            <a:srgbClr val="F4F6FA"/>
          </a:solidFill>
          <a:ln w="12700">
            <a:solidFill>
              <a:srgbClr val="9AA7B8"/>
            </a:solidFill>
            <a:prstDash val="dash"/>
          </a:ln>
        </p:spPr>
        <p:txBody>
          <a:bodyPr wrap="square" lIns="91440" tIns="45720" rIns="91440" bIns="45720" rtlCol="0" anchor="ctr"/>
          <a:lstStyle/>
          <a:p>
            <a:pPr marL="0" indent="0" algn="ctr">
              <a:lnSpc>
                <a:spcPct val="110000"/>
              </a:lnSpc>
              <a:buNone/>
            </a:pPr>
            <a:r>
              <a:rPr lang="en-US" sz="1200" b="1" dirty="0">
                <a:solidFill>
                  <a:srgbClr val="8A99AD"/>
                </a:solidFill>
                <a:latin typeface="Meiryo" pitchFamily="34" charset="0"/>
                <a:ea typeface="Meiryo" pitchFamily="34" charset="-122"/>
                <a:cs typeface="Meiryo" pitchFamily="34" charset="-120"/>
              </a:rPr>
              <a:t>［ 写真挿入エリア ］</a:t>
            </a:r>
            <a:endParaRPr lang="en-US" sz="1200" dirty="0"/>
          </a:p>
          <a:p>
            <a:pPr marL="0" indent="0" algn="ctr">
              <a:lnSpc>
                <a:spcPct val="110000"/>
              </a:lnSpc>
              <a:buNone/>
            </a:pPr>
            <a:r>
              <a:rPr lang="en-US" sz="950" dirty="0">
                <a:solidFill>
                  <a:srgbClr val="97A4B6"/>
                </a:solidFill>
                <a:latin typeface="Meiryo" pitchFamily="34" charset="0"/>
                <a:ea typeface="Meiryo" pitchFamily="34" charset="-122"/>
                <a:cs typeface="Meiryo" pitchFamily="34" charset="-120"/>
              </a:rPr>
              <a:t>（LITALICO発達ナビ／東金市公式の施設写真を挿入）</a:t>
            </a:r>
            <a:endParaRPr lang="en-US" sz="1200" dirty="0"/>
          </a:p>
        </p:txBody>
      </p:sp>
      <p:sp>
        <p:nvSpPr>
          <p:cNvPr id="14" name="Shape 12"/>
          <p:cNvSpPr/>
          <p:nvPr/>
        </p:nvSpPr>
        <p:spPr>
          <a:xfrm>
            <a:off x="7635240" y="4069080"/>
            <a:ext cx="4069080" cy="2148840"/>
          </a:xfrm>
          <a:prstGeom prst="rect">
            <a:avLst/>
          </a:prstGeom>
          <a:solidFill>
            <a:srgbClr val="EEF2F8"/>
          </a:solidFill>
          <a:ln w="12700">
            <a:solidFill>
              <a:srgbClr val="9AA7B8"/>
            </a:solidFill>
            <a:prstDash val="solid"/>
          </a:ln>
        </p:spPr>
      </p:sp>
      <p:sp>
        <p:nvSpPr>
          <p:cNvPr id="15" name="Text 13"/>
          <p:cNvSpPr/>
          <p:nvPr/>
        </p:nvSpPr>
        <p:spPr>
          <a:xfrm>
            <a:off x="7818120" y="4187952"/>
            <a:ext cx="3703320" cy="320040"/>
          </a:xfrm>
          <a:prstGeom prst="rect">
            <a:avLst/>
          </a:prstGeom>
          <a:noFill/>
          <a:ln/>
        </p:spPr>
        <p:txBody>
          <a:bodyPr wrap="square" lIns="0" tIns="0" rIns="0" bIns="0" rtlCol="0" anchor="ctr"/>
          <a:lstStyle/>
          <a:p>
            <a:pPr marL="0" indent="0">
              <a:buNone/>
            </a:pPr>
            <a:r>
              <a:rPr lang="en-US" sz="1250" b="1" dirty="0">
                <a:solidFill>
                  <a:srgbClr val="1B3A6B"/>
                </a:solidFill>
                <a:latin typeface="Meiryo" pitchFamily="34" charset="0"/>
                <a:ea typeface="Meiryo" pitchFamily="34" charset="-122"/>
                <a:cs typeface="Meiryo" pitchFamily="34" charset="-120"/>
              </a:rPr>
              <a:t>注目ポイント</a:t>
            </a:r>
            <a:endParaRPr lang="en-US" sz="1250" dirty="0"/>
          </a:p>
        </p:txBody>
      </p:sp>
      <p:sp>
        <p:nvSpPr>
          <p:cNvPr id="16" name="Text 14"/>
          <p:cNvSpPr/>
          <p:nvPr/>
        </p:nvSpPr>
        <p:spPr>
          <a:xfrm>
            <a:off x="7818120" y="4553712"/>
            <a:ext cx="3703320" cy="1554480"/>
          </a:xfrm>
          <a:prstGeom prst="rect">
            <a:avLst/>
          </a:prstGeom>
          <a:noFill/>
          <a:ln/>
        </p:spPr>
        <p:txBody>
          <a:bodyPr wrap="square" lIns="0" tIns="0" rIns="0" bIns="0" rtlCol="0" anchor="t"/>
          <a:lstStyle/>
          <a:p>
            <a:pPr marL="342900" indent="-342900">
              <a:spcAft>
                <a:spcPts val="700"/>
              </a:spcAft>
              <a:buSzPct val="100000"/>
              <a:buChar char="•"/>
            </a:pPr>
            <a:r>
              <a:rPr lang="en-US" sz="950" dirty="0">
                <a:solidFill>
                  <a:srgbClr val="222222"/>
                </a:solidFill>
                <a:latin typeface="メイリオ" panose="020B0604030504040204" pitchFamily="50" charset="-128"/>
                <a:ea typeface="メイリオ" panose="020B0604030504040204" pitchFamily="50" charset="-128"/>
                <a:cs typeface="Meiryo" pitchFamily="34" charset="-120"/>
              </a:rPr>
              <a:t>鴇嶺小学校区の中心部に位置し、学区内からの徒歩・短距離送迎に適した立地。</a:t>
            </a:r>
            <a:endParaRPr lang="en-US" sz="1000" dirty="0">
              <a:latin typeface="メイリオ" panose="020B0604030504040204" pitchFamily="50" charset="-128"/>
              <a:ea typeface="メイリオ" panose="020B0604030504040204" pitchFamily="50" charset="-128"/>
            </a:endParaRPr>
          </a:p>
          <a:p>
            <a:pPr marL="342900" indent="-342900">
              <a:spcAft>
                <a:spcPts val="700"/>
              </a:spcAft>
              <a:buSzPct val="100000"/>
              <a:buChar char="•"/>
            </a:pPr>
            <a:r>
              <a:rPr lang="en-US" sz="950" dirty="0">
                <a:solidFill>
                  <a:srgbClr val="222222"/>
                </a:solidFill>
                <a:latin typeface="メイリオ" panose="020B0604030504040204" pitchFamily="50" charset="-128"/>
                <a:ea typeface="メイリオ" panose="020B0604030504040204" pitchFamily="50" charset="-128"/>
                <a:cs typeface="Meiryo" pitchFamily="34" charset="-120"/>
              </a:rPr>
              <a:t>東金駅東口エリアの事業所集積地にあり、競合との距離が近い。</a:t>
            </a:r>
            <a:endParaRPr lang="en-US" sz="1000" dirty="0">
              <a:latin typeface="メイリオ" panose="020B0604030504040204" pitchFamily="50" charset="-128"/>
              <a:ea typeface="メイリオ" panose="020B0604030504040204" pitchFamily="50" charset="-128"/>
            </a:endParaRPr>
          </a:p>
          <a:p>
            <a:pPr marL="342900" indent="-342900">
              <a:spcAft>
                <a:spcPts val="700"/>
              </a:spcAft>
              <a:buSzPct val="100000"/>
              <a:buChar char="•"/>
            </a:pPr>
            <a:r>
              <a:rPr lang="en-US" sz="950" dirty="0">
                <a:solidFill>
                  <a:srgbClr val="222222"/>
                </a:solidFill>
                <a:latin typeface="メイリオ" panose="020B0604030504040204" pitchFamily="50" charset="-128"/>
                <a:ea typeface="メイリオ" panose="020B0604030504040204" pitchFamily="50" charset="-128"/>
                <a:cs typeface="Meiryo" pitchFamily="34" charset="-120"/>
              </a:rPr>
              <a:t>情報発信が乏しく、実態把握は市社会福祉課・相談支援事業所経由での確認が現実的。</a:t>
            </a:r>
            <a:endParaRPr lang="en-US" sz="1000" dirty="0">
              <a:latin typeface="メイリオ" panose="020B0604030504040204" pitchFamily="50" charset="-128"/>
              <a:ea typeface="メイリオ" panose="020B0604030504040204" pitchFamily="50" charset="-128"/>
            </a:endParaRPr>
          </a:p>
          <a:p>
            <a:pPr marL="342900" indent="-342900">
              <a:spcAft>
                <a:spcPts val="700"/>
              </a:spcAft>
              <a:buSzPct val="100000"/>
              <a:buChar char="•"/>
            </a:pPr>
            <a:r>
              <a:rPr lang="en-US" sz="950" dirty="0">
                <a:solidFill>
                  <a:srgbClr val="222222"/>
                </a:solidFill>
                <a:latin typeface="メイリオ" panose="020B0604030504040204" pitchFamily="50" charset="-128"/>
                <a:ea typeface="メイリオ" panose="020B0604030504040204" pitchFamily="50" charset="-128"/>
                <a:cs typeface="Meiryo" pitchFamily="34" charset="-120"/>
              </a:rPr>
              <a:t>東金駅東口は事業所集積地。新規参入するなら駅前以外の空白地を狙うのが現実的。</a:t>
            </a:r>
            <a:endParaRPr lang="en-US" sz="1000" dirty="0">
              <a:latin typeface="メイリオ" panose="020B0604030504040204" pitchFamily="50" charset="-128"/>
              <a:ea typeface="メイリオ" panose="020B0604030504040204" pitchFamily="50" charset="-128"/>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12188952" cy="932688"/>
          </a:xfrm>
          <a:prstGeom prst="rect">
            <a:avLst/>
          </a:prstGeom>
          <a:solidFill>
            <a:srgbClr val="1B3A6B"/>
          </a:solidFill>
          <a:ln/>
        </p:spPr>
      </p:sp>
      <p:sp>
        <p:nvSpPr>
          <p:cNvPr id="3" name="Shape 1"/>
          <p:cNvSpPr/>
          <p:nvPr/>
        </p:nvSpPr>
        <p:spPr>
          <a:xfrm>
            <a:off x="0" y="0"/>
            <a:ext cx="164592" cy="932688"/>
          </a:xfrm>
          <a:prstGeom prst="rect">
            <a:avLst/>
          </a:prstGeom>
          <a:solidFill>
            <a:srgbClr val="13294B"/>
          </a:solidFill>
          <a:ln/>
        </p:spPr>
      </p:sp>
      <p:sp>
        <p:nvSpPr>
          <p:cNvPr id="4" name="Text 2"/>
          <p:cNvSpPr/>
          <p:nvPr/>
        </p:nvSpPr>
        <p:spPr>
          <a:xfrm>
            <a:off x="502920" y="54864"/>
            <a:ext cx="8686800" cy="822960"/>
          </a:xfrm>
          <a:prstGeom prst="rect">
            <a:avLst/>
          </a:prstGeom>
          <a:noFill/>
          <a:ln/>
        </p:spPr>
        <p:txBody>
          <a:bodyPr wrap="square" lIns="0" tIns="0" rIns="0" bIns="0" rtlCol="0" anchor="ctr"/>
          <a:lstStyle/>
          <a:p>
            <a:pPr marL="0" indent="0">
              <a:buNone/>
            </a:pPr>
            <a:r>
              <a:rPr lang="en-US" altLang="ja-JP" sz="3000" b="1" dirty="0">
                <a:solidFill>
                  <a:srgbClr val="FFFFFF"/>
                </a:solidFill>
                <a:latin typeface="Meiryo" pitchFamily="34" charset="0"/>
                <a:ea typeface="Meiryo" pitchFamily="34" charset="-122"/>
                <a:cs typeface="Meiryo" pitchFamily="34" charset="-120"/>
              </a:rPr>
              <a:t>Ⅲ</a:t>
            </a:r>
            <a:r>
              <a:rPr lang="en-US" sz="3000" b="1" dirty="0">
                <a:solidFill>
                  <a:srgbClr val="FFFFFF"/>
                </a:solidFill>
                <a:latin typeface="Meiryo" pitchFamily="34" charset="0"/>
                <a:ea typeface="Meiryo" pitchFamily="34" charset="-122"/>
                <a:cs typeface="Meiryo" pitchFamily="34" charset="-120"/>
              </a:rPr>
              <a:t>． </a:t>
            </a:r>
            <a:r>
              <a:rPr lang="ja-JP" altLang="en-US" sz="3000" b="1" dirty="0">
                <a:solidFill>
                  <a:srgbClr val="FFFFFF"/>
                </a:solidFill>
                <a:latin typeface="Meiryo" pitchFamily="34" charset="0"/>
                <a:ea typeface="Meiryo" pitchFamily="34" charset="-122"/>
                <a:cs typeface="Meiryo" pitchFamily="34" charset="-120"/>
              </a:rPr>
              <a:t>まとめ</a:t>
            </a:r>
            <a:endParaRPr lang="en-US" sz="3000" dirty="0"/>
          </a:p>
        </p:txBody>
      </p:sp>
      <p:sp>
        <p:nvSpPr>
          <p:cNvPr id="5" name="Text 3"/>
          <p:cNvSpPr/>
          <p:nvPr/>
        </p:nvSpPr>
        <p:spPr>
          <a:xfrm>
            <a:off x="502920" y="1115568"/>
            <a:ext cx="8503920" cy="457200"/>
          </a:xfrm>
          <a:prstGeom prst="rect">
            <a:avLst/>
          </a:prstGeom>
          <a:noFill/>
          <a:ln/>
        </p:spPr>
        <p:txBody>
          <a:bodyPr wrap="square" lIns="0" tIns="0" rIns="0" bIns="0" rtlCol="0" anchor="ctr"/>
          <a:lstStyle/>
          <a:p>
            <a:pPr marL="0" indent="0">
              <a:buNone/>
            </a:pPr>
            <a:r>
              <a:rPr lang="ja-JP" altLang="en-US" sz="2100" b="1" dirty="0">
                <a:solidFill>
                  <a:srgbClr val="222222"/>
                </a:solidFill>
                <a:latin typeface="Meiryo" pitchFamily="34" charset="0"/>
                <a:ea typeface="Meiryo" pitchFamily="34" charset="-122"/>
                <a:cs typeface="Meiryo" pitchFamily="34" charset="-120"/>
              </a:rPr>
              <a:t>■ 比較まとめと示唆</a:t>
            </a:r>
            <a:endParaRPr lang="en-US" sz="2100" dirty="0"/>
          </a:p>
        </p:txBody>
      </p:sp>
      <p:sp>
        <p:nvSpPr>
          <p:cNvPr id="6" name="Text 4"/>
          <p:cNvSpPr/>
          <p:nvPr/>
        </p:nvSpPr>
        <p:spPr>
          <a:xfrm>
            <a:off x="502920" y="6510528"/>
            <a:ext cx="7315200" cy="274320"/>
          </a:xfrm>
          <a:prstGeom prst="rect">
            <a:avLst/>
          </a:prstGeom>
          <a:noFill/>
          <a:ln/>
        </p:spPr>
        <p:txBody>
          <a:bodyPr wrap="square" lIns="0" tIns="0" rIns="0" bIns="0" rtlCol="0" anchor="ctr"/>
          <a:lstStyle/>
          <a:p>
            <a:pPr marL="0" indent="0">
              <a:buNone/>
            </a:pPr>
            <a:r>
              <a:rPr lang="en-US" sz="850" dirty="0">
                <a:solidFill>
                  <a:srgbClr val="666666"/>
                </a:solidFill>
                <a:latin typeface="Meiryo" pitchFamily="34" charset="0"/>
                <a:ea typeface="Meiryo" pitchFamily="34" charset="-122"/>
                <a:cs typeface="Meiryo" pitchFamily="34" charset="-120"/>
              </a:rPr>
              <a:t>Copyright Funai Soken Group. All rights reserved.</a:t>
            </a:r>
            <a:endParaRPr lang="en-US" sz="850" dirty="0"/>
          </a:p>
        </p:txBody>
      </p:sp>
      <p:graphicFrame>
        <p:nvGraphicFramePr>
          <p:cNvPr id="8" name="Table 0"/>
          <p:cNvGraphicFramePr>
            <a:graphicFrameLocks noGrp="1"/>
          </p:cNvGraphicFramePr>
          <p:nvPr>
            <p:extLst>
              <p:ext uri="{D42A27DB-BD31-4B8C-83A1-F6EECF244321}">
                <p14:modId xmlns:p14="http://schemas.microsoft.com/office/powerpoint/2010/main" val="1455520415"/>
              </p:ext>
            </p:extLst>
          </p:nvPr>
        </p:nvGraphicFramePr>
        <p:xfrm>
          <a:off x="487680" y="1627632"/>
          <a:ext cx="11201399" cy="2962656"/>
        </p:xfrm>
        <a:graphic>
          <a:graphicData uri="http://schemas.openxmlformats.org/drawingml/2006/table">
            <a:tbl>
              <a:tblPr/>
              <a:tblGrid>
                <a:gridCol w="2395728">
                  <a:extLst>
                    <a:ext uri="{9D8B030D-6E8A-4147-A177-3AD203B41FA5}">
                      <a16:colId xmlns:a16="http://schemas.microsoft.com/office/drawing/2014/main" val="20000"/>
                    </a:ext>
                  </a:extLst>
                </a:gridCol>
                <a:gridCol w="868680">
                  <a:extLst>
                    <a:ext uri="{9D8B030D-6E8A-4147-A177-3AD203B41FA5}">
                      <a16:colId xmlns:a16="http://schemas.microsoft.com/office/drawing/2014/main" val="20001"/>
                    </a:ext>
                  </a:extLst>
                </a:gridCol>
                <a:gridCol w="1691640">
                  <a:extLst>
                    <a:ext uri="{9D8B030D-6E8A-4147-A177-3AD203B41FA5}">
                      <a16:colId xmlns:a16="http://schemas.microsoft.com/office/drawing/2014/main" val="20002"/>
                    </a:ext>
                  </a:extLst>
                </a:gridCol>
                <a:gridCol w="3931920">
                  <a:extLst>
                    <a:ext uri="{9D8B030D-6E8A-4147-A177-3AD203B41FA5}">
                      <a16:colId xmlns:a16="http://schemas.microsoft.com/office/drawing/2014/main" val="20003"/>
                    </a:ext>
                  </a:extLst>
                </a:gridCol>
                <a:gridCol w="2313432">
                  <a:extLst>
                    <a:ext uri="{9D8B030D-6E8A-4147-A177-3AD203B41FA5}">
                      <a16:colId xmlns:a16="http://schemas.microsoft.com/office/drawing/2014/main" val="20004"/>
                    </a:ext>
                  </a:extLst>
                </a:gridCol>
              </a:tblGrid>
              <a:tr h="493776">
                <a:tc>
                  <a:txBody>
                    <a:bodyPr/>
                    <a:lstStyle/>
                    <a:p>
                      <a:pPr marL="0" indent="0" algn="ctr">
                        <a:buNone/>
                      </a:pPr>
                      <a:r>
                        <a:rPr lang="en-US" sz="950" b="1" dirty="0">
                          <a:solidFill>
                            <a:srgbClr val="FFFFFF"/>
                          </a:solidFill>
                          <a:latin typeface="Meiryo" pitchFamily="34" charset="0"/>
                          <a:ea typeface="Meiryo" pitchFamily="34" charset="-122"/>
                          <a:cs typeface="Meiryo" pitchFamily="34" charset="-120"/>
                        </a:rPr>
                        <a:t>運営主体</a:t>
                      </a:r>
                      <a:endParaRPr lang="en-US" sz="105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B3A6B"/>
                    </a:solidFill>
                  </a:tcPr>
                </a:tc>
                <a:tc>
                  <a:txBody>
                    <a:bodyPr/>
                    <a:lstStyle/>
                    <a:p>
                      <a:pPr marL="0" indent="0" algn="ctr">
                        <a:buNone/>
                      </a:pPr>
                      <a:r>
                        <a:rPr lang="en-US" sz="950" b="1" dirty="0">
                          <a:solidFill>
                            <a:srgbClr val="FFFFFF"/>
                          </a:solidFill>
                          <a:latin typeface="Meiryo" pitchFamily="34" charset="0"/>
                          <a:ea typeface="Meiryo" pitchFamily="34" charset="-122"/>
                          <a:cs typeface="Meiryo" pitchFamily="34" charset="-120"/>
                        </a:rPr>
                        <a:t>拠点数</a:t>
                      </a:r>
                      <a:endParaRPr lang="en-US" sz="105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B3A6B"/>
                    </a:solidFill>
                  </a:tcPr>
                </a:tc>
                <a:tc>
                  <a:txBody>
                    <a:bodyPr/>
                    <a:lstStyle/>
                    <a:p>
                      <a:pPr marL="0" indent="0" algn="ctr">
                        <a:buNone/>
                      </a:pPr>
                      <a:r>
                        <a:rPr lang="en-US" sz="950" b="1" dirty="0">
                          <a:solidFill>
                            <a:srgbClr val="FFFFFF"/>
                          </a:solidFill>
                          <a:latin typeface="Meiryo" pitchFamily="34" charset="0"/>
                          <a:ea typeface="Meiryo" pitchFamily="34" charset="-122"/>
                          <a:cs typeface="Meiryo" pitchFamily="34" charset="-120"/>
                        </a:rPr>
                        <a:t>タイプ</a:t>
                      </a:r>
                      <a:endParaRPr lang="en-US" sz="105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B3A6B"/>
                    </a:solidFill>
                  </a:tcPr>
                </a:tc>
                <a:tc>
                  <a:txBody>
                    <a:bodyPr/>
                    <a:lstStyle/>
                    <a:p>
                      <a:pPr marL="0" indent="0" algn="ctr">
                        <a:buNone/>
                      </a:pPr>
                      <a:r>
                        <a:rPr lang="en-US" sz="950" b="1" dirty="0">
                          <a:solidFill>
                            <a:srgbClr val="FFFFFF"/>
                          </a:solidFill>
                          <a:latin typeface="Meiryo" pitchFamily="34" charset="0"/>
                          <a:ea typeface="Meiryo" pitchFamily="34" charset="-122"/>
                          <a:cs typeface="Meiryo" pitchFamily="34" charset="-120"/>
                        </a:rPr>
                        <a:t>特徴的なプログラム</a:t>
                      </a:r>
                      <a:endParaRPr lang="en-US" sz="105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B3A6B"/>
                    </a:solidFill>
                  </a:tcPr>
                </a:tc>
                <a:tc>
                  <a:txBody>
                    <a:bodyPr/>
                    <a:lstStyle/>
                    <a:p>
                      <a:pPr marL="0" indent="0" algn="ctr">
                        <a:buNone/>
                      </a:pPr>
                      <a:r>
                        <a:rPr lang="en-US" sz="950" b="1" dirty="0">
                          <a:solidFill>
                            <a:srgbClr val="FFFFFF"/>
                          </a:solidFill>
                          <a:latin typeface="Meiryo" pitchFamily="34" charset="0"/>
                          <a:ea typeface="Meiryo" pitchFamily="34" charset="-122"/>
                          <a:cs typeface="Meiryo" pitchFamily="34" charset="-120"/>
                        </a:rPr>
                        <a:t>主な立地エリア</a:t>
                      </a:r>
                      <a:endParaRPr lang="en-US" sz="105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B3A6B"/>
                    </a:solidFill>
                  </a:tcPr>
                </a:tc>
                <a:extLst>
                  <a:ext uri="{0D108BD9-81ED-4DB2-BD59-A6C34878D82A}">
                    <a16:rowId xmlns:a16="http://schemas.microsoft.com/office/drawing/2014/main" val="10000"/>
                  </a:ext>
                </a:extLst>
              </a:tr>
              <a:tr h="493776">
                <a:tc>
                  <a:txBody>
                    <a:bodyPr/>
                    <a:lstStyle/>
                    <a:p>
                      <a:pPr marL="0" indent="0" algn="l">
                        <a:buNone/>
                      </a:pPr>
                      <a:r>
                        <a:rPr lang="en-US" sz="900" b="1" dirty="0">
                          <a:solidFill>
                            <a:srgbClr val="222222"/>
                          </a:solidFill>
                          <a:latin typeface="Meiryo" pitchFamily="34" charset="0"/>
                          <a:ea typeface="Meiryo" pitchFamily="34" charset="-122"/>
                          <a:cs typeface="Meiryo" pitchFamily="34" charset="-120"/>
                        </a:rPr>
                        <a:t>東金市（市社会福祉協議会）</a:t>
                      </a:r>
                      <a:endParaRPr lang="en-US" sz="105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900" dirty="0">
                          <a:solidFill>
                            <a:srgbClr val="222222"/>
                          </a:solidFill>
                          <a:latin typeface="Meiryo" pitchFamily="34" charset="0"/>
                          <a:ea typeface="Meiryo" pitchFamily="34" charset="-122"/>
                          <a:cs typeface="Meiryo" pitchFamily="34" charset="-120"/>
                        </a:rPr>
                        <a:t>1</a:t>
                      </a:r>
                      <a:endParaRPr lang="en-US" sz="105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900" dirty="0">
                          <a:solidFill>
                            <a:srgbClr val="222222"/>
                          </a:solidFill>
                          <a:latin typeface="Meiryo" pitchFamily="34" charset="0"/>
                          <a:ea typeface="Meiryo" pitchFamily="34" charset="-122"/>
                          <a:cs typeface="Meiryo" pitchFamily="34" charset="-120"/>
                        </a:rPr>
                        <a:t>公立・親子通園型</a:t>
                      </a:r>
                      <a:endParaRPr lang="en-US" sz="105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900" dirty="0">
                          <a:solidFill>
                            <a:srgbClr val="222222"/>
                          </a:solidFill>
                          <a:latin typeface="Meiryo" pitchFamily="34" charset="0"/>
                          <a:ea typeface="Meiryo" pitchFamily="34" charset="-122"/>
                          <a:cs typeface="Meiryo" pitchFamily="34" charset="-120"/>
                        </a:rPr>
                        <a:t>あそび中心のグループ活動＋小1・2の学習指導／SST。定員15名/日</a:t>
                      </a:r>
                      <a:endParaRPr lang="en-US" sz="105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900" dirty="0">
                          <a:solidFill>
                            <a:srgbClr val="222222"/>
                          </a:solidFill>
                          <a:latin typeface="Meiryo" pitchFamily="34" charset="0"/>
                          <a:ea typeface="Meiryo" pitchFamily="34" charset="-122"/>
                          <a:cs typeface="Meiryo" pitchFamily="34" charset="-120"/>
                        </a:rPr>
                        <a:t>田間（ふれあいセンター）</a:t>
                      </a:r>
                      <a:endParaRPr lang="en-US" sz="105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1"/>
                  </a:ext>
                </a:extLst>
              </a:tr>
              <a:tr h="493776">
                <a:tc>
                  <a:txBody>
                    <a:bodyPr/>
                    <a:lstStyle/>
                    <a:p>
                      <a:pPr marL="0" indent="0" algn="l">
                        <a:buNone/>
                      </a:pPr>
                      <a:r>
                        <a:rPr lang="en-US" sz="900" b="1" dirty="0">
                          <a:solidFill>
                            <a:srgbClr val="222222"/>
                          </a:solidFill>
                          <a:latin typeface="Meiryo" pitchFamily="34" charset="0"/>
                          <a:ea typeface="Meiryo" pitchFamily="34" charset="-122"/>
                          <a:cs typeface="Meiryo" pitchFamily="34" charset="-120"/>
                        </a:rPr>
                        <a:t>NPO法人 基本塾</a:t>
                      </a:r>
                      <a:endParaRPr lang="en-US" sz="105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900" dirty="0">
                          <a:solidFill>
                            <a:srgbClr val="222222"/>
                          </a:solidFill>
                          <a:latin typeface="Meiryo" pitchFamily="34" charset="0"/>
                          <a:ea typeface="Meiryo" pitchFamily="34" charset="-122"/>
                          <a:cs typeface="Meiryo" pitchFamily="34" charset="-120"/>
                        </a:rPr>
                        <a:t>5</a:t>
                      </a:r>
                      <a:endParaRPr lang="en-US" sz="105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900" dirty="0">
                          <a:solidFill>
                            <a:srgbClr val="222222"/>
                          </a:solidFill>
                          <a:latin typeface="Meiryo" pitchFamily="34" charset="0"/>
                          <a:ea typeface="Meiryo" pitchFamily="34" charset="-122"/>
                          <a:cs typeface="Meiryo" pitchFamily="34" charset="-120"/>
                        </a:rPr>
                        <a:t>民間・市内最大手</a:t>
                      </a:r>
                      <a:endParaRPr lang="en-US" sz="105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900" dirty="0">
                          <a:solidFill>
                            <a:srgbClr val="222222"/>
                          </a:solidFill>
                          <a:latin typeface="Meiryo" pitchFamily="34" charset="0"/>
                          <a:ea typeface="Meiryo" pitchFamily="34" charset="-122"/>
                          <a:cs typeface="Meiryo" pitchFamily="34" charset="-120"/>
                        </a:rPr>
                        <a:t>個別支援＋「10の活動」。園庭・多職種（ST・心理検査士等）、サッカー療育</a:t>
                      </a:r>
                      <a:endParaRPr lang="en-US" sz="105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900" dirty="0">
                          <a:solidFill>
                            <a:srgbClr val="222222"/>
                          </a:solidFill>
                          <a:latin typeface="Meiryo" pitchFamily="34" charset="0"/>
                          <a:ea typeface="Meiryo" pitchFamily="34" charset="-122"/>
                          <a:cs typeface="Meiryo" pitchFamily="34" charset="-120"/>
                        </a:rPr>
                        <a:t>日吉台・松之郷・八坂台</a:t>
                      </a:r>
                      <a:endParaRPr lang="en-US" sz="105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1"/>
                  </a:ext>
                </a:extLst>
              </a:tr>
              <a:tr h="493776">
                <a:tc>
                  <a:txBody>
                    <a:bodyPr/>
                    <a:lstStyle/>
                    <a:p>
                      <a:pPr marL="0" indent="0" algn="l">
                        <a:buNone/>
                      </a:pPr>
                      <a:r>
                        <a:rPr lang="en-US" sz="900" b="1" dirty="0">
                          <a:solidFill>
                            <a:srgbClr val="222222"/>
                          </a:solidFill>
                          <a:latin typeface="Meiryo" pitchFamily="34" charset="0"/>
                          <a:ea typeface="Meiryo" pitchFamily="34" charset="-122"/>
                          <a:cs typeface="Meiryo" pitchFamily="34" charset="-120"/>
                        </a:rPr>
                        <a:t>株式会社ベストグロウ</a:t>
                      </a:r>
                      <a:endParaRPr lang="en-US" sz="105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900" dirty="0">
                          <a:solidFill>
                            <a:srgbClr val="222222"/>
                          </a:solidFill>
                          <a:latin typeface="Meiryo" pitchFamily="34" charset="0"/>
                          <a:ea typeface="Meiryo" pitchFamily="34" charset="-122"/>
                          <a:cs typeface="Meiryo" pitchFamily="34" charset="-120"/>
                        </a:rPr>
                        <a:t>2</a:t>
                      </a:r>
                      <a:endParaRPr lang="en-US" sz="105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900" dirty="0">
                          <a:solidFill>
                            <a:srgbClr val="222222"/>
                          </a:solidFill>
                          <a:latin typeface="Meiryo" pitchFamily="34" charset="0"/>
                          <a:ea typeface="Meiryo" pitchFamily="34" charset="-122"/>
                          <a:cs typeface="Meiryo" pitchFamily="34" charset="-120"/>
                        </a:rPr>
                        <a:t>民間・運動療育特化</a:t>
                      </a:r>
                      <a:endParaRPr lang="en-US" sz="105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900" dirty="0">
                          <a:solidFill>
                            <a:srgbClr val="222222"/>
                          </a:solidFill>
                          <a:latin typeface="Meiryo" pitchFamily="34" charset="0"/>
                          <a:ea typeface="Meiryo" pitchFamily="34" charset="-122"/>
                          <a:cs typeface="Meiryo" pitchFamily="34" charset="-120"/>
                        </a:rPr>
                        <a:t>柳沢運動プログラムによる運動療育。平日9:00〜18:00・送迎あり</a:t>
                      </a:r>
                      <a:endParaRPr lang="en-US" sz="105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900" dirty="0">
                          <a:solidFill>
                            <a:srgbClr val="222222"/>
                          </a:solidFill>
                          <a:latin typeface="Meiryo" pitchFamily="34" charset="0"/>
                          <a:ea typeface="Meiryo" pitchFamily="34" charset="-122"/>
                          <a:cs typeface="Meiryo" pitchFamily="34" charset="-120"/>
                        </a:rPr>
                        <a:t>東新宿・田間</a:t>
                      </a:r>
                      <a:endParaRPr lang="en-US" sz="105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1"/>
                  </a:ext>
                </a:extLst>
              </a:tr>
              <a:tr h="493776">
                <a:tc>
                  <a:txBody>
                    <a:bodyPr/>
                    <a:lstStyle/>
                    <a:p>
                      <a:pPr marL="0" indent="0" algn="l">
                        <a:buNone/>
                      </a:pPr>
                      <a:r>
                        <a:rPr lang="en-US" sz="900" b="1" dirty="0">
                          <a:solidFill>
                            <a:srgbClr val="222222"/>
                          </a:solidFill>
                          <a:latin typeface="Meiryo" pitchFamily="34" charset="0"/>
                          <a:ea typeface="Meiryo" pitchFamily="34" charset="-122"/>
                          <a:cs typeface="Meiryo" pitchFamily="34" charset="-120"/>
                        </a:rPr>
                        <a:t>子ども支援センターぽけっと</a:t>
                      </a:r>
                      <a:endParaRPr lang="en-US" sz="105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900" dirty="0">
                          <a:solidFill>
                            <a:srgbClr val="222222"/>
                          </a:solidFill>
                          <a:latin typeface="Meiryo" pitchFamily="34" charset="0"/>
                          <a:ea typeface="Meiryo" pitchFamily="34" charset="-122"/>
                          <a:cs typeface="Meiryo" pitchFamily="34" charset="-120"/>
                        </a:rPr>
                        <a:t>1</a:t>
                      </a:r>
                      <a:endParaRPr lang="en-US" sz="105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900" dirty="0">
                          <a:solidFill>
                            <a:srgbClr val="222222"/>
                          </a:solidFill>
                          <a:latin typeface="Meiryo" pitchFamily="34" charset="0"/>
                          <a:ea typeface="Meiryo" pitchFamily="34" charset="-122"/>
                          <a:cs typeface="Meiryo" pitchFamily="34" charset="-120"/>
                        </a:rPr>
                        <a:t>民間（詳細要確認）</a:t>
                      </a:r>
                      <a:endParaRPr lang="en-US" sz="105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900" dirty="0">
                          <a:solidFill>
                            <a:srgbClr val="222222"/>
                          </a:solidFill>
                          <a:latin typeface="Meiryo" pitchFamily="34" charset="0"/>
                          <a:ea typeface="Meiryo" pitchFamily="34" charset="-122"/>
                          <a:cs typeface="Meiryo" pitchFamily="34" charset="-120"/>
                        </a:rPr>
                        <a:t>児発＋放デイ併設。市街地立地</a:t>
                      </a:r>
                      <a:endParaRPr lang="en-US" sz="105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900" dirty="0">
                          <a:solidFill>
                            <a:srgbClr val="222222"/>
                          </a:solidFill>
                          <a:latin typeface="Meiryo" pitchFamily="34" charset="0"/>
                          <a:ea typeface="Meiryo" pitchFamily="34" charset="-122"/>
                          <a:cs typeface="Meiryo" pitchFamily="34" charset="-120"/>
                        </a:rPr>
                        <a:t>東上宿</a:t>
                      </a:r>
                      <a:endParaRPr lang="en-US" sz="105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1"/>
                  </a:ext>
                </a:extLst>
              </a:tr>
              <a:tr h="493776">
                <a:tc>
                  <a:txBody>
                    <a:bodyPr/>
                    <a:lstStyle/>
                    <a:p>
                      <a:pPr marL="0" indent="0" algn="l">
                        <a:buNone/>
                      </a:pPr>
                      <a:r>
                        <a:rPr lang="en-US" sz="900" b="1" dirty="0">
                          <a:solidFill>
                            <a:srgbClr val="222222"/>
                          </a:solidFill>
                          <a:latin typeface="Meiryo" pitchFamily="34" charset="0"/>
                          <a:ea typeface="Meiryo" pitchFamily="34" charset="-122"/>
                          <a:cs typeface="Meiryo" pitchFamily="34" charset="-120"/>
                        </a:rPr>
                        <a:t>コンパッション保育所／鴇嶺の家</a:t>
                      </a:r>
                      <a:endParaRPr lang="en-US" sz="105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900" dirty="0">
                          <a:solidFill>
                            <a:srgbClr val="222222"/>
                          </a:solidFill>
                          <a:latin typeface="Meiryo" pitchFamily="34" charset="0"/>
                          <a:ea typeface="Meiryo" pitchFamily="34" charset="-122"/>
                          <a:cs typeface="Meiryo" pitchFamily="34" charset="-120"/>
                        </a:rPr>
                        <a:t>2</a:t>
                      </a:r>
                      <a:endParaRPr lang="en-US" sz="105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900" dirty="0">
                          <a:solidFill>
                            <a:srgbClr val="222222"/>
                          </a:solidFill>
                          <a:latin typeface="Meiryo" pitchFamily="34" charset="0"/>
                          <a:ea typeface="Meiryo" pitchFamily="34" charset="-122"/>
                          <a:cs typeface="Meiryo" pitchFamily="34" charset="-120"/>
                        </a:rPr>
                        <a:t>民間（詳細要確認）</a:t>
                      </a:r>
                      <a:endParaRPr lang="en-US" sz="105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900" dirty="0">
                          <a:solidFill>
                            <a:srgbClr val="222222"/>
                          </a:solidFill>
                          <a:latin typeface="Meiryo" pitchFamily="34" charset="0"/>
                          <a:ea typeface="Meiryo" pitchFamily="34" charset="-122"/>
                          <a:cs typeface="Meiryo" pitchFamily="34" charset="-120"/>
                        </a:rPr>
                        <a:t>保育所併設型（コンパッション）／児発＋放デイ併設（鴇嶺の家）</a:t>
                      </a:r>
                      <a:endParaRPr lang="en-US" sz="105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lgn="l">
                        <a:buNone/>
                      </a:pPr>
                      <a:r>
                        <a:rPr lang="en-US" sz="900" dirty="0">
                          <a:solidFill>
                            <a:srgbClr val="222222"/>
                          </a:solidFill>
                          <a:latin typeface="Meiryo" pitchFamily="34" charset="0"/>
                          <a:ea typeface="Meiryo" pitchFamily="34" charset="-122"/>
                          <a:cs typeface="Meiryo" pitchFamily="34" charset="-120"/>
                        </a:rPr>
                        <a:t>家之子・東金</a:t>
                      </a:r>
                      <a:endParaRPr lang="en-US" sz="1050" dirty="0">
                        <a:latin typeface="Meiryo" charset="0"/>
                        <a:ea typeface="Meiryo" charset="0"/>
                        <a:cs typeface="Meiryo" charset="0"/>
                      </a:endParaRPr>
                    </a:p>
                  </a:txBody>
                  <a:tcPr anchor="ctr" marT="18000" marB="18000" marL="64008" marR="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1"/>
                  </a:ext>
                </a:extLst>
              </a:tr>
            </a:tbl>
          </a:graphicData>
        </a:graphic>
      </p:graphicFrame>
      <p:sp>
        <p:nvSpPr>
          <p:cNvPr id="7" name="Shape 5"/>
          <p:cNvSpPr/>
          <p:nvPr/>
        </p:nvSpPr>
        <p:spPr>
          <a:xfrm>
            <a:off x="502920" y="4718304"/>
            <a:ext cx="11201400" cy="1737360"/>
          </a:xfrm>
          <a:prstGeom prst="rect">
            <a:avLst/>
          </a:prstGeom>
          <a:solidFill>
            <a:srgbClr val="EEF2F8"/>
          </a:solidFill>
          <a:ln w="12700">
            <a:solidFill>
              <a:srgbClr val="9AA7B8"/>
            </a:solidFill>
            <a:prstDash val="solid"/>
          </a:ln>
        </p:spPr>
      </p:sp>
      <p:sp>
        <p:nvSpPr>
          <p:cNvPr id="9" name="Text 6"/>
          <p:cNvSpPr/>
          <p:nvPr/>
        </p:nvSpPr>
        <p:spPr>
          <a:xfrm>
            <a:off x="713232" y="4818888"/>
            <a:ext cx="10789920" cy="320040"/>
          </a:xfrm>
          <a:prstGeom prst="rect">
            <a:avLst/>
          </a:prstGeom>
          <a:noFill/>
          <a:ln/>
        </p:spPr>
        <p:txBody>
          <a:bodyPr wrap="square" lIns="0" tIns="0" rIns="0" bIns="0" rtlCol="0" anchor="ctr"/>
          <a:lstStyle/>
          <a:p>
            <a:pPr marL="0" indent="0">
              <a:buNone/>
            </a:pPr>
            <a:r>
              <a:rPr lang="en-US" sz="1250" b="1" dirty="0">
                <a:solidFill>
                  <a:srgbClr val="1B3A6B"/>
                </a:solidFill>
                <a:latin typeface="Meiryo" pitchFamily="34" charset="0"/>
                <a:ea typeface="Meiryo" pitchFamily="34" charset="-122"/>
                <a:cs typeface="Meiryo" pitchFamily="34" charset="-120"/>
              </a:rPr>
              <a:t>調査からの示唆（東金市の児童発達支援マーケット）</a:t>
            </a:r>
            <a:endParaRPr lang="en-US" sz="1250" dirty="0"/>
          </a:p>
        </p:txBody>
      </p:sp>
      <p:sp>
        <p:nvSpPr>
          <p:cNvPr id="10" name="Text 7"/>
          <p:cNvSpPr/>
          <p:nvPr/>
        </p:nvSpPr>
        <p:spPr>
          <a:xfrm>
            <a:off x="713232" y="5148072"/>
            <a:ext cx="10789920" cy="1261872"/>
          </a:xfrm>
          <a:prstGeom prst="rect">
            <a:avLst/>
          </a:prstGeom>
          <a:noFill/>
          <a:ln/>
        </p:spPr>
        <p:txBody>
          <a:bodyPr wrap="square" lIns="0" tIns="0" rIns="0" bIns="0" rtlCol="0" anchor="t"/>
          <a:lstStyle/>
          <a:p>
            <a:pPr marL="342900" indent="-342900">
              <a:spcAft>
                <a:spcPts val="500"/>
              </a:spcAft>
              <a:buSzPct val="100000"/>
              <a:buChar char="•"/>
            </a:pPr>
            <a:r>
              <a:rPr lang="en-US" sz="900" dirty="0">
                <a:solidFill>
                  <a:srgbClr val="222222"/>
                </a:solidFill>
                <a:latin typeface="メイリオ" panose="020B0604030504040204" pitchFamily="50" charset="-128"/>
                <a:ea typeface="メイリオ" panose="020B0604030504040204" pitchFamily="50" charset="-128"/>
                <a:cs typeface="Meiryo" pitchFamily="34" charset="-120"/>
              </a:rPr>
              <a:t>東金市の児童発達支援は【公立1＋民間6事業者／計11拠点】。うち5拠点をNPO法人基本塾、2拠点を株式会社ベストグロウが占め、実質2グループで市内拠点の約6割を押さえる寡占構造にある。</a:t>
            </a:r>
            <a:endParaRPr lang="en-US" sz="1000" dirty="0">
              <a:latin typeface="メイリオ" panose="020B0604030504040204" pitchFamily="50" charset="-128"/>
              <a:ea typeface="メイリオ" panose="020B0604030504040204" pitchFamily="50" charset="-128"/>
            </a:endParaRPr>
          </a:p>
          <a:p>
            <a:pPr marL="342900" indent="-342900">
              <a:spcAft>
                <a:spcPts val="500"/>
              </a:spcAft>
              <a:buSzPct val="100000"/>
              <a:buChar char="•"/>
            </a:pPr>
            <a:r>
              <a:rPr lang="en-US" sz="900" dirty="0">
                <a:solidFill>
                  <a:srgbClr val="222222"/>
                </a:solidFill>
                <a:latin typeface="メイリオ" panose="020B0604030504040204" pitchFamily="50" charset="-128"/>
                <a:ea typeface="メイリオ" panose="020B0604030504040204" pitchFamily="50" charset="-128"/>
                <a:cs typeface="Meiryo" pitchFamily="34" charset="-120"/>
              </a:rPr>
              <a:t>プログラム軸は「運動療育」（こどもプラス）と「個別支援＋多職種によるアセスメント」（基本塾優遊）の2系統に大別される。言語・コミュニケーション特化、ペアレントトレーニング、医療的ケア児対応を前面に打ち出す事業所は市内に見当たらず、差別化余地が大きい。</a:t>
            </a:r>
            <a:endParaRPr lang="en-US" sz="1000" dirty="0">
              <a:latin typeface="メイリオ" panose="020B0604030504040204" pitchFamily="50" charset="-128"/>
              <a:ea typeface="メイリオ" panose="020B0604030504040204" pitchFamily="50" charset="-128"/>
            </a:endParaRPr>
          </a:p>
          <a:p>
            <a:pPr marL="342900" indent="-342900">
              <a:spcAft>
                <a:spcPts val="500"/>
              </a:spcAft>
              <a:buSzPct val="100000"/>
              <a:buChar char="•"/>
            </a:pPr>
            <a:r>
              <a:rPr lang="en-US" sz="900" dirty="0">
                <a:solidFill>
                  <a:srgbClr val="222222"/>
                </a:solidFill>
                <a:latin typeface="メイリオ" panose="020B0604030504040204" pitchFamily="50" charset="-128"/>
                <a:ea typeface="メイリオ" panose="020B0604030504040204" pitchFamily="50" charset="-128"/>
                <a:cs typeface="Meiryo" pitchFamily="34" charset="-120"/>
              </a:rPr>
              <a:t>立地は八坂台・日吉台のニュータウン側と東金駅周辺に集中。市南西部（福俵・求名・丘山地区）は空白地帯であり、送迎圏の設計次第で新規参入の余地がある。一方、公開情報が乏しい事業所（②⑥⑦）が3件あり、稼働率・空き枠は市社会福祉課および相談支援事業所へのヒアリングで補完が必要。</a:t>
            </a:r>
            <a:endParaRPr lang="en-US" sz="1000" dirty="0">
              <a:latin typeface="メイリオ" panose="020B0604030504040204" pitchFamily="50" charset="-128"/>
              <a:ea typeface="メイリオ" panose="020B0604030504040204" pitchFamily="50" charset="-128"/>
            </a:endParaRP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テーマ">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游ゴシック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57</TotalTime>
  <Words>1179</Words>
  <Application>Microsoft Office PowerPoint</Application>
  <PresentationFormat>ワイド画面</PresentationFormat>
  <Paragraphs>180</Paragraphs>
  <Slides>7</Slides>
  <Notes>7</Notes>
  <HiddenSlides>0</HiddenSlides>
  <MMClips>0</MMClips>
  <ScaleCrop>false</ScaleCrop>
  <HeadingPairs>
    <vt:vector size="6" baseType="variant">
      <vt:variant>
        <vt:lpstr>使用されているフォント</vt:lpstr>
      </vt:variant>
      <vt:variant>
        <vt:i4>3</vt:i4>
      </vt:variant>
      <vt:variant>
        <vt:lpstr>テーマ</vt:lpstr>
      </vt:variant>
      <vt:variant>
        <vt:i4>1</vt:i4>
      </vt:variant>
      <vt:variant>
        <vt:lpstr>スライド タイトル</vt:lpstr>
      </vt:variant>
      <vt:variant>
        <vt:i4>7</vt:i4>
      </vt:variant>
    </vt:vector>
  </HeadingPairs>
  <TitlesOfParts>
    <vt:vector size="11" baseType="lpstr">
      <vt:lpstr>Meiryo</vt:lpstr>
      <vt:lpstr>Meiryo</vt:lpstr>
      <vt:lpstr>Arial</vt:lpstr>
      <vt:lpstr>Office Theme</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競合分析 特筆すべき事業所</dc:title>
  <dc:subject>PptxGenJS Presentation</dc:subject>
  <dc:creator>船井総研</dc:creator>
  <cp:lastModifiedBy>Hikaru Nakano</cp:lastModifiedBy>
  <cp:revision>6</cp:revision>
  <dcterms:created xsi:type="dcterms:W3CDTF">2026-06-09T11:42:43Z</dcterms:created>
  <dcterms:modified xsi:type="dcterms:W3CDTF">2026-06-09T12:44:47Z</dcterms:modified>
</cp:coreProperties>
</file>