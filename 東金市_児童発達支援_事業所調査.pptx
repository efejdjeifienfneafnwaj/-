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8" r:id="rId14"/>
    <p:sldId id="259" r:id="rId15"/>
    <p:sldId id="260" r:id="rId16"/>
    <p:sldId id="261" r:id="rId17"/>
    <p:sldId id="262" r:id="rId18"/>
    <p:sldId id="263" r:id="rId19"/>
    <p:sldId id="264" r:id="rId20"/>
    <p:sldId id="265" r:id="rId21"/>
    <p:sldId id="266" r:id="rId22"/>
    <p:sldId id="267" r:id="rId23"/>
    <p:sldId id="268" r:id="rId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067" userDrawn="1">
          <p15:clr>
            <a:srgbClr val="A4A3A4"/>
          </p15:clr>
        </p15:guide>
        <p15:guide id="2" pos="3885"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100" d="100"/>
          <a:sy n="100" d="100"/>
        </p:scale>
        <p:origin x="954" y="618"/>
      </p:cViewPr>
      <p:guideLst>
        <p:guide orient="horz" pos="3067"/>
        <p:guide pos="3885"/>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8" Type="http://schemas.openxmlformats.org/officeDocument/2006/relationships/slide" Target="slides/slide13.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07076161"/>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375813338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eg"/><Relationship Id="rId4" Type="http://schemas.openxmlformats.org/officeDocument/2006/relationships/image" Target="../media/image2.jpeg"/><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hyperlink" Target="https://www.city.togane.chiba.jp/0000008736.html" TargetMode="External"/><Relationship Id="rId4" Type="http://schemas.openxmlformats.org/officeDocument/2006/relationships/hyperlink" Target="https://www.wam.go.jp/sfkohyoout/COP020100E00.do?_FORMID=COP000101&amp;corporationNumber=E1200000000708&amp;facilityNumber=1250800024&amp;bunjoNumber=000000&amp;serviceType=63&amp;serviceSubNumber=E0000074186" TargetMode="External"/><Relationship Id="rId5" Type="http://schemas.openxmlformats.org/officeDocument/2006/relationships/hyperlink" Target="https://kp-tougane.com/" TargetMode="External"/><Relationship Id="rId6" Type="http://schemas.openxmlformats.org/officeDocument/2006/relationships/hyperlink" Target="https://kp-daini-tougane.com/" TargetMode="External"/><Relationship Id="rId7" Type="http://schemas.openxmlformats.org/officeDocument/2006/relationships/hyperlink" Target="http://kihonjuku-yuuyuu.com/" TargetMode="External"/><Relationship Id="rId8" Type="http://schemas.openxmlformats.org/officeDocument/2006/relationships/hyperlink" Target="https://h-navi.jp/support_facility/chiba/cities/391/zihatu"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6.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6.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6.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6.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6.jpe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6.jpe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6.jpe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6.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6.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6.jpe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B3A6B"/>
        </a:solidFill>
        <a:effectLst/>
      </p:bgPr>
    </p:bg>
    <p:spTree>
      <p:nvGrpSpPr>
        <p:cNvPr id="1" name=""/>
        <p:cNvGrpSpPr/>
        <p:nvPr/>
      </p:nvGrpSpPr>
      <p:grpSpPr>
        <a:xfrm>
          <a:off x="0" y="0"/>
          <a:ext cx="0" cy="0"/>
          <a:chOff x="0" y="0"/>
          <a:chExt cx="0" cy="0"/>
        </a:xfrm>
      </p:grpSpPr>
      <p:sp>
        <p:nvSpPr>
          <p:cNvPr id="16" name="正方形/長方形 15">
            <a:extLst>
              <a:ext uri="{FF2B5EF4-FFF2-40B4-BE49-F238E27FC236}">
                <a16:creationId xmlns:a16="http://schemas.microsoft.com/office/drawing/2014/main" id="{BEC354AB-C673-39DB-7787-525BA79DDBF6}"/>
              </a:ext>
            </a:extLst>
          </p:cNvPr>
          <p:cNvSpPr/>
          <p:nvPr/>
        </p:nvSpPr>
        <p:spPr>
          <a:xfrm>
            <a:off x="0" y="0"/>
            <a:ext cx="12192000" cy="6876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9" name="Picture 2" descr="C:\Users\F1883\Desktop\変換 ～ gf2110035119l.jpg">
            <a:extLst>
              <a:ext uri="{FF2B5EF4-FFF2-40B4-BE49-F238E27FC236}">
                <a16:creationId xmlns:a16="http://schemas.microsoft.com/office/drawing/2014/main" id="{72BE0CF9-836D-C404-72E5-C89D7D53F53E}"/>
              </a:ext>
            </a:extLst>
          </p:cNvPr>
          <p:cNvPicPr>
            <a:picLocks noChangeAspect="1" noChangeArrowheads="1"/>
          </p:cNvPicPr>
          <p:nvPr/>
        </p:nvPicPr>
        <p:blipFill>
          <a:blip r:embed="rId3" cstate="print">
            <a:lum contrast="20000"/>
          </a:blip>
          <a:srcRect t="18750" r="3596"/>
          <a:stretch/>
        </p:blipFill>
        <p:spPr bwMode="auto">
          <a:xfrm>
            <a:off x="0" y="0"/>
            <a:ext cx="12192000" cy="6876000"/>
          </a:xfrm>
          <a:prstGeom prst="rect">
            <a:avLst/>
          </a:prstGeom>
          <a:noFill/>
        </p:spPr>
      </p:pic>
      <p:pic>
        <p:nvPicPr>
          <p:cNvPr id="10" name="Picture 2" descr="C:\Users\F1883\Desktop\px0010180830l (1).jpg">
            <a:extLst>
              <a:ext uri="{FF2B5EF4-FFF2-40B4-BE49-F238E27FC236}">
                <a16:creationId xmlns:a16="http://schemas.microsoft.com/office/drawing/2014/main" id="{4536EDB3-A3B8-2B2B-C38D-34AE81F8B9A3}"/>
              </a:ext>
            </a:extLst>
          </p:cNvPr>
          <p:cNvPicPr>
            <a:picLocks noChangeAspect="1" noChangeArrowheads="1"/>
          </p:cNvPicPr>
          <p:nvPr/>
        </p:nvPicPr>
        <p:blipFill>
          <a:blip r:embed="rId4" cstate="print">
            <a:clrChange>
              <a:clrFrom>
                <a:srgbClr val="FFFFFF"/>
              </a:clrFrom>
              <a:clrTo>
                <a:srgbClr val="FFFFFF">
                  <a:alpha val="0"/>
                </a:srgbClr>
              </a:clrTo>
            </a:clrChange>
            <a:grayscl/>
          </a:blip>
          <a:srcRect/>
          <a:stretch>
            <a:fillRect/>
          </a:stretch>
        </p:blipFill>
        <p:spPr bwMode="auto">
          <a:xfrm>
            <a:off x="760804" y="2348880"/>
            <a:ext cx="4076760" cy="2055312"/>
          </a:xfrm>
          <a:prstGeom prst="rect">
            <a:avLst/>
          </a:prstGeom>
          <a:noFill/>
        </p:spPr>
      </p:pic>
      <p:sp>
        <p:nvSpPr>
          <p:cNvPr id="11" name="正方形/長方形 10">
            <a:extLst>
              <a:ext uri="{FF2B5EF4-FFF2-40B4-BE49-F238E27FC236}">
                <a16:creationId xmlns:a16="http://schemas.microsoft.com/office/drawing/2014/main" id="{3CE6C090-6810-90B1-6E11-A4D1B922BD41}"/>
              </a:ext>
            </a:extLst>
          </p:cNvPr>
          <p:cNvSpPr/>
          <p:nvPr/>
        </p:nvSpPr>
        <p:spPr>
          <a:xfrm>
            <a:off x="0" y="2287505"/>
            <a:ext cx="12192000" cy="2088232"/>
          </a:xfrm>
          <a:prstGeom prst="rect">
            <a:avLst/>
          </a:prstGeom>
          <a:solidFill>
            <a:srgbClr val="002060">
              <a:alpha val="8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2" name="テキスト ボックス 11">
            <a:extLst>
              <a:ext uri="{FF2B5EF4-FFF2-40B4-BE49-F238E27FC236}">
                <a16:creationId xmlns:a16="http://schemas.microsoft.com/office/drawing/2014/main" id="{6FC589F5-9A35-165E-C9A8-C195524C3758}"/>
              </a:ext>
            </a:extLst>
          </p:cNvPr>
          <p:cNvSpPr txBox="1"/>
          <p:nvPr/>
        </p:nvSpPr>
        <p:spPr>
          <a:xfrm>
            <a:off x="239216" y="2492896"/>
            <a:ext cx="8962445" cy="2042867"/>
          </a:xfrm>
          <a:prstGeom prst="rect">
            <a:avLst/>
          </a:prstGeom>
          <a:noFill/>
        </p:spPr>
        <p:txBody>
          <a:bodyPr wrap="square" rtlCol="0">
            <a:spAutoFit/>
          </a:bodyPr>
          <a:lstStyle/>
          <a:p>
            <a:pPr defTabSz="914070">
              <a:lnSpc>
                <a:spcPct val="150000"/>
              </a:lnSpc>
            </a:pPr>
            <a:r>
              <a:rPr lang="en-US" altLang="ja-JP" sz="2000" b="1" dirty="0" err="1">
                <a:solidFill>
                  <a:srgbClr val="FFFFFF"/>
                </a:solidFill>
                <a:latin typeface="メイリオ" panose="020B0604030504040204" pitchFamily="50" charset="-128"/>
                <a:ea typeface="メイリオ" panose="020B0604030504040204" pitchFamily="50" charset="-128"/>
                <a:cs typeface="Meiryo" pitchFamily="34" charset="-120"/>
              </a:rPr>
              <a:t>千葉県東金市　児童発達支援 事業所調査</a:t>
            </a:r>
            <a:endParaRPr lang="en-US" altLang="ja-JP" sz="2000" b="1" dirty="0">
              <a:solidFill>
                <a:srgbClr val="FFFFFF"/>
              </a:solidFill>
              <a:latin typeface="メイリオ" panose="020B0604030504040204" pitchFamily="50" charset="-128"/>
              <a:ea typeface="メイリオ" panose="020B0604030504040204" pitchFamily="50" charset="-128"/>
              <a:cs typeface="Meiryo" pitchFamily="34" charset="-120"/>
            </a:endParaRPr>
          </a:p>
          <a:p>
            <a:pPr defTabSz="914070">
              <a:lnSpc>
                <a:spcPct val="150000"/>
              </a:lnSpc>
            </a:pPr>
            <a:r>
              <a:rPr lang="en-US" altLang="ja-JP" sz="1600" b="1" dirty="0" err="1">
                <a:solidFill>
                  <a:srgbClr val="CFE0F5"/>
                </a:solidFill>
                <a:latin typeface="メイリオ" panose="020B0604030504040204" pitchFamily="50" charset="-128"/>
                <a:ea typeface="メイリオ" panose="020B0604030504040204" pitchFamily="50" charset="-128"/>
                <a:cs typeface="Meiryo" pitchFamily="34" charset="-120"/>
              </a:rPr>
              <a:t>東金市内 全10事業所（11拠点）の個別整理</a:t>
            </a:r>
            <a:endParaRPr lang="en-US" altLang="ja-JP" sz="1600" b="1" dirty="0">
              <a:latin typeface="メイリオ" panose="020B0604030504040204" pitchFamily="50" charset="-128"/>
              <a:ea typeface="メイリオ" panose="020B0604030504040204" pitchFamily="50" charset="-128"/>
            </a:endParaRPr>
          </a:p>
          <a:p>
            <a:pPr defTabSz="914070">
              <a:lnSpc>
                <a:spcPct val="150000"/>
              </a:lnSpc>
            </a:pPr>
            <a:endParaRPr lang="en-US" altLang="ja-JP" sz="1800" dirty="0">
              <a:latin typeface="メイリオ" panose="020B0604030504040204" pitchFamily="50" charset="-128"/>
              <a:ea typeface="メイリオ" panose="020B0604030504040204" pitchFamily="50" charset="-128"/>
            </a:endParaRPr>
          </a:p>
          <a:p>
            <a:pPr defTabSz="914070">
              <a:lnSpc>
                <a:spcPct val="150000"/>
              </a:lnSpc>
            </a:pPr>
            <a:endParaRPr lang="en-US" altLang="ja-JP" b="1" spc="277" dirty="0">
              <a:solidFill>
                <a:prstClr val="white"/>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13" name="平行四辺形 12">
            <a:extLst>
              <a:ext uri="{FF2B5EF4-FFF2-40B4-BE49-F238E27FC236}">
                <a16:creationId xmlns:a16="http://schemas.microsoft.com/office/drawing/2014/main" id="{5FDCF386-C540-A97C-1C04-2B2E17BA9604}"/>
              </a:ext>
            </a:extLst>
          </p:cNvPr>
          <p:cNvSpPr/>
          <p:nvPr/>
        </p:nvSpPr>
        <p:spPr>
          <a:xfrm>
            <a:off x="8221785" y="2276872"/>
            <a:ext cx="3149455" cy="2088000"/>
          </a:xfrm>
          <a:prstGeom prst="parallelogram">
            <a:avLst>
              <a:gd name="adj" fmla="val 49870"/>
            </a:avLst>
          </a:prstGeom>
          <a:solidFill>
            <a:schemeClr val="bg1"/>
          </a:solidFill>
          <a:ln>
            <a:noFill/>
          </a:ln>
          <a:scene3d>
            <a:camera prst="orthographicFront">
              <a:rot lat="0" lon="0" rev="0"/>
            </a:camera>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4" name="テキスト ボックス 13">
            <a:extLst>
              <a:ext uri="{FF2B5EF4-FFF2-40B4-BE49-F238E27FC236}">
                <a16:creationId xmlns:a16="http://schemas.microsoft.com/office/drawing/2014/main" id="{4557EF7F-B29A-C086-1994-98929E762296}"/>
              </a:ext>
            </a:extLst>
          </p:cNvPr>
          <p:cNvSpPr txBox="1"/>
          <p:nvPr/>
        </p:nvSpPr>
        <p:spPr>
          <a:xfrm>
            <a:off x="320877" y="3717033"/>
            <a:ext cx="4098206" cy="246221"/>
          </a:xfrm>
          <a:prstGeom prst="rect">
            <a:avLst/>
          </a:prstGeom>
          <a:noFill/>
        </p:spPr>
        <p:txBody>
          <a:bodyPr wrap="square" rtlCol="0">
            <a:spAutoFit/>
          </a:bodyPr>
          <a:lstStyle/>
          <a:p>
            <a:pPr>
              <a:lnSpc>
                <a:spcPts val="1200"/>
              </a:lnSpc>
            </a:pPr>
            <a:r>
              <a:rPr kumimoji="1" lang="en-US" altLang="ja-JP" sz="900" spc="500" dirty="0">
                <a:solidFill>
                  <a:schemeClr val="bg1"/>
                </a:solidFill>
                <a:latin typeface="メイリオ" pitchFamily="50" charset="-128"/>
                <a:ea typeface="メイリオ" pitchFamily="50" charset="-128"/>
                <a:cs typeface="メイリオ" pitchFamily="50" charset="-128"/>
              </a:rPr>
              <a:t>2026年8月28日（金）</a:t>
            </a:r>
          </a:p>
        </p:txBody>
      </p:sp>
      <p:pic>
        <p:nvPicPr>
          <p:cNvPr id="15" name="図 14">
            <a:extLst>
              <a:ext uri="{FF2B5EF4-FFF2-40B4-BE49-F238E27FC236}">
                <a16:creationId xmlns:a16="http://schemas.microsoft.com/office/drawing/2014/main" id="{BC6E1081-1B34-56D0-B20C-8EC90261ABC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804037" y="3139919"/>
            <a:ext cx="1711563" cy="335701"/>
          </a:xfrm>
          <a:prstGeom prst="rect">
            <a:avLst/>
          </a:prstGeom>
        </p:spPr>
      </p:pic>
    </p:spTree>
    <p:extLst>
      <p:ext uri="{BB962C8B-B14F-4D97-AF65-F5344CB8AC3E}">
        <p14:creationId xmlns:p14="http://schemas.microsoft.com/office/powerpoint/2010/main" val="26757954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ja-JP" altLang="en-US" sz="2100" b="1" dirty="0">
                <a:solidFill>
                  <a:srgbClr val="222222"/>
                </a:solidFill>
                <a:latin typeface="Meiryo" pitchFamily="34" charset="0"/>
                <a:ea typeface="Meiryo" pitchFamily="34" charset="-122"/>
                <a:cs typeface="Meiryo" pitchFamily="34" charset="-120"/>
              </a:rPr>
              <a:t>■ 東金市内の児童発達支援事業所　全10事業所（11拠点）</a:t>
            </a:r>
            <a:endParaRPr lang="en-US" sz="2100" dirty="0"/>
          </a:p>
        </p:txBody>
      </p:sp>
      <p:sp>
        <p:nvSpPr>
          <p:cNvPr id="6" name="Text 4"/>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graphicFrame>
        <p:nvGraphicFramePr>
          <p:cNvPr id="7" name="Table 0"/>
          <p:cNvGraphicFramePr>
            <a:graphicFrameLocks noGrp="1"/>
          </p:cNvGraphicFramePr>
          <p:nvPr>
            <p:extLst>
              <p:ext uri="{D42A27DB-BD31-4B8C-83A1-F6EECF244321}">
                <p14:modId xmlns:p14="http://schemas.microsoft.com/office/powerpoint/2010/main" val="2088185084"/>
              </p:ext>
            </p:extLst>
          </p:nvPr>
        </p:nvGraphicFramePr>
        <p:xfrm>
          <a:off x="502920" y="1783080"/>
          <a:ext cx="11201400" cy="3977639"/>
        </p:xfrm>
        <a:graphic>
          <a:graphicData uri="http://schemas.openxmlformats.org/drawingml/2006/table">
            <a:tbl>
              <a:tblPr/>
              <a:tblGrid>
                <a:gridCol w="502920">
                  <a:extLst>
                    <a:ext uri="{9D8B030D-6E8A-4147-A177-3AD203B41FA5}">
                      <a16:colId xmlns:a16="http://schemas.microsoft.com/office/drawing/2014/main" val="20000"/>
                    </a:ext>
                  </a:extLst>
                </a:gridCol>
                <a:gridCol w="260604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468880">
                  <a:extLst>
                    <a:ext uri="{9D8B030D-6E8A-4147-A177-3AD203B41FA5}">
                      <a16:colId xmlns:a16="http://schemas.microsoft.com/office/drawing/2014/main" val="20003"/>
                    </a:ext>
                  </a:extLst>
                </a:gridCol>
                <a:gridCol w="1325880">
                  <a:extLst>
                    <a:ext uri="{9D8B030D-6E8A-4147-A177-3AD203B41FA5}">
                      <a16:colId xmlns:a16="http://schemas.microsoft.com/office/drawing/2014/main" val="20004"/>
                    </a:ext>
                  </a:extLst>
                </a:gridCol>
                <a:gridCol w="2286000">
                  <a:extLst>
                    <a:ext uri="{9D8B030D-6E8A-4147-A177-3AD203B41FA5}">
                      <a16:colId xmlns:a16="http://schemas.microsoft.com/office/drawing/2014/main" val="20005"/>
                    </a:ext>
                  </a:extLst>
                </a:gridCol>
              </a:tblGrid>
              <a:tr h="331469">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No.</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事業所名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運営法人</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950" b="1" dirty="0" err="1">
                          <a:solidFill>
                            <a:srgbClr val="FFFFFF"/>
                          </a:solidFill>
                          <a:latin typeface="Meiryo" pitchFamily="34" charset="0"/>
                          <a:ea typeface="Meiryo" pitchFamily="34" charset="-122"/>
                          <a:cs typeface="Meiryo" pitchFamily="34" charset="-120"/>
                        </a:rPr>
                        <a:t>所在地（東金市）</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TEL</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HP ／ 出典（リンク）</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extLst>
                  <a:ext uri="{0D108BD9-81ED-4DB2-BD59-A6C34878D82A}">
                    <a16:rowId xmlns:a16="http://schemas.microsoft.com/office/drawing/2014/main" val="10000"/>
                  </a:ext>
                </a:extLst>
              </a:tr>
              <a:tr h="331469">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①</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東金市簡易マザーズホーム</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東金市（運営：市社会福祉協議会）</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田間3-9-1 ふれあいセンター2F</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0475-54-1197</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u="sng">
                          <a:solidFill>
                            <a:srgbClr val="1F5FA8"/>
                          </a:solidFill>
                          <a:latin typeface="Meiryo" charset="0"/>
                          <a:ea typeface="Meiryo" charset="0"/>
                          <a:cs typeface="Meiryo" charset="0"/>
                          <a:hlinkClick r:id="rId3"/>
                        </a:rPr>
                        <a:t>東金市公式サイト</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31469">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②</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子ども支援センターぽけっと</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東上宿6-2</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0475-50-1081</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u="sng">
                          <a:solidFill>
                            <a:srgbClr val="1F5FA8"/>
                          </a:solidFill>
                          <a:latin typeface="Meiryo" charset="0"/>
                          <a:ea typeface="Meiryo" charset="0"/>
                          <a:cs typeface="Meiryo" charset="0"/>
                          <a:hlinkClick r:id="rId4"/>
                        </a:rPr>
                        <a:t>WAM NET 事業所詳細</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31469">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③</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こどもプラス東金教室</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株式会社ベストグロウ</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東新宿18-1 酒造ビル105号</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0475-77-8577</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u="sng">
                          <a:solidFill>
                            <a:srgbClr val="1F5FA8"/>
                          </a:solidFill>
                          <a:latin typeface="Meiryo" charset="0"/>
                          <a:ea typeface="Meiryo" charset="0"/>
                          <a:cs typeface="Meiryo" charset="0"/>
                          <a:hlinkClick r:id="rId5"/>
                        </a:rPr>
                        <a:t>kp-tougane.com</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31469">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④</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こどもプラス第2東金教室</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株式会社ベストグロウ</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田間1-6-4</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u="sng">
                          <a:solidFill>
                            <a:srgbClr val="1F5FA8"/>
                          </a:solidFill>
                          <a:latin typeface="Meiryo" charset="0"/>
                          <a:ea typeface="Meiryo" charset="0"/>
                          <a:cs typeface="Meiryo" charset="0"/>
                          <a:hlinkClick r:id="rId6"/>
                        </a:rPr>
                        <a:t>kp-daini-tougane.com</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31469">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⑤</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基本塾優遊 日吉台</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NPO法人 基本塾</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日吉台2-26-3</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0475-52-6414</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u="sng">
                          <a:solidFill>
                            <a:srgbClr val="1F5FA8"/>
                          </a:solidFill>
                          <a:latin typeface="Meiryo" charset="0"/>
                          <a:ea typeface="Meiryo" charset="0"/>
                          <a:cs typeface="Meiryo" charset="0"/>
                          <a:hlinkClick r:id="rId7"/>
                        </a:rPr>
                        <a:t>kihonjuku-yuuyuu.com</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31469">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⑥</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基本塾優遊 松之郷</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NPO法人 基本塾</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松之郷2423-1</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0475-51-4082</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u="sng">
                          <a:solidFill>
                            <a:srgbClr val="1F5FA8"/>
                          </a:solidFill>
                          <a:latin typeface="Meiryo" charset="0"/>
                          <a:ea typeface="Meiryo" charset="0"/>
                          <a:cs typeface="Meiryo" charset="0"/>
                          <a:hlinkClick r:id="rId7"/>
                        </a:rPr>
                        <a:t>kihonjuku-yuuyuu.com</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31469">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⑦</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基本塾優遊 八坂台</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NPO法人 基本塾</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八坂台5-11-1</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0475-51-5010</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u="sng">
                          <a:solidFill>
                            <a:srgbClr val="1F5FA8"/>
                          </a:solidFill>
                          <a:latin typeface="Meiryo" charset="0"/>
                          <a:ea typeface="Meiryo" charset="0"/>
                          <a:cs typeface="Meiryo" charset="0"/>
                          <a:hlinkClick r:id="rId7"/>
                        </a:rPr>
                        <a:t>kihonjuku-yuuyuu.com</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31469">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⑧</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基本塾優遊 八坂西</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NPO法人 基本塾</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八坂台4-2-4</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0475-51-6631</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u="sng">
                          <a:solidFill>
                            <a:srgbClr val="1F5FA8"/>
                          </a:solidFill>
                          <a:latin typeface="Meiryo" charset="0"/>
                          <a:ea typeface="Meiryo" charset="0"/>
                          <a:cs typeface="Meiryo" charset="0"/>
                          <a:hlinkClick r:id="rId7"/>
                        </a:rPr>
                        <a:t>kihonjuku-yuuyuu.com</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31469">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⑧</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基本塾優遊 八坂中央</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NPO法人 基本塾</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八坂台地区（要確認）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u="sng">
                          <a:solidFill>
                            <a:srgbClr val="1F5FA8"/>
                          </a:solidFill>
                          <a:latin typeface="Meiryo" charset="0"/>
                          <a:ea typeface="Meiryo" charset="0"/>
                          <a:cs typeface="Meiryo" charset="0"/>
                          <a:hlinkClick r:id="rId7"/>
                        </a:rPr>
                        <a:t>kihonjuku-yuuyuu.com</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31469">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⑨</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児童発達支援コンパッション保育所</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要確認（保育所併設）</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家之子1671-36</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u="sng">
                          <a:solidFill>
                            <a:srgbClr val="1F5FA8"/>
                          </a:solidFill>
                          <a:latin typeface="Meiryo" charset="0"/>
                          <a:ea typeface="Meiryo" charset="0"/>
                          <a:cs typeface="Meiryo" charset="0"/>
                          <a:hlinkClick r:id="rId8"/>
                        </a:rPr>
                        <a:t>LITALICO発達ナビ 東金市一覧</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31469">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⑩</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鴇嶺の家</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東金425-2</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u="sng">
                          <a:solidFill>
                            <a:srgbClr val="1F5FA8"/>
                          </a:solidFill>
                          <a:latin typeface="Meiryo" charset="0"/>
                          <a:ea typeface="Meiryo" charset="0"/>
                          <a:cs typeface="Meiryo" charset="0"/>
                          <a:hlinkClick r:id="rId8"/>
                        </a:rPr>
                        <a:t>LITALICO発達ナビ 東金市一覧</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8" name="Text 5"/>
          <p:cNvSpPr/>
          <p:nvPr/>
        </p:nvSpPr>
        <p:spPr>
          <a:xfrm>
            <a:off x="502920" y="5870448"/>
            <a:ext cx="11201400" cy="566928"/>
          </a:xfrm>
          <a:prstGeom prst="rect">
            <a:avLst/>
          </a:prstGeom>
          <a:noFill/>
          <a:ln/>
        </p:spPr>
        <p:txBody>
          <a:bodyPr wrap="square" lIns="0" tIns="0" rIns="0" bIns="0" rtlCol="0" anchor="ctr"/>
          <a:lstStyle/>
          <a:p>
            <a:pPr marL="0" indent="0">
              <a:buNone/>
            </a:pPr>
            <a:r>
              <a:rPr lang="en-US" sz="1000" i="1" dirty="0">
                <a:solidFill>
                  <a:srgbClr val="666666"/>
                </a:solidFill>
                <a:latin typeface="Meiryo" pitchFamily="34" charset="0"/>
                <a:ea typeface="Meiryo" pitchFamily="34" charset="-122"/>
                <a:cs typeface="Meiryo" pitchFamily="34" charset="-120"/>
              </a:rPr>
              <a:t>※「児童発達支援」の指定を受けている事業所を抽出。⑨を除き放課後等デイサービスを併設。基本塾優遊はNPO法人基本塾の5拠点（詳細頁では八坂西・八坂中央を⑧として集約）。「HP／出典」欄はクリックで該当ページを開きます。公式HPが確認できない事業所は出典元（東金市公式／WAM NET／LITALICO発達ナビ）へのリンクを掲載。2026年8月時点の公開情報。</a:t>
            </a:r>
            <a:endParaRPr lang="en-US" sz="1000" dirty="0"/>
          </a:p>
        </p:txBody>
      </p:sp>
      <p:sp>
        <p:nvSpPr>
          <p:cNvPr id="9" name="Text 2">
            <a:extLst>
              <a:ext uri="{FF2B5EF4-FFF2-40B4-BE49-F238E27FC236}">
                <a16:creationId xmlns:a16="http://schemas.microsoft.com/office/drawing/2014/main" id="{AE6EA86F-D6CF-F073-0F92-8C04FD76AAC7}"/>
              </a:ext>
            </a:extLst>
          </p:cNvPr>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　対象事業所一覧</a:t>
            </a:r>
            <a:endParaRPr lang="en-US" sz="3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II．　事業所別 詳細</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en-US" sz="2100" b="1" dirty="0">
                <a:solidFill>
                  <a:srgbClr val="222222"/>
                </a:solidFill>
                <a:latin typeface="Meiryo" pitchFamily="34" charset="0"/>
                <a:ea typeface="Meiryo" pitchFamily="34" charset="-122"/>
                <a:cs typeface="Meiryo" pitchFamily="34" charset="-120"/>
              </a:rPr>
              <a:t>① 東金市簡易マザーズホーム</a:t>
            </a:r>
            <a:endParaRPr lang="en-US" sz="2100" dirty="0"/>
          </a:p>
        </p:txBody>
      </p:sp>
      <p:sp>
        <p:nvSpPr>
          <p:cNvPr id="6" name="Shape 4"/>
          <p:cNvSpPr/>
          <p:nvPr/>
        </p:nvSpPr>
        <p:spPr>
          <a:xfrm>
            <a:off x="10104120" y="1170432"/>
            <a:ext cx="1600200" cy="457200"/>
          </a:xfrm>
          <a:prstGeom prst="rect">
            <a:avLst/>
          </a:prstGeom>
          <a:solidFill>
            <a:srgbClr val="FFFFFF"/>
          </a:solidFill>
          <a:ln w="15875">
            <a:solidFill>
              <a:srgbClr val="1B3A6B"/>
            </a:solidFill>
            <a:prstDash val="solid"/>
          </a:ln>
        </p:spPr>
      </p:sp>
      <p:sp>
        <p:nvSpPr>
          <p:cNvPr id="7" name="Text 5"/>
          <p:cNvSpPr/>
          <p:nvPr/>
        </p:nvSpPr>
        <p:spPr>
          <a:xfrm>
            <a:off x="10104120" y="1170432"/>
            <a:ext cx="1600200" cy="457200"/>
          </a:xfrm>
          <a:prstGeom prst="rect">
            <a:avLst/>
          </a:prstGeom>
          <a:noFill/>
          <a:ln/>
        </p:spPr>
        <p:txBody>
          <a:bodyPr wrap="square" lIns="0" tIns="0" rIns="0" bIns="0" rtlCol="0" anchor="ctr"/>
          <a:lstStyle/>
          <a:p>
            <a:pPr marL="0" indent="0" algn="ctr">
              <a:buNone/>
            </a:pPr>
            <a:r>
              <a:rPr lang="en-US" sz="1400" b="1" dirty="0">
                <a:solidFill>
                  <a:srgbClr val="1B3A6B"/>
                </a:solidFill>
                <a:latin typeface="Meiryo" pitchFamily="34" charset="0"/>
                <a:ea typeface="Meiryo" pitchFamily="34" charset="-122"/>
                <a:cs typeface="Meiryo" pitchFamily="34" charset="-120"/>
              </a:rPr>
              <a:t>東金市</a:t>
            </a:r>
            <a:endParaRPr lang="en-US" sz="1400" dirty="0"/>
          </a:p>
        </p:txBody>
      </p:sp>
      <p:sp>
        <p:nvSpPr>
          <p:cNvPr id="8" name="Text 6"/>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sp>
        <p:nvSpPr>
          <p:cNvPr id="9" name="Shape 7"/>
          <p:cNvSpPr/>
          <p:nvPr/>
        </p:nvSpPr>
        <p:spPr>
          <a:xfrm>
            <a:off x="502920" y="1783080"/>
            <a:ext cx="6903720" cy="3474720"/>
          </a:xfrm>
          <a:prstGeom prst="rect">
            <a:avLst/>
          </a:prstGeom>
          <a:solidFill>
            <a:srgbClr val="FFFFFF"/>
          </a:solidFill>
          <a:ln w="12700">
            <a:solidFill>
              <a:srgbClr val="9AA7B8"/>
            </a:solidFill>
            <a:prstDash val="solid"/>
          </a:ln>
          <a:effectLst>
            <a:outerShdw blurRad="63500" dist="25400" dir="8100000" algn="bl" rotWithShape="0">
              <a:srgbClr val="000000">
                <a:alpha val="12000"/>
              </a:srgbClr>
            </a:outerShdw>
          </a:effectLst>
        </p:spPr>
      </p:sp>
      <p:sp>
        <p:nvSpPr>
          <p:cNvPr id="10" name="Text 8"/>
          <p:cNvSpPr/>
          <p:nvPr/>
        </p:nvSpPr>
        <p:spPr>
          <a:xfrm>
            <a:off x="704088" y="1911096"/>
            <a:ext cx="6501384" cy="384048"/>
          </a:xfrm>
          <a:prstGeom prst="rect">
            <a:avLst/>
          </a:prstGeom>
          <a:noFill/>
          <a:ln/>
        </p:spPr>
        <p:txBody>
          <a:bodyPr wrap="square" lIns="0" tIns="0" rIns="0" bIns="0" rtlCol="0" anchor="ctr"/>
          <a:lstStyle/>
          <a:p>
            <a:pPr marL="0" indent="0">
              <a:buNone/>
            </a:pPr>
            <a:r>
              <a:rPr lang="en-US" sz="1400" b="1" dirty="0">
                <a:solidFill>
                  <a:srgbClr val="1B3A6B"/>
                </a:solidFill>
                <a:latin typeface="Meiryo" pitchFamily="34" charset="0"/>
                <a:ea typeface="Meiryo" pitchFamily="34" charset="-122"/>
                <a:cs typeface="Meiryo" pitchFamily="34" charset="-120"/>
              </a:rPr>
              <a:t>東金市簡易マザーズホーム（設置：東金市／運営：東金市社会福祉協議会）</a:t>
            </a:r>
            <a:endParaRPr lang="en-US" sz="1400" dirty="0"/>
          </a:p>
        </p:txBody>
      </p:sp>
      <p:sp>
        <p:nvSpPr>
          <p:cNvPr id="11" name="Text 9"/>
          <p:cNvSpPr/>
          <p:nvPr/>
        </p:nvSpPr>
        <p:spPr>
          <a:xfrm>
            <a:off x="704088" y="2331720"/>
            <a:ext cx="6501384" cy="2852927"/>
          </a:xfrm>
          <a:prstGeom prst="rect">
            <a:avLst/>
          </a:prstGeom>
          <a:noFill/>
          <a:ln/>
        </p:spPr>
        <p:txBody>
          <a:bodyPr wrap="square" lIns="0" tIns="0" rIns="0" bIns="0" rtlCol="0" anchor="t"/>
          <a:lstStyle/>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対象：</a:t>
            </a:r>
            <a:r>
              <a:rPr lang="en-US" sz="1100" dirty="0">
                <a:solidFill>
                  <a:srgbClr val="222222"/>
                </a:solidFill>
                <a:latin typeface="Meiryo" pitchFamily="34" charset="0"/>
                <a:ea typeface="Meiryo" pitchFamily="34" charset="-122"/>
                <a:cs typeface="Meiryo" pitchFamily="34" charset="-120"/>
              </a:rPr>
              <a:t>原則、市内に住所を有する心身に障がいのある就学前児童のうち、保護者と共に通所できる児童（伝染性疾病のない方）</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住所：</a:t>
            </a:r>
            <a:r>
              <a:rPr lang="en-US" sz="1100" dirty="0">
                <a:solidFill>
                  <a:srgbClr val="222222"/>
                </a:solidFill>
                <a:latin typeface="Meiryo" pitchFamily="34" charset="0"/>
                <a:ea typeface="Meiryo" pitchFamily="34" charset="-122"/>
                <a:cs typeface="Meiryo" pitchFamily="34" charset="-120"/>
              </a:rPr>
              <a:t>千葉県東金市田間3丁目9番地1　東金市ふれあいセンター（保健福祉センター）2階</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TEL／HP：</a:t>
            </a:r>
            <a:r>
              <a:rPr lang="en-US" sz="1100" dirty="0">
                <a:solidFill>
                  <a:srgbClr val="222222"/>
                </a:solidFill>
                <a:latin typeface="Meiryo" pitchFamily="34" charset="0"/>
                <a:ea typeface="Meiryo" pitchFamily="34" charset="-122"/>
                <a:cs typeface="Meiryo" pitchFamily="34" charset="-120"/>
              </a:rPr>
              <a:t>0475-54-1197 ／ city.togane.chiba.jp（東金市公式）・togane-shakyo.jp</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アクセス：</a:t>
            </a:r>
            <a:r>
              <a:rPr lang="en-US" sz="1100" dirty="0">
                <a:solidFill>
                  <a:srgbClr val="222222"/>
                </a:solidFill>
                <a:latin typeface="Meiryo" pitchFamily="34" charset="0"/>
                <a:ea typeface="Meiryo" pitchFamily="34" charset="-122"/>
                <a:cs typeface="Meiryo" pitchFamily="34" charset="-120"/>
              </a:rPr>
              <a:t>JR東金線 東金駅から徒歩約15分。東金市役所前より循環バスあり。</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定員：</a:t>
            </a:r>
            <a:r>
              <a:rPr lang="en-US" sz="1100" dirty="0">
                <a:solidFill>
                  <a:srgbClr val="222222"/>
                </a:solidFill>
                <a:latin typeface="Meiryo" pitchFamily="34" charset="0"/>
                <a:ea typeface="Meiryo" pitchFamily="34" charset="-122"/>
                <a:cs typeface="Meiryo" pitchFamily="34" charset="-120"/>
              </a:rPr>
              <a:t>児童発達支援 1日15名</a:t>
            </a:r>
            <a:endParaRPr lang="en-US" sz="1050" dirty="0"/>
          </a:p>
          <a:p>
            <a:pPr marL="0" indent="0">
              <a:lnSpc>
                <a:spcPct val="103000"/>
              </a:lnSpc>
              <a:spcAft>
                <a:spcPts val="500"/>
              </a:spcAft>
              <a:buNone/>
            </a:pP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療育プログラムの特徴：</a:t>
            </a:r>
            <a:r>
              <a:rPr lang="en-US" sz="1100" dirty="0">
                <a:solidFill>
                  <a:srgbClr val="222222"/>
                </a:solidFill>
                <a:latin typeface="Meiryo" pitchFamily="34" charset="0"/>
                <a:ea typeface="Meiryo" pitchFamily="34" charset="-122"/>
                <a:cs typeface="Meiryo" pitchFamily="34" charset="-120"/>
              </a:rPr>
              <a:t>生活を支援することで児童の発達を援助することを目的とする。</a:t>
            </a:r>
            <a:endParaRPr lang="en-US" sz="1050" dirty="0"/>
          </a:p>
          <a:p>
            <a:pPr marL="0" indent="0">
              <a:lnSpc>
                <a:spcPct val="103000"/>
              </a:lnSpc>
              <a:spcAft>
                <a:spcPts val="500"/>
              </a:spcAft>
              <a:buNone/>
            </a:pPr>
            <a:r>
              <a:rPr lang="en-US" sz="1100" dirty="0">
                <a:solidFill>
                  <a:srgbClr val="222222"/>
                </a:solidFill>
                <a:latin typeface="Meiryo" pitchFamily="34" charset="0"/>
                <a:ea typeface="Meiryo" pitchFamily="34" charset="-122"/>
                <a:cs typeface="Meiryo" pitchFamily="34" charset="-120"/>
              </a:rPr>
              <a:t>・運動、おもちゃ・ゲームなどのあそびを用いたグループ活動が支援の中心。</a:t>
            </a:r>
            <a:endParaRPr lang="en-US" sz="1050" dirty="0"/>
          </a:p>
          <a:p>
            <a:pPr marL="0" indent="0">
              <a:lnSpc>
                <a:spcPct val="103000"/>
              </a:lnSpc>
              <a:spcAft>
                <a:spcPts val="500"/>
              </a:spcAft>
              <a:buNone/>
            </a:pPr>
            <a:r>
              <a:rPr lang="en-US" sz="1100" dirty="0">
                <a:solidFill>
                  <a:srgbClr val="222222"/>
                </a:solidFill>
                <a:latin typeface="Meiryo" pitchFamily="34" charset="0"/>
                <a:ea typeface="Meiryo" pitchFamily="34" charset="-122"/>
                <a:cs typeface="Meiryo" pitchFamily="34" charset="-120"/>
              </a:rPr>
              <a:t>・小学1・2年生向けに学習指導とソーシャルスキルトレーニングを実施（放課後等デイサービス）。</a:t>
            </a:r>
            <a:endParaRPr lang="en-US" sz="1050" dirty="0"/>
          </a:p>
          <a:p>
            <a:pPr marL="0" indent="0">
              <a:lnSpc>
                <a:spcPct val="103000"/>
              </a:lnSpc>
              <a:spcAft>
                <a:spcPts val="500"/>
              </a:spcAft>
              <a:buNone/>
            </a:pPr>
            <a:r>
              <a:rPr lang="en-US" sz="1100" dirty="0">
                <a:solidFill>
                  <a:srgbClr val="222222"/>
                </a:solidFill>
                <a:latin typeface="Meiryo" pitchFamily="34" charset="0"/>
                <a:ea typeface="Meiryo" pitchFamily="34" charset="-122"/>
                <a:cs typeface="Meiryo" pitchFamily="34" charset="-120"/>
              </a:rPr>
              <a:t>・設置管理条例に基づく市の公の施設。地域開放事業もあわせて実施。</a:t>
            </a:r>
            <a:endParaRPr lang="en-US" sz="1050" dirty="0"/>
          </a:p>
        </p:txBody>
      </p:sp>
      <p:sp>
        <p:nvSpPr>
          <p:cNvPr id="14" name="Shape 12"/>
          <p:cNvSpPr/>
          <p:nvPr/>
        </p:nvSpPr>
        <p:spPr>
          <a:xfrm>
            <a:off x="7635240" y="1783080"/>
            <a:ext cx="4069080" cy="3474720"/>
          </a:xfrm>
          <a:prstGeom prst="rect">
            <a:avLst/>
          </a:prstGeom>
          <a:solidFill>
            <a:srgbClr val="EEF2F8"/>
          </a:solidFill>
          <a:ln w="12700">
            <a:solidFill>
              <a:srgbClr val="9AA7B8"/>
            </a:solidFill>
            <a:prstDash val="solid"/>
          </a:ln>
        </p:spPr>
      </p:sp>
      <p:sp>
        <p:nvSpPr>
          <p:cNvPr id="15" name="Text 13"/>
          <p:cNvSpPr/>
          <p:nvPr/>
        </p:nvSpPr>
        <p:spPr>
          <a:xfrm>
            <a:off x="7818120" y="1901952"/>
            <a:ext cx="37033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注目ポイント</a:t>
            </a:r>
            <a:endParaRPr lang="en-US" sz="1250" dirty="0"/>
          </a:p>
        </p:txBody>
      </p:sp>
      <p:sp>
        <p:nvSpPr>
          <p:cNvPr id="16" name="Text 14"/>
          <p:cNvSpPr/>
          <p:nvPr/>
        </p:nvSpPr>
        <p:spPr>
          <a:xfrm>
            <a:off x="7818120" y="2286000"/>
            <a:ext cx="3703320" cy="2907791"/>
          </a:xfrm>
          <a:prstGeom prst="rect">
            <a:avLst/>
          </a:prstGeom>
          <a:noFill/>
          <a:ln/>
        </p:spPr>
        <p:txBody>
          <a:bodyPr wrap="square" lIns="0" tIns="0" rIns="0" bIns="0" rtlCol="0" anchor="t"/>
          <a:lstStyle/>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市内で唯一の公立（市設置）児童発達支援。乳幼児健診からの流れで最初につながる“入口”機能を担う。</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保護者同伴通所が原則の親子通園型。母子分離で預かる民間事業所とは役割が構造的に異なる。</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定員が1日15名と限られ、就学前の療育ニーズの受け皿が民間事業所へ流れやすい構造。</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新規参入の観点では、公立の定員（1日15名）を超える就学前ニーズをどう受けるかが最初の需要源となる。</a:t>
            </a:r>
            <a:endParaRPr lang="en-US" sz="1000" dirty="0">
              <a:latin typeface="メイリオ" panose="020B0604030504040204" pitchFamily="50" charset="-128"/>
              <a:ea typeface="メイリオ" panose="020B0604030504040204" pitchFamily="50" charset="-128"/>
            </a:endParaRPr>
          </a:p>
        </p:txBody>
      </p:sp>
      <p:sp>
        <p:nvSpPr>
          <p:cNvPr id="940" name="FootBG"/>
          <p:cNvSpPr/>
          <p:nvPr/>
        </p:nvSpPr>
        <p:spPr>
          <a:xfrm>
            <a:off x="502920" y="5394960"/>
            <a:ext cx="11201400" cy="896112"/>
          </a:xfrm>
          <a:prstGeom prst="rect">
            <a:avLst/>
          </a:prstGeom>
          <a:solidFill>
            <a:srgbClr val="EEF2F8"/>
          </a:solidFill>
          <a:ln w="12700">
            <a:solidFill>
              <a:srgbClr val="9AA7B8"/>
            </a:solidFill>
            <a:prstDash val="solid"/>
          </a:ln>
        </p:spPr>
      </p:sp>
      <p:sp>
        <p:nvSpPr>
          <p:cNvPr id="941" name="FootTitle"/>
          <p:cNvSpPr/>
          <p:nvPr/>
        </p:nvSpPr>
        <p:spPr>
          <a:xfrm>
            <a:off x="713232" y="5477256"/>
            <a:ext cx="10789920" cy="27432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出典 ／ 要確認事項</a:t>
            </a:r>
            <a:endParaRPr lang="en-US" sz="1250" dirty="0"/>
          </a:p>
        </p:txBody>
      </p:sp>
      <p:sp>
        <p:nvSpPr>
          <p:cNvPr id="13" name="FootBody"/>
          <p:cNvSpPr/>
          <p:nvPr/>
        </p:nvSpPr>
        <p:spPr>
          <a:xfrm>
            <a:off x="713232" y="5779008"/>
            <a:ext cx="10789920" cy="475488"/>
          </a:xfrm>
          <a:prstGeom prst="rect">
            <a:avLst/>
          </a:prstGeom>
          <a:noFill/>
          <a:ln/>
        </p:spPr>
        <p:txBody>
          <a:bodyPr wrap="square" lIns="0" tIns="0" rIns="0" bIns="0" rtlCol="0" anchor="t"/>
          <a:lstStyle/>
          <a:p>
            <a:pPr marL="0" indent="0">
              <a:lnSpc>
                <a:spcPct val="103000"/>
              </a:lnSpc>
              <a:buNone/>
            </a:pPr>
            <a:r>
              <a:rPr lang="en-US" sz="950" b="1" dirty="0">
                <a:solidFill>
                  <a:srgbClr val="2E6BB8"/>
                </a:solidFill>
                <a:latin typeface="Meiryo" pitchFamily="34" charset="0"/>
                <a:ea typeface="Meiryo" pitchFamily="34" charset="-122"/>
                <a:cs typeface="Meiryo" pitchFamily="34" charset="-120"/>
              </a:rPr>
              <a:t>▶</a:t>
            </a:r>
            <a:r>
              <a:rPr lang="en-US" sz="950" b="1" dirty="0">
                <a:solidFill>
                  <a:srgbClr val="222222"/>
                </a:solidFill>
                <a:latin typeface="Meiryo" pitchFamily="34" charset="0"/>
                <a:ea typeface="Meiryo" pitchFamily="34" charset="-122"/>
                <a:cs typeface="Meiryo" pitchFamily="34" charset="-120"/>
              </a:rPr>
              <a:t>出典：</a:t>
            </a:r>
            <a:r>
              <a:rPr lang="en-US" sz="950" dirty="0">
                <a:solidFill>
                  <a:srgbClr val="222222"/>
                </a:solidFill>
                <a:latin typeface="Meiryo" pitchFamily="34" charset="0"/>
                <a:ea typeface="Meiryo" pitchFamily="34" charset="-122"/>
                <a:cs typeface="Meiryo" pitchFamily="34" charset="-120"/>
              </a:rPr>
              <a:t>東金市公式サイト（city.togane.chiba.jp）／東金市社会福祉協議会／みんなの障がい</a:t>
            </a:r>
            <a:endParaRPr lang="en-US" sz="1050" dirty="0"/>
          </a:p>
          <a:p>
            <a:pPr marL="0" indent="0">
              <a:lnSpc>
                <a:spcPct val="103000"/>
              </a:lnSpc>
              <a:buNone/>
            </a:pPr>
            <a:r>
              <a:rPr lang="en-US" sz="950" b="1" dirty="0">
                <a:solidFill>
                  <a:srgbClr val="2E6BB8"/>
                </a:solidFill>
                <a:latin typeface="Meiryo" pitchFamily="34" charset="0"/>
                <a:ea typeface="Meiryo" pitchFamily="34" charset="-122"/>
                <a:cs typeface="Meiryo" pitchFamily="34" charset="-120"/>
              </a:rPr>
              <a:t>▶</a:t>
            </a:r>
            <a:r>
              <a:rPr lang="en-US" sz="950" b="1" dirty="0">
                <a:solidFill>
                  <a:srgbClr val="222222"/>
                </a:solidFill>
                <a:latin typeface="Meiryo" pitchFamily="34" charset="0"/>
                <a:ea typeface="Meiryo" pitchFamily="34" charset="-122"/>
                <a:cs typeface="Meiryo" pitchFamily="34" charset="-120"/>
              </a:rPr>
              <a:t>要確認事項：</a:t>
            </a:r>
            <a:r>
              <a:rPr lang="en-US" sz="950" dirty="0">
                <a:solidFill>
                  <a:srgbClr val="222222"/>
                </a:solidFill>
                <a:latin typeface="Meiryo" pitchFamily="34" charset="0"/>
                <a:ea typeface="Meiryo" pitchFamily="34" charset="-122"/>
                <a:cs typeface="Meiryo" pitchFamily="34" charset="-120"/>
              </a:rPr>
              <a:t>現在の空き状況、放課後等デイサービスの対象学年の詳細、利用手続き・受給者証の要否</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II．　事業所別 詳細</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en-US" sz="2100" b="1" dirty="0">
                <a:solidFill>
                  <a:srgbClr val="222222"/>
                </a:solidFill>
                <a:latin typeface="Meiryo" pitchFamily="34" charset="0"/>
                <a:ea typeface="Meiryo" pitchFamily="34" charset="-122"/>
                <a:cs typeface="Meiryo" pitchFamily="34" charset="-120"/>
              </a:rPr>
              <a:t>② 子ども支援センターぽけっと</a:t>
            </a:r>
            <a:endParaRPr lang="en-US" sz="2100" dirty="0"/>
          </a:p>
        </p:txBody>
      </p:sp>
      <p:sp>
        <p:nvSpPr>
          <p:cNvPr id="6" name="Shape 4"/>
          <p:cNvSpPr/>
          <p:nvPr/>
        </p:nvSpPr>
        <p:spPr>
          <a:xfrm>
            <a:off x="10104120" y="1170432"/>
            <a:ext cx="1600200" cy="457200"/>
          </a:xfrm>
          <a:prstGeom prst="rect">
            <a:avLst/>
          </a:prstGeom>
          <a:solidFill>
            <a:srgbClr val="FFFFFF"/>
          </a:solidFill>
          <a:ln w="15875">
            <a:solidFill>
              <a:srgbClr val="1B3A6B"/>
            </a:solidFill>
            <a:prstDash val="solid"/>
          </a:ln>
        </p:spPr>
      </p:sp>
      <p:sp>
        <p:nvSpPr>
          <p:cNvPr id="7" name="Text 5"/>
          <p:cNvSpPr/>
          <p:nvPr/>
        </p:nvSpPr>
        <p:spPr>
          <a:xfrm>
            <a:off x="10104120" y="1170432"/>
            <a:ext cx="1600200" cy="457200"/>
          </a:xfrm>
          <a:prstGeom prst="rect">
            <a:avLst/>
          </a:prstGeom>
          <a:noFill/>
          <a:ln/>
        </p:spPr>
        <p:txBody>
          <a:bodyPr wrap="square" lIns="0" tIns="0" rIns="0" bIns="0" rtlCol="0" anchor="ctr"/>
          <a:lstStyle/>
          <a:p>
            <a:pPr marL="0" indent="0" algn="ctr">
              <a:buNone/>
            </a:pPr>
            <a:r>
              <a:rPr lang="en-US" sz="1400" b="1" dirty="0">
                <a:solidFill>
                  <a:srgbClr val="1B3A6B"/>
                </a:solidFill>
                <a:latin typeface="Meiryo" pitchFamily="34" charset="0"/>
                <a:ea typeface="Meiryo" pitchFamily="34" charset="-122"/>
                <a:cs typeface="Meiryo" pitchFamily="34" charset="-120"/>
              </a:rPr>
              <a:t>東金市</a:t>
            </a:r>
            <a:endParaRPr lang="en-US" sz="1400" dirty="0"/>
          </a:p>
        </p:txBody>
      </p:sp>
      <p:sp>
        <p:nvSpPr>
          <p:cNvPr id="8" name="Text 6"/>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sp>
        <p:nvSpPr>
          <p:cNvPr id="9" name="Shape 7"/>
          <p:cNvSpPr/>
          <p:nvPr/>
        </p:nvSpPr>
        <p:spPr>
          <a:xfrm>
            <a:off x="502920" y="1783080"/>
            <a:ext cx="6903720" cy="3474720"/>
          </a:xfrm>
          <a:prstGeom prst="rect">
            <a:avLst/>
          </a:prstGeom>
          <a:solidFill>
            <a:srgbClr val="FFFFFF"/>
          </a:solidFill>
          <a:ln w="12700">
            <a:solidFill>
              <a:srgbClr val="9AA7B8"/>
            </a:solidFill>
            <a:prstDash val="solid"/>
          </a:ln>
          <a:effectLst>
            <a:outerShdw blurRad="63500" dist="25400" dir="8100000" algn="bl" rotWithShape="0">
              <a:srgbClr val="000000">
                <a:alpha val="12000"/>
              </a:srgbClr>
            </a:outerShdw>
          </a:effectLst>
        </p:spPr>
      </p:sp>
      <p:sp>
        <p:nvSpPr>
          <p:cNvPr id="10" name="Text 8"/>
          <p:cNvSpPr/>
          <p:nvPr/>
        </p:nvSpPr>
        <p:spPr>
          <a:xfrm>
            <a:off x="704088" y="1911096"/>
            <a:ext cx="6501384" cy="384048"/>
          </a:xfrm>
          <a:prstGeom prst="rect">
            <a:avLst/>
          </a:prstGeom>
          <a:noFill/>
          <a:ln/>
        </p:spPr>
        <p:txBody>
          <a:bodyPr wrap="square" lIns="0" tIns="0" rIns="0" bIns="0" rtlCol="0" anchor="ctr"/>
          <a:lstStyle/>
          <a:p>
            <a:pPr marL="0" indent="0">
              <a:buNone/>
            </a:pPr>
            <a:r>
              <a:rPr lang="en-US" sz="1400" b="1" dirty="0">
                <a:solidFill>
                  <a:srgbClr val="1B3A6B"/>
                </a:solidFill>
                <a:latin typeface="Meiryo" pitchFamily="34" charset="0"/>
                <a:ea typeface="Meiryo" pitchFamily="34" charset="-122"/>
                <a:cs typeface="Meiryo" pitchFamily="34" charset="-120"/>
              </a:rPr>
              <a:t>子ども支援センターぽけっと（児童発達支援・放課後等デイサービス）</a:t>
            </a:r>
            <a:endParaRPr lang="en-US" sz="1400" dirty="0"/>
          </a:p>
        </p:txBody>
      </p:sp>
      <p:sp>
        <p:nvSpPr>
          <p:cNvPr id="11" name="Text 9"/>
          <p:cNvSpPr/>
          <p:nvPr/>
        </p:nvSpPr>
        <p:spPr>
          <a:xfrm>
            <a:off x="704088" y="2331720"/>
            <a:ext cx="6501384" cy="2852927"/>
          </a:xfrm>
          <a:prstGeom prst="rect">
            <a:avLst/>
          </a:prstGeom>
          <a:noFill/>
          <a:ln/>
        </p:spPr>
        <p:txBody>
          <a:bodyPr wrap="square" lIns="0" tIns="0" rIns="0" bIns="0" rtlCol="0" anchor="t"/>
          <a:lstStyle/>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対象：</a:t>
            </a:r>
            <a:r>
              <a:rPr lang="en-US" sz="1100" dirty="0">
                <a:solidFill>
                  <a:srgbClr val="222222"/>
                </a:solidFill>
                <a:latin typeface="Meiryo" pitchFamily="34" charset="0"/>
                <a:ea typeface="Meiryo" pitchFamily="34" charset="-122"/>
                <a:cs typeface="Meiryo" pitchFamily="34" charset="-120"/>
              </a:rPr>
              <a:t>未就学児（児童発達支援）〜就学児（放課後等デイサービス）</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住所：</a:t>
            </a:r>
            <a:r>
              <a:rPr lang="en-US" sz="1100" dirty="0">
                <a:solidFill>
                  <a:srgbClr val="222222"/>
                </a:solidFill>
                <a:latin typeface="Meiryo" pitchFamily="34" charset="0"/>
                <a:ea typeface="Meiryo" pitchFamily="34" charset="-122"/>
                <a:cs typeface="Meiryo" pitchFamily="34" charset="-120"/>
              </a:rPr>
              <a:t>千葉県東金市東上宿6番地2</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TEL／HP：</a:t>
            </a:r>
            <a:r>
              <a:rPr lang="en-US" sz="1100" dirty="0">
                <a:solidFill>
                  <a:srgbClr val="222222"/>
                </a:solidFill>
                <a:latin typeface="Meiryo" pitchFamily="34" charset="0"/>
                <a:ea typeface="Meiryo" pitchFamily="34" charset="-122"/>
                <a:cs typeface="Meiryo" pitchFamily="34" charset="-120"/>
              </a:rPr>
              <a:t>0475-50-1081 ／ WAM NET（障害福祉サービス等情報公表システム）に事業所情報を掲載</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サービス提供時間：</a:t>
            </a:r>
            <a:r>
              <a:rPr lang="en-US" sz="1100" dirty="0">
                <a:solidFill>
                  <a:srgbClr val="222222"/>
                </a:solidFill>
                <a:latin typeface="Meiryo" pitchFamily="34" charset="0"/>
                <a:ea typeface="Meiryo" pitchFamily="34" charset="-122"/>
                <a:cs typeface="Meiryo" pitchFamily="34" charset="-120"/>
              </a:rPr>
              <a:t>要確認（公開情報に記載なし）</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定員：</a:t>
            </a:r>
            <a:r>
              <a:rPr lang="en-US" sz="1100" dirty="0">
                <a:solidFill>
                  <a:srgbClr val="222222"/>
                </a:solidFill>
                <a:latin typeface="Meiryo" pitchFamily="34" charset="0"/>
                <a:ea typeface="Meiryo" pitchFamily="34" charset="-122"/>
                <a:cs typeface="Meiryo" pitchFamily="34" charset="-120"/>
              </a:rPr>
              <a:t>要確認</a:t>
            </a:r>
            <a:endParaRPr lang="en-US" sz="1050" dirty="0"/>
          </a:p>
          <a:p>
            <a:pPr marL="0" indent="0">
              <a:lnSpc>
                <a:spcPct val="103000"/>
              </a:lnSpc>
              <a:spcAft>
                <a:spcPts val="500"/>
              </a:spcAft>
              <a:buNone/>
            </a:pP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療育プログラムの特徴：</a:t>
            </a:r>
            <a:r>
              <a:rPr lang="en-US" sz="1100" dirty="0">
                <a:solidFill>
                  <a:srgbClr val="222222"/>
                </a:solidFill>
                <a:latin typeface="Meiryo" pitchFamily="34" charset="0"/>
                <a:ea typeface="Meiryo" pitchFamily="34" charset="-122"/>
                <a:cs typeface="Meiryo" pitchFamily="34" charset="-120"/>
              </a:rPr>
              <a:t>公開情報が限られており、支援内容の詳細は事業所への直接確認が必要。</a:t>
            </a:r>
            <a:endParaRPr lang="en-US" sz="1050" dirty="0"/>
          </a:p>
          <a:p>
            <a:pPr marL="0" indent="0">
              <a:lnSpc>
                <a:spcPct val="103000"/>
              </a:lnSpc>
              <a:spcAft>
                <a:spcPts val="500"/>
              </a:spcAft>
              <a:buNone/>
            </a:pPr>
            <a:r>
              <a:rPr lang="en-US" sz="1100" dirty="0">
                <a:solidFill>
                  <a:srgbClr val="222222"/>
                </a:solidFill>
                <a:latin typeface="Meiryo" pitchFamily="34" charset="0"/>
                <a:ea typeface="Meiryo" pitchFamily="34" charset="-122"/>
                <a:cs typeface="Meiryo" pitchFamily="34" charset="-120"/>
              </a:rPr>
              <a:t>・児童発達支援と放課後等デイサービスを併設し、未就学から就学後まで継続利用できる体制。</a:t>
            </a:r>
            <a:endParaRPr lang="en-US" sz="1050" dirty="0"/>
          </a:p>
          <a:p>
            <a:pPr marL="0" indent="0">
              <a:lnSpc>
                <a:spcPct val="103000"/>
              </a:lnSpc>
              <a:spcAft>
                <a:spcPts val="500"/>
              </a:spcAft>
              <a:buNone/>
            </a:pPr>
            <a:r>
              <a:rPr lang="en-US" sz="1100" dirty="0">
                <a:solidFill>
                  <a:srgbClr val="222222"/>
                </a:solidFill>
                <a:latin typeface="Meiryo" pitchFamily="34" charset="0"/>
                <a:ea typeface="Meiryo" pitchFamily="34" charset="-122"/>
                <a:cs typeface="Meiryo" pitchFamily="34" charset="-120"/>
              </a:rPr>
              <a:t>・東金駅・市役所に近い東上宿の市街地に立地。</a:t>
            </a:r>
            <a:endParaRPr lang="en-US" sz="1050" dirty="0"/>
          </a:p>
          <a:p>
            <a:pPr marL="0" indent="0">
              <a:lnSpc>
                <a:spcPct val="103000"/>
              </a:lnSpc>
              <a:spcAft>
                <a:spcPts val="500"/>
              </a:spcAft>
              <a:buNone/>
            </a:pPr>
            <a:r>
              <a:rPr lang="en-US" sz="1100" dirty="0">
                <a:solidFill>
                  <a:srgbClr val="222222"/>
                </a:solidFill>
                <a:latin typeface="Meiryo" pitchFamily="34" charset="0"/>
                <a:ea typeface="Meiryo" pitchFamily="34" charset="-122"/>
                <a:cs typeface="Meiryo" pitchFamily="34" charset="-120"/>
              </a:rPr>
              <a:t>・同一町域（東上宿6-1）に相談支援事業所「街かど福祉相談室るると」が所在し、相談〜通所の導線が近い。</a:t>
            </a:r>
            <a:endParaRPr lang="en-US" sz="1050" dirty="0"/>
          </a:p>
        </p:txBody>
      </p:sp>
      <p:sp>
        <p:nvSpPr>
          <p:cNvPr id="14" name="Shape 12"/>
          <p:cNvSpPr/>
          <p:nvPr/>
        </p:nvSpPr>
        <p:spPr>
          <a:xfrm>
            <a:off x="7635240" y="1783080"/>
            <a:ext cx="4069080" cy="3474720"/>
          </a:xfrm>
          <a:prstGeom prst="rect">
            <a:avLst/>
          </a:prstGeom>
          <a:solidFill>
            <a:srgbClr val="EEF2F8"/>
          </a:solidFill>
          <a:ln w="12700">
            <a:solidFill>
              <a:srgbClr val="9AA7B8"/>
            </a:solidFill>
            <a:prstDash val="solid"/>
          </a:ln>
        </p:spPr>
      </p:sp>
      <p:sp>
        <p:nvSpPr>
          <p:cNvPr id="15" name="Text 13"/>
          <p:cNvSpPr/>
          <p:nvPr/>
        </p:nvSpPr>
        <p:spPr>
          <a:xfrm>
            <a:off x="7818120" y="1901952"/>
            <a:ext cx="37033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注目ポイント</a:t>
            </a:r>
            <a:endParaRPr lang="en-US" sz="1250" dirty="0"/>
          </a:p>
        </p:txBody>
      </p:sp>
      <p:sp>
        <p:nvSpPr>
          <p:cNvPr id="16" name="Text 14"/>
          <p:cNvSpPr/>
          <p:nvPr/>
        </p:nvSpPr>
        <p:spPr>
          <a:xfrm>
            <a:off x="7818120" y="2286000"/>
            <a:ext cx="3703320" cy="2907791"/>
          </a:xfrm>
          <a:prstGeom prst="rect">
            <a:avLst/>
          </a:prstGeom>
          <a:noFill/>
          <a:ln/>
        </p:spPr>
        <p:txBody>
          <a:bodyPr wrap="square" lIns="0" tIns="0" rIns="0" bIns="0" rtlCol="0" anchor="t"/>
          <a:lstStyle/>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市街地中心部の立地で、駅・市役所方面からのアクセス性が高い。</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児発／放デイの一貫利用が可能な、市内では数少ないタイプ。</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Web上の情報発信が乏しく、集客は行政・相談支援経由の紹介が中心と推察される。</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情報発信の弱さは裏返せば、Web集客に強い事業所にとって切り崩しやすい競合といえる。</a:t>
            </a:r>
            <a:endParaRPr lang="en-US" sz="1000" dirty="0">
              <a:latin typeface="メイリオ" panose="020B0604030504040204" pitchFamily="50" charset="-128"/>
              <a:ea typeface="メイリオ" panose="020B0604030504040204" pitchFamily="50" charset="-128"/>
            </a:endParaRPr>
          </a:p>
        </p:txBody>
      </p:sp>
      <p:sp>
        <p:nvSpPr>
          <p:cNvPr id="940" name="FootBG"/>
          <p:cNvSpPr/>
          <p:nvPr/>
        </p:nvSpPr>
        <p:spPr>
          <a:xfrm>
            <a:off x="502920" y="5394960"/>
            <a:ext cx="11201400" cy="896112"/>
          </a:xfrm>
          <a:prstGeom prst="rect">
            <a:avLst/>
          </a:prstGeom>
          <a:solidFill>
            <a:srgbClr val="EEF2F8"/>
          </a:solidFill>
          <a:ln w="12700">
            <a:solidFill>
              <a:srgbClr val="9AA7B8"/>
            </a:solidFill>
            <a:prstDash val="solid"/>
          </a:ln>
        </p:spPr>
      </p:sp>
      <p:sp>
        <p:nvSpPr>
          <p:cNvPr id="941" name="FootTitle"/>
          <p:cNvSpPr/>
          <p:nvPr/>
        </p:nvSpPr>
        <p:spPr>
          <a:xfrm>
            <a:off x="713232" y="5477256"/>
            <a:ext cx="10789920" cy="27432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出典 ／ 要確認事項</a:t>
            </a:r>
            <a:endParaRPr lang="en-US" sz="1250" dirty="0"/>
          </a:p>
        </p:txBody>
      </p:sp>
      <p:sp>
        <p:nvSpPr>
          <p:cNvPr id="13" name="FootBody"/>
          <p:cNvSpPr/>
          <p:nvPr/>
        </p:nvSpPr>
        <p:spPr>
          <a:xfrm>
            <a:off x="713232" y="5779008"/>
            <a:ext cx="10789920" cy="475488"/>
          </a:xfrm>
          <a:prstGeom prst="rect">
            <a:avLst/>
          </a:prstGeom>
          <a:noFill/>
          <a:ln/>
        </p:spPr>
        <p:txBody>
          <a:bodyPr wrap="square" lIns="0" tIns="0" rIns="0" bIns="0" rtlCol="0" anchor="t"/>
          <a:lstStyle/>
          <a:p>
            <a:pPr marL="0" indent="0">
              <a:lnSpc>
                <a:spcPct val="103000"/>
              </a:lnSpc>
              <a:buNone/>
            </a:pPr>
            <a:r>
              <a:rPr lang="en-US" sz="950" b="1" dirty="0">
                <a:solidFill>
                  <a:srgbClr val="2E6BB8"/>
                </a:solidFill>
                <a:latin typeface="Meiryo" pitchFamily="34" charset="0"/>
                <a:ea typeface="Meiryo" pitchFamily="34" charset="-122"/>
                <a:cs typeface="Meiryo" pitchFamily="34" charset="-120"/>
              </a:rPr>
              <a:t>▶</a:t>
            </a:r>
            <a:r>
              <a:rPr lang="en-US" sz="950" b="1" dirty="0">
                <a:solidFill>
                  <a:srgbClr val="222222"/>
                </a:solidFill>
                <a:latin typeface="Meiryo" pitchFamily="34" charset="0"/>
                <a:ea typeface="Meiryo" pitchFamily="34" charset="-122"/>
                <a:cs typeface="Meiryo" pitchFamily="34" charset="-120"/>
              </a:rPr>
              <a:t>出典：</a:t>
            </a:r>
            <a:r>
              <a:rPr lang="en-US" sz="950" dirty="0">
                <a:solidFill>
                  <a:srgbClr val="222222"/>
                </a:solidFill>
                <a:latin typeface="Meiryo" pitchFamily="34" charset="0"/>
                <a:ea typeface="Meiryo" pitchFamily="34" charset="-122"/>
                <a:cs typeface="Meiryo" pitchFamily="34" charset="-120"/>
              </a:rPr>
              <a:t>WAM NET 障害福祉サービス等情報公表システム／LITALICO発達ナビ／東金市公式サイト</a:t>
            </a:r>
            <a:endParaRPr lang="en-US" sz="1050" dirty="0"/>
          </a:p>
          <a:p>
            <a:pPr marL="0" indent="0">
              <a:lnSpc>
                <a:spcPct val="103000"/>
              </a:lnSpc>
              <a:buNone/>
            </a:pPr>
            <a:r>
              <a:rPr lang="en-US" sz="950" b="1" dirty="0">
                <a:solidFill>
                  <a:srgbClr val="2E6BB8"/>
                </a:solidFill>
                <a:latin typeface="Meiryo" pitchFamily="34" charset="0"/>
                <a:ea typeface="Meiryo" pitchFamily="34" charset="-122"/>
                <a:cs typeface="Meiryo" pitchFamily="34" charset="-120"/>
              </a:rPr>
              <a:t>▶</a:t>
            </a:r>
            <a:r>
              <a:rPr lang="en-US" sz="950" b="1" dirty="0">
                <a:solidFill>
                  <a:srgbClr val="222222"/>
                </a:solidFill>
                <a:latin typeface="Meiryo" pitchFamily="34" charset="0"/>
                <a:ea typeface="Meiryo" pitchFamily="34" charset="-122"/>
                <a:cs typeface="Meiryo" pitchFamily="34" charset="-120"/>
              </a:rPr>
              <a:t>要確認事項：</a:t>
            </a:r>
            <a:r>
              <a:rPr lang="en-US" sz="950" dirty="0">
                <a:solidFill>
                  <a:srgbClr val="222222"/>
                </a:solidFill>
                <a:latin typeface="Meiryo" pitchFamily="34" charset="0"/>
                <a:ea typeface="Meiryo" pitchFamily="34" charset="-122"/>
                <a:cs typeface="Meiryo" pitchFamily="34" charset="-120"/>
              </a:rPr>
              <a:t>運営法人、サービス提供時間、定員、送迎の有無、プログラム内容　※公開情報がほぼ無く電話ヒアリング必須</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II．　事業所別 詳細</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en-US" sz="2100" b="1" dirty="0">
                <a:solidFill>
                  <a:srgbClr val="222222"/>
                </a:solidFill>
                <a:latin typeface="Meiryo" pitchFamily="34" charset="0"/>
                <a:ea typeface="Meiryo" pitchFamily="34" charset="-122"/>
                <a:cs typeface="Meiryo" pitchFamily="34" charset="-120"/>
              </a:rPr>
              <a:t>③ こどもプラス東金教室</a:t>
            </a:r>
            <a:endParaRPr lang="en-US" sz="2100" dirty="0"/>
          </a:p>
        </p:txBody>
      </p:sp>
      <p:sp>
        <p:nvSpPr>
          <p:cNvPr id="6" name="Shape 4"/>
          <p:cNvSpPr/>
          <p:nvPr/>
        </p:nvSpPr>
        <p:spPr>
          <a:xfrm>
            <a:off x="10104120" y="1170432"/>
            <a:ext cx="1600200" cy="457200"/>
          </a:xfrm>
          <a:prstGeom prst="rect">
            <a:avLst/>
          </a:prstGeom>
          <a:solidFill>
            <a:srgbClr val="FFFFFF"/>
          </a:solidFill>
          <a:ln w="15875">
            <a:solidFill>
              <a:srgbClr val="1B3A6B"/>
            </a:solidFill>
            <a:prstDash val="solid"/>
          </a:ln>
        </p:spPr>
      </p:sp>
      <p:sp>
        <p:nvSpPr>
          <p:cNvPr id="7" name="Text 5"/>
          <p:cNvSpPr/>
          <p:nvPr/>
        </p:nvSpPr>
        <p:spPr>
          <a:xfrm>
            <a:off x="10104120" y="1170432"/>
            <a:ext cx="1600200" cy="457200"/>
          </a:xfrm>
          <a:prstGeom prst="rect">
            <a:avLst/>
          </a:prstGeom>
          <a:noFill/>
          <a:ln/>
        </p:spPr>
        <p:txBody>
          <a:bodyPr wrap="square" lIns="0" tIns="0" rIns="0" bIns="0" rtlCol="0" anchor="ctr"/>
          <a:lstStyle/>
          <a:p>
            <a:pPr marL="0" indent="0" algn="ctr">
              <a:buNone/>
            </a:pPr>
            <a:r>
              <a:rPr lang="en-US" sz="1400" b="1" dirty="0">
                <a:solidFill>
                  <a:srgbClr val="1B3A6B"/>
                </a:solidFill>
                <a:latin typeface="Meiryo" pitchFamily="34" charset="0"/>
                <a:ea typeface="Meiryo" pitchFamily="34" charset="-122"/>
                <a:cs typeface="Meiryo" pitchFamily="34" charset="-120"/>
              </a:rPr>
              <a:t>東金市</a:t>
            </a:r>
            <a:endParaRPr lang="en-US" sz="1400" dirty="0"/>
          </a:p>
        </p:txBody>
      </p:sp>
      <p:sp>
        <p:nvSpPr>
          <p:cNvPr id="8" name="Text 6"/>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sp>
        <p:nvSpPr>
          <p:cNvPr id="9" name="Shape 7"/>
          <p:cNvSpPr/>
          <p:nvPr/>
        </p:nvSpPr>
        <p:spPr>
          <a:xfrm>
            <a:off x="502920" y="1783080"/>
            <a:ext cx="6903720" cy="3474720"/>
          </a:xfrm>
          <a:prstGeom prst="rect">
            <a:avLst/>
          </a:prstGeom>
          <a:solidFill>
            <a:srgbClr val="FFFFFF"/>
          </a:solidFill>
          <a:ln w="12700">
            <a:solidFill>
              <a:srgbClr val="9AA7B8"/>
            </a:solidFill>
            <a:prstDash val="solid"/>
          </a:ln>
          <a:effectLst>
            <a:outerShdw blurRad="63500" dist="25400" dir="8100000" algn="bl" rotWithShape="0">
              <a:srgbClr val="000000">
                <a:alpha val="12000"/>
              </a:srgbClr>
            </a:outerShdw>
          </a:effectLst>
        </p:spPr>
      </p:sp>
      <p:sp>
        <p:nvSpPr>
          <p:cNvPr id="10" name="Text 8"/>
          <p:cNvSpPr/>
          <p:nvPr/>
        </p:nvSpPr>
        <p:spPr>
          <a:xfrm>
            <a:off x="704088" y="1911096"/>
            <a:ext cx="6501384" cy="384048"/>
          </a:xfrm>
          <a:prstGeom prst="rect">
            <a:avLst/>
          </a:prstGeom>
          <a:noFill/>
          <a:ln/>
        </p:spPr>
        <p:txBody>
          <a:bodyPr wrap="square" lIns="0" tIns="0" rIns="0" bIns="0" rtlCol="0" anchor="ctr"/>
          <a:lstStyle/>
          <a:p>
            <a:pPr marL="0" indent="0">
              <a:buNone/>
            </a:pPr>
            <a:r>
              <a:rPr lang="en-US" sz="1400" b="1" dirty="0">
                <a:solidFill>
                  <a:srgbClr val="1B3A6B"/>
                </a:solidFill>
                <a:latin typeface="Meiryo" pitchFamily="34" charset="0"/>
                <a:ea typeface="Meiryo" pitchFamily="34" charset="-122"/>
                <a:cs typeface="Meiryo" pitchFamily="34" charset="-120"/>
              </a:rPr>
              <a:t>こどもプラス東金教室（運営：株式会社ベストグロウ）</a:t>
            </a:r>
            <a:endParaRPr lang="en-US" sz="1400" dirty="0"/>
          </a:p>
        </p:txBody>
      </p:sp>
      <p:sp>
        <p:nvSpPr>
          <p:cNvPr id="11" name="Text 9"/>
          <p:cNvSpPr/>
          <p:nvPr/>
        </p:nvSpPr>
        <p:spPr>
          <a:xfrm>
            <a:off x="704088" y="2331720"/>
            <a:ext cx="6501384" cy="2852927"/>
          </a:xfrm>
          <a:prstGeom prst="rect">
            <a:avLst/>
          </a:prstGeom>
          <a:noFill/>
          <a:ln/>
        </p:spPr>
        <p:txBody>
          <a:bodyPr wrap="square" lIns="0" tIns="0" rIns="0" bIns="0" rtlCol="0" anchor="t"/>
          <a:lstStyle/>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対象：</a:t>
            </a:r>
            <a:r>
              <a:rPr lang="en-US" sz="1100" dirty="0">
                <a:solidFill>
                  <a:srgbClr val="222222"/>
                </a:solidFill>
                <a:latin typeface="Meiryo" pitchFamily="34" charset="0"/>
                <a:ea typeface="Meiryo" pitchFamily="34" charset="-122"/>
                <a:cs typeface="Meiryo" pitchFamily="34" charset="-120"/>
              </a:rPr>
              <a:t>未就学児（児童発達支援）／就学児（放課後等デイサービス）</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住所：</a:t>
            </a:r>
            <a:r>
              <a:rPr lang="en-US" sz="1100" dirty="0">
                <a:solidFill>
                  <a:srgbClr val="222222"/>
                </a:solidFill>
                <a:latin typeface="Meiryo" pitchFamily="34" charset="0"/>
                <a:ea typeface="Meiryo" pitchFamily="34" charset="-122"/>
                <a:cs typeface="Meiryo" pitchFamily="34" charset="-120"/>
              </a:rPr>
              <a:t>千葉県東金市東新宿18-1 酒造ビル105号（JR東金線 東金駅から徒歩約7〜9分）</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TEL／HP：</a:t>
            </a:r>
            <a:r>
              <a:rPr lang="en-US" sz="1100" dirty="0">
                <a:solidFill>
                  <a:srgbClr val="222222"/>
                </a:solidFill>
                <a:latin typeface="Meiryo" pitchFamily="34" charset="0"/>
                <a:ea typeface="Meiryo" pitchFamily="34" charset="-122"/>
                <a:cs typeface="Meiryo" pitchFamily="34" charset="-120"/>
              </a:rPr>
              <a:t>0475-77-8577 ／ kp-tougane.com</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サービス提供時間：</a:t>
            </a:r>
            <a:r>
              <a:rPr lang="en-US" sz="1100" dirty="0">
                <a:solidFill>
                  <a:srgbClr val="222222"/>
                </a:solidFill>
                <a:latin typeface="Meiryo" pitchFamily="34" charset="0"/>
                <a:ea typeface="Meiryo" pitchFamily="34" charset="-122"/>
                <a:cs typeface="Meiryo" pitchFamily="34" charset="-120"/>
              </a:rPr>
              <a:t>平日 9:00〜18:00　※送迎あり</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開設：</a:t>
            </a:r>
            <a:r>
              <a:rPr lang="en-US" sz="1100" dirty="0">
                <a:solidFill>
                  <a:srgbClr val="222222"/>
                </a:solidFill>
                <a:latin typeface="Meiryo" pitchFamily="34" charset="0"/>
                <a:ea typeface="Meiryo" pitchFamily="34" charset="-122"/>
                <a:cs typeface="Meiryo" pitchFamily="34" charset="-120"/>
              </a:rPr>
              <a:t>2015年7月1日</a:t>
            </a:r>
            <a:endParaRPr lang="en-US" sz="1050" dirty="0"/>
          </a:p>
          <a:p>
            <a:pPr marL="0" indent="0">
              <a:lnSpc>
                <a:spcPct val="103000"/>
              </a:lnSpc>
              <a:spcAft>
                <a:spcPts val="500"/>
              </a:spcAft>
              <a:buNone/>
            </a:pP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療育プログラムの特徴：</a:t>
            </a:r>
            <a:r>
              <a:rPr lang="en-US" sz="1100" dirty="0">
                <a:solidFill>
                  <a:srgbClr val="222222"/>
                </a:solidFill>
                <a:latin typeface="Meiryo" pitchFamily="34" charset="0"/>
                <a:ea typeface="Meiryo" pitchFamily="34" charset="-122"/>
                <a:cs typeface="Meiryo" pitchFamily="34" charset="-120"/>
              </a:rPr>
              <a:t>運動療育を主軸に、学習・あそびを取り入れた総合的な療育を提供。</a:t>
            </a:r>
            <a:endParaRPr lang="en-US" sz="1050" dirty="0"/>
          </a:p>
          <a:p>
            <a:pPr marL="0" indent="0">
              <a:lnSpc>
                <a:spcPct val="103000"/>
              </a:lnSpc>
              <a:spcAft>
                <a:spcPts val="500"/>
              </a:spcAft>
              <a:buNone/>
            </a:pPr>
            <a:r>
              <a:rPr lang="en-US" sz="1100" dirty="0">
                <a:solidFill>
                  <a:srgbClr val="222222"/>
                </a:solidFill>
                <a:latin typeface="Meiryo" pitchFamily="34" charset="0"/>
                <a:ea typeface="Meiryo" pitchFamily="34" charset="-122"/>
                <a:cs typeface="Meiryo" pitchFamily="34" charset="-120"/>
              </a:rPr>
              <a:t>・「柳沢運動プログラム」を導入。運動あそびが大脳活動の発達を促すという理論に基づくカリキュラム。</a:t>
            </a:r>
            <a:endParaRPr lang="en-US" sz="1050" dirty="0"/>
          </a:p>
          <a:p>
            <a:pPr marL="0" indent="0">
              <a:lnSpc>
                <a:spcPct val="103000"/>
              </a:lnSpc>
              <a:spcAft>
                <a:spcPts val="500"/>
              </a:spcAft>
              <a:buNone/>
            </a:pPr>
            <a:r>
              <a:rPr lang="en-US" sz="1100" dirty="0">
                <a:solidFill>
                  <a:srgbClr val="222222"/>
                </a:solidFill>
                <a:latin typeface="Meiryo" pitchFamily="34" charset="0"/>
                <a:ea typeface="Meiryo" pitchFamily="34" charset="-122"/>
                <a:cs typeface="Meiryo" pitchFamily="34" charset="-120"/>
              </a:rPr>
              <a:t>・全身の筋力向上・けがの減少に加え、情緒の安定、切り替えの上達、ルール理解の定着を効果として掲げる。</a:t>
            </a:r>
            <a:endParaRPr lang="en-US" sz="1050" dirty="0"/>
          </a:p>
          <a:p>
            <a:pPr marL="0" indent="0">
              <a:lnSpc>
                <a:spcPct val="103000"/>
              </a:lnSpc>
              <a:spcAft>
                <a:spcPts val="500"/>
              </a:spcAft>
              <a:buNone/>
            </a:pPr>
            <a:r>
              <a:rPr lang="en-US" sz="1100" dirty="0">
                <a:solidFill>
                  <a:srgbClr val="222222"/>
                </a:solidFill>
                <a:latin typeface="Meiryo" pitchFamily="34" charset="0"/>
                <a:ea typeface="Meiryo" pitchFamily="34" charset="-122"/>
                <a:cs typeface="Meiryo" pitchFamily="34" charset="-120"/>
              </a:rPr>
              <a:t>・運営法人は千葉県内に児発・放デイ・相談支援あわせて10事業所を展開（本社：東金市道庭925-1）。</a:t>
            </a:r>
            <a:endParaRPr lang="en-US" sz="1050" dirty="0"/>
          </a:p>
        </p:txBody>
      </p:sp>
      <p:sp>
        <p:nvSpPr>
          <p:cNvPr id="14" name="Shape 12"/>
          <p:cNvSpPr/>
          <p:nvPr/>
        </p:nvSpPr>
        <p:spPr>
          <a:xfrm>
            <a:off x="7635240" y="1783080"/>
            <a:ext cx="4069080" cy="3474720"/>
          </a:xfrm>
          <a:prstGeom prst="rect">
            <a:avLst/>
          </a:prstGeom>
          <a:solidFill>
            <a:srgbClr val="EEF2F8"/>
          </a:solidFill>
          <a:ln w="12700">
            <a:solidFill>
              <a:srgbClr val="9AA7B8"/>
            </a:solidFill>
            <a:prstDash val="solid"/>
          </a:ln>
        </p:spPr>
      </p:sp>
      <p:sp>
        <p:nvSpPr>
          <p:cNvPr id="15" name="Text 13"/>
          <p:cNvSpPr/>
          <p:nvPr/>
        </p:nvSpPr>
        <p:spPr>
          <a:xfrm>
            <a:off x="7818120" y="1901952"/>
            <a:ext cx="37033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注目ポイント</a:t>
            </a:r>
            <a:endParaRPr lang="en-US" sz="1250" dirty="0"/>
          </a:p>
        </p:txBody>
      </p:sp>
      <p:sp>
        <p:nvSpPr>
          <p:cNvPr id="16" name="Text 14"/>
          <p:cNvSpPr/>
          <p:nvPr/>
        </p:nvSpPr>
        <p:spPr>
          <a:xfrm>
            <a:off x="7818120" y="2286000"/>
            <a:ext cx="3703320" cy="2907791"/>
          </a:xfrm>
          <a:prstGeom prst="rect">
            <a:avLst/>
          </a:prstGeom>
          <a:noFill/>
          <a:ln/>
        </p:spPr>
        <p:txBody>
          <a:bodyPr wrap="square" lIns="0" tIns="0" rIns="0" bIns="0" rtlCol="0" anchor="t"/>
          <a:lstStyle/>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東金駅至近＋送迎ありで、通所利便性は市内トップクラス。</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「運動療育」という明確なプログラム軸を打ち出し、Webでの情報発信量も市内最大級。</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同一法人の第2教室・相談支援事業所と連携し、相談から通所まで法人内で完結する導線を構築。</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市内で最も認知度・集客力が高いと推察され、実質的なベンチマーク先となる事業所。</a:t>
            </a:r>
            <a:endParaRPr lang="en-US" sz="1000" dirty="0">
              <a:latin typeface="メイリオ" panose="020B0604030504040204" pitchFamily="50" charset="-128"/>
              <a:ea typeface="メイリオ" panose="020B0604030504040204" pitchFamily="50" charset="-128"/>
            </a:endParaRPr>
          </a:p>
        </p:txBody>
      </p:sp>
      <p:sp>
        <p:nvSpPr>
          <p:cNvPr id="940" name="FootBG"/>
          <p:cNvSpPr/>
          <p:nvPr/>
        </p:nvSpPr>
        <p:spPr>
          <a:xfrm>
            <a:off x="502920" y="5394960"/>
            <a:ext cx="11201400" cy="896112"/>
          </a:xfrm>
          <a:prstGeom prst="rect">
            <a:avLst/>
          </a:prstGeom>
          <a:solidFill>
            <a:srgbClr val="EEF2F8"/>
          </a:solidFill>
          <a:ln w="12700">
            <a:solidFill>
              <a:srgbClr val="9AA7B8"/>
            </a:solidFill>
            <a:prstDash val="solid"/>
          </a:ln>
        </p:spPr>
      </p:sp>
      <p:sp>
        <p:nvSpPr>
          <p:cNvPr id="941" name="FootTitle"/>
          <p:cNvSpPr/>
          <p:nvPr/>
        </p:nvSpPr>
        <p:spPr>
          <a:xfrm>
            <a:off x="713232" y="5477256"/>
            <a:ext cx="10789920" cy="27432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出典 ／ 要確認事項</a:t>
            </a:r>
            <a:endParaRPr lang="en-US" sz="1250" dirty="0"/>
          </a:p>
        </p:txBody>
      </p:sp>
      <p:sp>
        <p:nvSpPr>
          <p:cNvPr id="13" name="FootBody"/>
          <p:cNvSpPr/>
          <p:nvPr/>
        </p:nvSpPr>
        <p:spPr>
          <a:xfrm>
            <a:off x="713232" y="5779008"/>
            <a:ext cx="10789920" cy="475488"/>
          </a:xfrm>
          <a:prstGeom prst="rect">
            <a:avLst/>
          </a:prstGeom>
          <a:noFill/>
          <a:ln/>
        </p:spPr>
        <p:txBody>
          <a:bodyPr wrap="square" lIns="0" tIns="0" rIns="0" bIns="0" rtlCol="0" anchor="t"/>
          <a:lstStyle/>
          <a:p>
            <a:pPr marL="0" indent="0">
              <a:lnSpc>
                <a:spcPct val="103000"/>
              </a:lnSpc>
              <a:buNone/>
            </a:pPr>
            <a:r>
              <a:rPr lang="en-US" sz="950" b="1" dirty="0">
                <a:solidFill>
                  <a:srgbClr val="2E6BB8"/>
                </a:solidFill>
                <a:latin typeface="Meiryo" pitchFamily="34" charset="0"/>
                <a:ea typeface="Meiryo" pitchFamily="34" charset="-122"/>
                <a:cs typeface="Meiryo" pitchFamily="34" charset="-120"/>
              </a:rPr>
              <a:t>▶</a:t>
            </a:r>
            <a:r>
              <a:rPr lang="en-US" sz="950" b="1" dirty="0">
                <a:solidFill>
                  <a:srgbClr val="222222"/>
                </a:solidFill>
                <a:latin typeface="Meiryo" pitchFamily="34" charset="0"/>
                <a:ea typeface="Meiryo" pitchFamily="34" charset="-122"/>
                <a:cs typeface="Meiryo" pitchFamily="34" charset="-120"/>
              </a:rPr>
              <a:t>出典：</a:t>
            </a:r>
            <a:r>
              <a:rPr lang="en-US" sz="950" dirty="0">
                <a:solidFill>
                  <a:srgbClr val="222222"/>
                </a:solidFill>
                <a:latin typeface="Meiryo" pitchFamily="34" charset="0"/>
                <a:ea typeface="Meiryo" pitchFamily="34" charset="-122"/>
                <a:cs typeface="Meiryo" pitchFamily="34" charset="-120"/>
              </a:rPr>
              <a:t>公式HP kp-tougane.com／WAM NET／障害者ドットコム／児発ねっと</a:t>
            </a:r>
            <a:endParaRPr lang="en-US" sz="1050" dirty="0"/>
          </a:p>
          <a:p>
            <a:pPr marL="0" indent="0">
              <a:lnSpc>
                <a:spcPct val="103000"/>
              </a:lnSpc>
              <a:buNone/>
            </a:pPr>
            <a:r>
              <a:rPr lang="en-US" sz="950" b="1" dirty="0">
                <a:solidFill>
                  <a:srgbClr val="2E6BB8"/>
                </a:solidFill>
                <a:latin typeface="Meiryo" pitchFamily="34" charset="0"/>
                <a:ea typeface="Meiryo" pitchFamily="34" charset="-122"/>
                <a:cs typeface="Meiryo" pitchFamily="34" charset="-120"/>
              </a:rPr>
              <a:t>▶</a:t>
            </a:r>
            <a:r>
              <a:rPr lang="en-US" sz="950" b="1" dirty="0">
                <a:solidFill>
                  <a:srgbClr val="222222"/>
                </a:solidFill>
                <a:latin typeface="Meiryo" pitchFamily="34" charset="0"/>
                <a:ea typeface="Meiryo" pitchFamily="34" charset="-122"/>
                <a:cs typeface="Meiryo" pitchFamily="34" charset="-120"/>
              </a:rPr>
              <a:t>要確認事項：</a:t>
            </a:r>
            <a:r>
              <a:rPr lang="en-US" sz="950" dirty="0">
                <a:solidFill>
                  <a:srgbClr val="222222"/>
                </a:solidFill>
                <a:latin typeface="Meiryo" pitchFamily="34" charset="0"/>
                <a:ea typeface="Meiryo" pitchFamily="34" charset="-122"/>
                <a:cs typeface="Meiryo" pitchFamily="34" charset="-120"/>
              </a:rPr>
              <a:t>定員、現在の空き状況、送迎範囲、児童発達支援と放課後等デイサービスの時間帯区分</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II．　事業所別 詳細</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en-US" sz="2100" b="1" dirty="0">
                <a:solidFill>
                  <a:srgbClr val="222222"/>
                </a:solidFill>
                <a:latin typeface="Meiryo" pitchFamily="34" charset="0"/>
                <a:ea typeface="Meiryo" pitchFamily="34" charset="-122"/>
                <a:cs typeface="Meiryo" pitchFamily="34" charset="-120"/>
              </a:rPr>
              <a:t>④ こどもプラス第2東金教室</a:t>
            </a:r>
            <a:endParaRPr lang="en-US" sz="2100" dirty="0"/>
          </a:p>
        </p:txBody>
      </p:sp>
      <p:sp>
        <p:nvSpPr>
          <p:cNvPr id="6" name="Shape 4"/>
          <p:cNvSpPr/>
          <p:nvPr/>
        </p:nvSpPr>
        <p:spPr>
          <a:xfrm>
            <a:off x="10104120" y="1170432"/>
            <a:ext cx="1600200" cy="457200"/>
          </a:xfrm>
          <a:prstGeom prst="rect">
            <a:avLst/>
          </a:prstGeom>
          <a:solidFill>
            <a:srgbClr val="FFFFFF"/>
          </a:solidFill>
          <a:ln w="15875">
            <a:solidFill>
              <a:srgbClr val="1B3A6B"/>
            </a:solidFill>
            <a:prstDash val="solid"/>
          </a:ln>
        </p:spPr>
      </p:sp>
      <p:sp>
        <p:nvSpPr>
          <p:cNvPr id="7" name="Text 5"/>
          <p:cNvSpPr/>
          <p:nvPr/>
        </p:nvSpPr>
        <p:spPr>
          <a:xfrm>
            <a:off x="10104120" y="1170432"/>
            <a:ext cx="1600200" cy="457200"/>
          </a:xfrm>
          <a:prstGeom prst="rect">
            <a:avLst/>
          </a:prstGeom>
          <a:noFill/>
          <a:ln/>
        </p:spPr>
        <p:txBody>
          <a:bodyPr wrap="square" lIns="0" tIns="0" rIns="0" bIns="0" rtlCol="0" anchor="ctr"/>
          <a:lstStyle/>
          <a:p>
            <a:pPr marL="0" indent="0" algn="ctr">
              <a:buNone/>
            </a:pPr>
            <a:r>
              <a:rPr lang="en-US" sz="1400" b="1" dirty="0">
                <a:solidFill>
                  <a:srgbClr val="1B3A6B"/>
                </a:solidFill>
                <a:latin typeface="Meiryo" pitchFamily="34" charset="0"/>
                <a:ea typeface="Meiryo" pitchFamily="34" charset="-122"/>
                <a:cs typeface="Meiryo" pitchFamily="34" charset="-120"/>
              </a:rPr>
              <a:t>東金市</a:t>
            </a:r>
            <a:endParaRPr lang="en-US" sz="1400" dirty="0"/>
          </a:p>
        </p:txBody>
      </p:sp>
      <p:sp>
        <p:nvSpPr>
          <p:cNvPr id="8" name="Text 6"/>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sp>
        <p:nvSpPr>
          <p:cNvPr id="9" name="Shape 7"/>
          <p:cNvSpPr/>
          <p:nvPr/>
        </p:nvSpPr>
        <p:spPr>
          <a:xfrm>
            <a:off x="502920" y="1783080"/>
            <a:ext cx="6903720" cy="3474720"/>
          </a:xfrm>
          <a:prstGeom prst="rect">
            <a:avLst/>
          </a:prstGeom>
          <a:solidFill>
            <a:srgbClr val="FFFFFF"/>
          </a:solidFill>
          <a:ln w="12700">
            <a:solidFill>
              <a:srgbClr val="9AA7B8"/>
            </a:solidFill>
            <a:prstDash val="solid"/>
          </a:ln>
          <a:effectLst>
            <a:outerShdw blurRad="63500" dist="25400" dir="8100000" algn="bl" rotWithShape="0">
              <a:srgbClr val="000000">
                <a:alpha val="12000"/>
              </a:srgbClr>
            </a:outerShdw>
          </a:effectLst>
        </p:spPr>
      </p:sp>
      <p:sp>
        <p:nvSpPr>
          <p:cNvPr id="10" name="Text 8"/>
          <p:cNvSpPr/>
          <p:nvPr/>
        </p:nvSpPr>
        <p:spPr>
          <a:xfrm>
            <a:off x="704088" y="1911096"/>
            <a:ext cx="6501384" cy="384048"/>
          </a:xfrm>
          <a:prstGeom prst="rect">
            <a:avLst/>
          </a:prstGeom>
          <a:noFill/>
          <a:ln/>
        </p:spPr>
        <p:txBody>
          <a:bodyPr wrap="square" lIns="0" tIns="0" rIns="0" bIns="0" rtlCol="0" anchor="ctr"/>
          <a:lstStyle/>
          <a:p>
            <a:pPr marL="0" indent="0">
              <a:buNone/>
            </a:pPr>
            <a:r>
              <a:rPr lang="en-US" sz="1400" b="1" dirty="0">
                <a:solidFill>
                  <a:srgbClr val="1B3A6B"/>
                </a:solidFill>
                <a:latin typeface="Meiryo" pitchFamily="34" charset="0"/>
                <a:ea typeface="Meiryo" pitchFamily="34" charset="-122"/>
                <a:cs typeface="Meiryo" pitchFamily="34" charset="-120"/>
              </a:rPr>
              <a:t>こどもプラス第2東金教室（運営：株式会社ベストグロウ）</a:t>
            </a:r>
            <a:endParaRPr lang="en-US" sz="1400" dirty="0"/>
          </a:p>
        </p:txBody>
      </p:sp>
      <p:sp>
        <p:nvSpPr>
          <p:cNvPr id="11" name="Text 9"/>
          <p:cNvSpPr/>
          <p:nvPr/>
        </p:nvSpPr>
        <p:spPr>
          <a:xfrm>
            <a:off x="704088" y="2331720"/>
            <a:ext cx="6501384" cy="2852927"/>
          </a:xfrm>
          <a:prstGeom prst="rect">
            <a:avLst/>
          </a:prstGeom>
          <a:noFill/>
          <a:ln/>
        </p:spPr>
        <p:txBody>
          <a:bodyPr wrap="square" lIns="0" tIns="0" rIns="0" bIns="0" rtlCol="0" anchor="t"/>
          <a:lstStyle/>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対象：</a:t>
            </a:r>
            <a:r>
              <a:rPr lang="en-US" sz="1100" dirty="0">
                <a:solidFill>
                  <a:srgbClr val="222222"/>
                </a:solidFill>
                <a:latin typeface="Meiryo" pitchFamily="34" charset="0"/>
                <a:ea typeface="Meiryo" pitchFamily="34" charset="-122"/>
                <a:cs typeface="Meiryo" pitchFamily="34" charset="-120"/>
              </a:rPr>
              <a:t>未就学児（児童発達支援）／就学児（放課後等デイサービス）</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住所：</a:t>
            </a:r>
            <a:r>
              <a:rPr lang="en-US" sz="1100" dirty="0">
                <a:solidFill>
                  <a:srgbClr val="222222"/>
                </a:solidFill>
                <a:latin typeface="Meiryo" pitchFamily="34" charset="0"/>
                <a:ea typeface="Meiryo" pitchFamily="34" charset="-122"/>
                <a:cs typeface="Meiryo" pitchFamily="34" charset="-120"/>
              </a:rPr>
              <a:t>千葉県東金市田間1丁目6番地4号</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TEL／HP：</a:t>
            </a:r>
            <a:r>
              <a:rPr lang="en-US" sz="1100" dirty="0">
                <a:solidFill>
                  <a:srgbClr val="222222"/>
                </a:solidFill>
                <a:latin typeface="Meiryo" pitchFamily="34" charset="0"/>
                <a:ea typeface="Meiryo" pitchFamily="34" charset="-122"/>
                <a:cs typeface="Meiryo" pitchFamily="34" charset="-120"/>
              </a:rPr>
              <a:t>要確認（法人代表 0475-77-8577）／ kp-daini-tougane.com</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サービス提供時間：</a:t>
            </a:r>
            <a:r>
              <a:rPr lang="en-US" sz="1100" dirty="0">
                <a:solidFill>
                  <a:srgbClr val="222222"/>
                </a:solidFill>
                <a:latin typeface="Meiryo" pitchFamily="34" charset="0"/>
                <a:ea typeface="Meiryo" pitchFamily="34" charset="-122"/>
                <a:cs typeface="Meiryo" pitchFamily="34" charset="-120"/>
              </a:rPr>
              <a:t>要確認</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定員：</a:t>
            </a:r>
            <a:r>
              <a:rPr lang="en-US" sz="1100" dirty="0">
                <a:solidFill>
                  <a:srgbClr val="222222"/>
                </a:solidFill>
                <a:latin typeface="Meiryo" pitchFamily="34" charset="0"/>
                <a:ea typeface="Meiryo" pitchFamily="34" charset="-122"/>
                <a:cs typeface="Meiryo" pitchFamily="34" charset="-120"/>
              </a:rPr>
              <a:t>要確認</a:t>
            </a:r>
            <a:endParaRPr lang="en-US" sz="1050" dirty="0"/>
          </a:p>
          <a:p>
            <a:pPr marL="0" indent="0">
              <a:lnSpc>
                <a:spcPct val="103000"/>
              </a:lnSpc>
              <a:spcAft>
                <a:spcPts val="500"/>
              </a:spcAft>
              <a:buNone/>
            </a:pP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療育プログラムの特徴：</a:t>
            </a:r>
            <a:r>
              <a:rPr lang="en-US" sz="1100" dirty="0">
                <a:solidFill>
                  <a:srgbClr val="222222"/>
                </a:solidFill>
                <a:latin typeface="Meiryo" pitchFamily="34" charset="0"/>
                <a:ea typeface="Meiryo" pitchFamily="34" charset="-122"/>
                <a:cs typeface="Meiryo" pitchFamily="34" charset="-120"/>
              </a:rPr>
              <a:t>発達段階に合わせた支援と、楽しく取り組める運動療育を組み合わせて提供。</a:t>
            </a:r>
            <a:endParaRPr lang="en-US" sz="1050" dirty="0"/>
          </a:p>
          <a:p>
            <a:pPr marL="0" indent="0">
              <a:lnSpc>
                <a:spcPct val="103000"/>
              </a:lnSpc>
              <a:spcAft>
                <a:spcPts val="500"/>
              </a:spcAft>
              <a:buNone/>
            </a:pPr>
            <a:r>
              <a:rPr lang="en-US" sz="1100" dirty="0">
                <a:solidFill>
                  <a:srgbClr val="222222"/>
                </a:solidFill>
                <a:latin typeface="Meiryo" pitchFamily="34" charset="0"/>
                <a:ea typeface="Meiryo" pitchFamily="34" charset="-122"/>
                <a:cs typeface="Meiryo" pitchFamily="34" charset="-120"/>
              </a:rPr>
              <a:t>・脳の活性化につながる「柳沢運動プログラム」を取り入れ、毎日の活動を構成。</a:t>
            </a:r>
            <a:endParaRPr lang="en-US" sz="1050" dirty="0"/>
          </a:p>
          <a:p>
            <a:pPr marL="0" indent="0">
              <a:lnSpc>
                <a:spcPct val="103000"/>
              </a:lnSpc>
              <a:spcAft>
                <a:spcPts val="500"/>
              </a:spcAft>
              <a:buNone/>
            </a:pPr>
            <a:r>
              <a:rPr lang="en-US" sz="1100" dirty="0">
                <a:solidFill>
                  <a:srgbClr val="222222"/>
                </a:solidFill>
                <a:latin typeface="Meiryo" pitchFamily="34" charset="0"/>
                <a:ea typeface="Meiryo" pitchFamily="34" charset="-122"/>
                <a:cs typeface="Meiryo" pitchFamily="34" charset="-120"/>
              </a:rPr>
              <a:t>・学習と運動あそびのバランスを取りながら、子どもの「できた！」を積み重ねることを重視。</a:t>
            </a:r>
            <a:endParaRPr lang="en-US" sz="1050" dirty="0"/>
          </a:p>
          <a:p>
            <a:pPr marL="0" indent="0">
              <a:lnSpc>
                <a:spcPct val="103000"/>
              </a:lnSpc>
              <a:spcAft>
                <a:spcPts val="500"/>
              </a:spcAft>
              <a:buNone/>
            </a:pPr>
            <a:r>
              <a:rPr lang="en-US" sz="1100" dirty="0">
                <a:solidFill>
                  <a:srgbClr val="222222"/>
                </a:solidFill>
                <a:latin typeface="Meiryo" pitchFamily="34" charset="0"/>
                <a:ea typeface="Meiryo" pitchFamily="34" charset="-122"/>
                <a:cs typeface="Meiryo" pitchFamily="34" charset="-120"/>
              </a:rPr>
              <a:t>・地域密着型の教室として、家庭と連携しながら安心して通える場所づくりを掲げる。</a:t>
            </a:r>
            <a:endParaRPr lang="en-US" sz="1050" dirty="0"/>
          </a:p>
        </p:txBody>
      </p:sp>
      <p:sp>
        <p:nvSpPr>
          <p:cNvPr id="14" name="Shape 12"/>
          <p:cNvSpPr/>
          <p:nvPr/>
        </p:nvSpPr>
        <p:spPr>
          <a:xfrm>
            <a:off x="7635240" y="1783080"/>
            <a:ext cx="4069080" cy="3474720"/>
          </a:xfrm>
          <a:prstGeom prst="rect">
            <a:avLst/>
          </a:prstGeom>
          <a:solidFill>
            <a:srgbClr val="EEF2F8"/>
          </a:solidFill>
          <a:ln w="12700">
            <a:solidFill>
              <a:srgbClr val="9AA7B8"/>
            </a:solidFill>
            <a:prstDash val="solid"/>
          </a:ln>
        </p:spPr>
      </p:sp>
      <p:sp>
        <p:nvSpPr>
          <p:cNvPr id="15" name="Text 13"/>
          <p:cNvSpPr/>
          <p:nvPr/>
        </p:nvSpPr>
        <p:spPr>
          <a:xfrm>
            <a:off x="7818120" y="1901952"/>
            <a:ext cx="37033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注目ポイント</a:t>
            </a:r>
            <a:endParaRPr lang="en-US" sz="1250" dirty="0"/>
          </a:p>
        </p:txBody>
      </p:sp>
      <p:sp>
        <p:nvSpPr>
          <p:cNvPr id="16" name="Text 14"/>
          <p:cNvSpPr/>
          <p:nvPr/>
        </p:nvSpPr>
        <p:spPr>
          <a:xfrm>
            <a:off x="7818120" y="2286000"/>
            <a:ext cx="3703320" cy="2907791"/>
          </a:xfrm>
          <a:prstGeom prst="rect">
            <a:avLst/>
          </a:prstGeom>
          <a:noFill/>
          <a:ln/>
        </p:spPr>
        <p:txBody>
          <a:bodyPr wrap="square" lIns="0" tIns="0" rIns="0" bIns="0" rtlCol="0" anchor="t"/>
          <a:lstStyle/>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③と同一法人・同一プログラムの2拠点目。田間エリア（市役所・ふれあいセンター側）をカバーし市内を面で展開。</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公立の簡易マザーズホーム（田間3-9-1）と同一エリアにあり、公立からの移行導線が近い。</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第1教室が「運動主軸」なのに対し「学習と運動のバランス」を明示し、法人内でも訴求を微差別化。</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田間エリアは公立・民間が近接する激戦区。差別化には時間帯と送迎範囲の設計が鍵となる。</a:t>
            </a:r>
            <a:endParaRPr lang="en-US" sz="1000" dirty="0">
              <a:latin typeface="メイリオ" panose="020B0604030504040204" pitchFamily="50" charset="-128"/>
              <a:ea typeface="メイリオ" panose="020B0604030504040204" pitchFamily="50" charset="-128"/>
            </a:endParaRPr>
          </a:p>
        </p:txBody>
      </p:sp>
      <p:sp>
        <p:nvSpPr>
          <p:cNvPr id="940" name="FootBG"/>
          <p:cNvSpPr/>
          <p:nvPr/>
        </p:nvSpPr>
        <p:spPr>
          <a:xfrm>
            <a:off x="502920" y="5394960"/>
            <a:ext cx="11201400" cy="896112"/>
          </a:xfrm>
          <a:prstGeom prst="rect">
            <a:avLst/>
          </a:prstGeom>
          <a:solidFill>
            <a:srgbClr val="EEF2F8"/>
          </a:solidFill>
          <a:ln w="12700">
            <a:solidFill>
              <a:srgbClr val="9AA7B8"/>
            </a:solidFill>
            <a:prstDash val="solid"/>
          </a:ln>
        </p:spPr>
      </p:sp>
      <p:sp>
        <p:nvSpPr>
          <p:cNvPr id="941" name="FootTitle"/>
          <p:cNvSpPr/>
          <p:nvPr/>
        </p:nvSpPr>
        <p:spPr>
          <a:xfrm>
            <a:off x="713232" y="5477256"/>
            <a:ext cx="10789920" cy="27432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出典 ／ 要確認事項</a:t>
            </a:r>
            <a:endParaRPr lang="en-US" sz="1250" dirty="0"/>
          </a:p>
        </p:txBody>
      </p:sp>
      <p:sp>
        <p:nvSpPr>
          <p:cNvPr id="13" name="FootBody"/>
          <p:cNvSpPr/>
          <p:nvPr/>
        </p:nvSpPr>
        <p:spPr>
          <a:xfrm>
            <a:off x="713232" y="5779008"/>
            <a:ext cx="10789920" cy="475488"/>
          </a:xfrm>
          <a:prstGeom prst="rect">
            <a:avLst/>
          </a:prstGeom>
          <a:noFill/>
          <a:ln/>
        </p:spPr>
        <p:txBody>
          <a:bodyPr wrap="square" lIns="0" tIns="0" rIns="0" bIns="0" rtlCol="0" anchor="t"/>
          <a:lstStyle/>
          <a:p>
            <a:pPr marL="0" indent="0">
              <a:lnSpc>
                <a:spcPct val="103000"/>
              </a:lnSpc>
              <a:buNone/>
            </a:pPr>
            <a:r>
              <a:rPr lang="en-US" sz="950" b="1" dirty="0">
                <a:solidFill>
                  <a:srgbClr val="2E6BB8"/>
                </a:solidFill>
                <a:latin typeface="Meiryo" pitchFamily="34" charset="0"/>
                <a:ea typeface="Meiryo" pitchFamily="34" charset="-122"/>
                <a:cs typeface="Meiryo" pitchFamily="34" charset="-120"/>
              </a:rPr>
              <a:t>▶</a:t>
            </a:r>
            <a:r>
              <a:rPr lang="en-US" sz="950" b="1" dirty="0">
                <a:solidFill>
                  <a:srgbClr val="222222"/>
                </a:solidFill>
                <a:latin typeface="Meiryo" pitchFamily="34" charset="0"/>
                <a:ea typeface="Meiryo" pitchFamily="34" charset="-122"/>
                <a:cs typeface="Meiryo" pitchFamily="34" charset="-120"/>
              </a:rPr>
              <a:t>出典：</a:t>
            </a:r>
            <a:r>
              <a:rPr lang="en-US" sz="950" dirty="0">
                <a:solidFill>
                  <a:srgbClr val="222222"/>
                </a:solidFill>
                <a:latin typeface="Meiryo" pitchFamily="34" charset="0"/>
                <a:ea typeface="Meiryo" pitchFamily="34" charset="-122"/>
                <a:cs typeface="Meiryo" pitchFamily="34" charset="-120"/>
              </a:rPr>
              <a:t>公式HP kp-daini-tougane.com／株式会社ベストグロウ公式（bestgrow-chiba.com）</a:t>
            </a:r>
            <a:endParaRPr lang="en-US" sz="1050" dirty="0"/>
          </a:p>
          <a:p>
            <a:pPr marL="0" indent="0">
              <a:lnSpc>
                <a:spcPct val="103000"/>
              </a:lnSpc>
              <a:buNone/>
            </a:pPr>
            <a:r>
              <a:rPr lang="en-US" sz="950" b="1" dirty="0">
                <a:solidFill>
                  <a:srgbClr val="2E6BB8"/>
                </a:solidFill>
                <a:latin typeface="Meiryo" pitchFamily="34" charset="0"/>
                <a:ea typeface="Meiryo" pitchFamily="34" charset="-122"/>
                <a:cs typeface="Meiryo" pitchFamily="34" charset="-120"/>
              </a:rPr>
              <a:t>▶</a:t>
            </a:r>
            <a:r>
              <a:rPr lang="en-US" sz="950" b="1" dirty="0">
                <a:solidFill>
                  <a:srgbClr val="222222"/>
                </a:solidFill>
                <a:latin typeface="Meiryo" pitchFamily="34" charset="0"/>
                <a:ea typeface="Meiryo" pitchFamily="34" charset="-122"/>
                <a:cs typeface="Meiryo" pitchFamily="34" charset="-120"/>
              </a:rPr>
              <a:t>要確認事項：</a:t>
            </a:r>
            <a:r>
              <a:rPr lang="en-US" sz="950" dirty="0">
                <a:solidFill>
                  <a:srgbClr val="222222"/>
                </a:solidFill>
                <a:latin typeface="Meiryo" pitchFamily="34" charset="0"/>
                <a:ea typeface="Meiryo" pitchFamily="34" charset="-122"/>
                <a:cs typeface="Meiryo" pitchFamily="34" charset="-120"/>
              </a:rPr>
              <a:t>電話番号、サービス提供時間、定員、送迎範囲、第1教室との役割分担</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II．　事業所別 詳細</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en-US" sz="2100" b="1" dirty="0">
                <a:solidFill>
                  <a:srgbClr val="222222"/>
                </a:solidFill>
                <a:latin typeface="Meiryo" pitchFamily="34" charset="0"/>
                <a:ea typeface="Meiryo" pitchFamily="34" charset="-122"/>
                <a:cs typeface="Meiryo" pitchFamily="34" charset="-120"/>
              </a:rPr>
              <a:t>⑤ 基本塾優遊 日吉台</a:t>
            </a:r>
            <a:endParaRPr lang="en-US" sz="2100" dirty="0"/>
          </a:p>
        </p:txBody>
      </p:sp>
      <p:sp>
        <p:nvSpPr>
          <p:cNvPr id="6" name="Shape 4"/>
          <p:cNvSpPr/>
          <p:nvPr/>
        </p:nvSpPr>
        <p:spPr>
          <a:xfrm>
            <a:off x="10104120" y="1170432"/>
            <a:ext cx="1600200" cy="457200"/>
          </a:xfrm>
          <a:prstGeom prst="rect">
            <a:avLst/>
          </a:prstGeom>
          <a:solidFill>
            <a:srgbClr val="FFFFFF"/>
          </a:solidFill>
          <a:ln w="15875">
            <a:solidFill>
              <a:srgbClr val="1B3A6B"/>
            </a:solidFill>
            <a:prstDash val="solid"/>
          </a:ln>
        </p:spPr>
      </p:sp>
      <p:sp>
        <p:nvSpPr>
          <p:cNvPr id="7" name="Text 5"/>
          <p:cNvSpPr/>
          <p:nvPr/>
        </p:nvSpPr>
        <p:spPr>
          <a:xfrm>
            <a:off x="10104120" y="1170432"/>
            <a:ext cx="1600200" cy="457200"/>
          </a:xfrm>
          <a:prstGeom prst="rect">
            <a:avLst/>
          </a:prstGeom>
          <a:noFill/>
          <a:ln/>
        </p:spPr>
        <p:txBody>
          <a:bodyPr wrap="square" lIns="0" tIns="0" rIns="0" bIns="0" rtlCol="0" anchor="ctr"/>
          <a:lstStyle/>
          <a:p>
            <a:pPr marL="0" indent="0" algn="ctr">
              <a:buNone/>
            </a:pPr>
            <a:r>
              <a:rPr lang="en-US" sz="1400" b="1" dirty="0">
                <a:solidFill>
                  <a:srgbClr val="1B3A6B"/>
                </a:solidFill>
                <a:latin typeface="Meiryo" pitchFamily="34" charset="0"/>
                <a:ea typeface="Meiryo" pitchFamily="34" charset="-122"/>
                <a:cs typeface="Meiryo" pitchFamily="34" charset="-120"/>
              </a:rPr>
              <a:t>東金市</a:t>
            </a:r>
            <a:endParaRPr lang="en-US" sz="1400" dirty="0"/>
          </a:p>
        </p:txBody>
      </p:sp>
      <p:sp>
        <p:nvSpPr>
          <p:cNvPr id="8" name="Text 6"/>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sp>
        <p:nvSpPr>
          <p:cNvPr id="9" name="Shape 7"/>
          <p:cNvSpPr/>
          <p:nvPr/>
        </p:nvSpPr>
        <p:spPr>
          <a:xfrm>
            <a:off x="502920" y="1783080"/>
            <a:ext cx="6903720" cy="3474720"/>
          </a:xfrm>
          <a:prstGeom prst="rect">
            <a:avLst/>
          </a:prstGeom>
          <a:solidFill>
            <a:srgbClr val="FFFFFF"/>
          </a:solidFill>
          <a:ln w="12700">
            <a:solidFill>
              <a:srgbClr val="9AA7B8"/>
            </a:solidFill>
            <a:prstDash val="solid"/>
          </a:ln>
          <a:effectLst>
            <a:outerShdw blurRad="63500" dist="25400" dir="8100000" algn="bl" rotWithShape="0">
              <a:srgbClr val="000000">
                <a:alpha val="12000"/>
              </a:srgbClr>
            </a:outerShdw>
          </a:effectLst>
        </p:spPr>
      </p:sp>
      <p:sp>
        <p:nvSpPr>
          <p:cNvPr id="10" name="Text 8"/>
          <p:cNvSpPr/>
          <p:nvPr/>
        </p:nvSpPr>
        <p:spPr>
          <a:xfrm>
            <a:off x="704088" y="1911096"/>
            <a:ext cx="6501384" cy="384048"/>
          </a:xfrm>
          <a:prstGeom prst="rect">
            <a:avLst/>
          </a:prstGeom>
          <a:noFill/>
          <a:ln/>
        </p:spPr>
        <p:txBody>
          <a:bodyPr wrap="square" lIns="0" tIns="0" rIns="0" bIns="0" rtlCol="0" anchor="ctr"/>
          <a:lstStyle/>
          <a:p>
            <a:pPr marL="0" indent="0">
              <a:buNone/>
            </a:pPr>
            <a:r>
              <a:rPr lang="en-US" sz="1400" b="1" dirty="0">
                <a:solidFill>
                  <a:srgbClr val="1B3A6B"/>
                </a:solidFill>
                <a:latin typeface="Meiryo" pitchFamily="34" charset="0"/>
                <a:ea typeface="Meiryo" pitchFamily="34" charset="-122"/>
                <a:cs typeface="Meiryo" pitchFamily="34" charset="-120"/>
              </a:rPr>
              <a:t>基本塾優遊 日吉台（運営：特定非営利活動法人 基本塾）</a:t>
            </a:r>
            <a:endParaRPr lang="en-US" sz="1400" dirty="0"/>
          </a:p>
        </p:txBody>
      </p:sp>
      <p:sp>
        <p:nvSpPr>
          <p:cNvPr id="11" name="Text 9"/>
          <p:cNvSpPr/>
          <p:nvPr/>
        </p:nvSpPr>
        <p:spPr>
          <a:xfrm>
            <a:off x="704088" y="2331720"/>
            <a:ext cx="6501384" cy="2852927"/>
          </a:xfrm>
          <a:prstGeom prst="rect">
            <a:avLst/>
          </a:prstGeom>
          <a:noFill/>
          <a:ln/>
        </p:spPr>
        <p:txBody>
          <a:bodyPr wrap="square" lIns="0" tIns="0" rIns="0" bIns="0" rtlCol="0" anchor="t"/>
          <a:lstStyle/>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対象：</a:t>
            </a:r>
            <a:r>
              <a:rPr lang="en-US" sz="1100" dirty="0">
                <a:solidFill>
                  <a:srgbClr val="222222"/>
                </a:solidFill>
                <a:latin typeface="Meiryo" pitchFamily="34" charset="0"/>
                <a:ea typeface="Meiryo" pitchFamily="34" charset="-122"/>
                <a:cs typeface="Meiryo" pitchFamily="34" charset="-120"/>
              </a:rPr>
              <a:t>未就学児（児童発達支援）／就学児（放課後等デイサービス）</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住所：</a:t>
            </a:r>
            <a:r>
              <a:rPr lang="en-US" sz="1100" dirty="0">
                <a:solidFill>
                  <a:srgbClr val="222222"/>
                </a:solidFill>
                <a:latin typeface="Meiryo" pitchFamily="34" charset="0"/>
                <a:ea typeface="Meiryo" pitchFamily="34" charset="-122"/>
                <a:cs typeface="Meiryo" pitchFamily="34" charset="-120"/>
              </a:rPr>
              <a:t>千葉県東金市日吉台2-26-3</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TEL／HP：</a:t>
            </a:r>
            <a:r>
              <a:rPr lang="en-US" sz="1100" dirty="0">
                <a:solidFill>
                  <a:srgbClr val="222222"/>
                </a:solidFill>
                <a:latin typeface="Meiryo" pitchFamily="34" charset="0"/>
                <a:ea typeface="Meiryo" pitchFamily="34" charset="-122"/>
                <a:cs typeface="Meiryo" pitchFamily="34" charset="-120"/>
              </a:rPr>
              <a:t>0475-52-6414 ／ kihonjuku-yuuyuu.com（info@kihonjuku-yuuyuu.com）</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サービス提供時間：</a:t>
            </a:r>
            <a:r>
              <a:rPr lang="en-US" sz="1100" dirty="0">
                <a:solidFill>
                  <a:srgbClr val="222222"/>
                </a:solidFill>
                <a:latin typeface="Meiryo" pitchFamily="34" charset="0"/>
                <a:ea typeface="Meiryo" pitchFamily="34" charset="-122"/>
                <a:cs typeface="Meiryo" pitchFamily="34" charset="-120"/>
              </a:rPr>
              <a:t>9:00〜18:00（グループ共通の目安）／日曜・祝日・年末年始休</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定員：</a:t>
            </a:r>
            <a:r>
              <a:rPr lang="en-US" sz="1100" dirty="0">
                <a:solidFill>
                  <a:srgbClr val="222222"/>
                </a:solidFill>
                <a:latin typeface="Meiryo" pitchFamily="34" charset="0"/>
                <a:ea typeface="Meiryo" pitchFamily="34" charset="-122"/>
                <a:cs typeface="Meiryo" pitchFamily="34" charset="-120"/>
              </a:rPr>
              <a:t>要確認</a:t>
            </a:r>
            <a:endParaRPr lang="en-US" sz="1050" dirty="0"/>
          </a:p>
          <a:p>
            <a:pPr marL="0" indent="0">
              <a:lnSpc>
                <a:spcPct val="103000"/>
              </a:lnSpc>
              <a:spcAft>
                <a:spcPts val="500"/>
              </a:spcAft>
              <a:buNone/>
            </a:pP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療育プログラムの特徴：</a:t>
            </a:r>
            <a:r>
              <a:rPr lang="en-US" sz="1100" dirty="0">
                <a:solidFill>
                  <a:srgbClr val="222222"/>
                </a:solidFill>
                <a:latin typeface="Meiryo" pitchFamily="34" charset="0"/>
                <a:ea typeface="Meiryo" pitchFamily="34" charset="-122"/>
                <a:cs typeface="Meiryo" pitchFamily="34" charset="-120"/>
              </a:rPr>
              <a:t>園庭を備え、リトミック・体操・英語教育など多様なプログラムを提供。</a:t>
            </a:r>
            <a:endParaRPr lang="en-US" sz="1050" dirty="0"/>
          </a:p>
          <a:p>
            <a:pPr marL="0" indent="0">
              <a:lnSpc>
                <a:spcPct val="103000"/>
              </a:lnSpc>
              <a:spcAft>
                <a:spcPts val="500"/>
              </a:spcAft>
              <a:buNone/>
            </a:pPr>
            <a:r>
              <a:rPr lang="en-US" sz="1100" dirty="0">
                <a:solidFill>
                  <a:srgbClr val="222222"/>
                </a:solidFill>
                <a:latin typeface="Meiryo" pitchFamily="34" charset="0"/>
                <a:ea typeface="Meiryo" pitchFamily="34" charset="-122"/>
                <a:cs typeface="Meiryo" pitchFamily="34" charset="-120"/>
              </a:rPr>
              <a:t>・在籍：児童発達支援管理責任者、小学校校長経験者、幼稚園園長経験者、特別支援教育士、</a:t>
            </a:r>
            <a:endParaRPr lang="en-US" sz="1050" dirty="0"/>
          </a:p>
          <a:p>
            <a:pPr marL="0" indent="0">
              <a:lnSpc>
                <a:spcPct val="103000"/>
              </a:lnSpc>
              <a:spcAft>
                <a:spcPts val="500"/>
              </a:spcAft>
              <a:buNone/>
            </a:pPr>
            <a:r>
              <a:rPr lang="en-US" sz="1100" dirty="0">
                <a:solidFill>
                  <a:srgbClr val="222222"/>
                </a:solidFill>
                <a:latin typeface="Meiryo" pitchFamily="34" charset="0"/>
                <a:ea typeface="Meiryo" pitchFamily="34" charset="-122"/>
                <a:cs typeface="Meiryo" pitchFamily="34" charset="-120"/>
              </a:rPr>
              <a:t xml:space="preserve">　教育カウンセラー、心理検査士、言語聴覚士 ほか。</a:t>
            </a:r>
            <a:endParaRPr lang="en-US" sz="1050" dirty="0"/>
          </a:p>
          <a:p>
            <a:pPr marL="0" indent="0">
              <a:lnSpc>
                <a:spcPct val="103000"/>
              </a:lnSpc>
              <a:spcAft>
                <a:spcPts val="500"/>
              </a:spcAft>
              <a:buNone/>
            </a:pPr>
            <a:r>
              <a:rPr lang="en-US" sz="1100" dirty="0">
                <a:solidFill>
                  <a:srgbClr val="222222"/>
                </a:solidFill>
                <a:latin typeface="Meiryo" pitchFamily="34" charset="0"/>
                <a:ea typeface="Meiryo" pitchFamily="34" charset="-122"/>
                <a:cs typeface="Meiryo" pitchFamily="34" charset="-120"/>
              </a:rPr>
              <a:t>・障がい児とその家族に対し、地域生活を行ううえで必要な支援を提供することを運営方針とする。</a:t>
            </a:r>
            <a:endParaRPr lang="en-US" sz="1050" dirty="0"/>
          </a:p>
        </p:txBody>
      </p:sp>
      <p:sp>
        <p:nvSpPr>
          <p:cNvPr id="14" name="Shape 12"/>
          <p:cNvSpPr/>
          <p:nvPr/>
        </p:nvSpPr>
        <p:spPr>
          <a:xfrm>
            <a:off x="7635240" y="1783080"/>
            <a:ext cx="4069080" cy="3474720"/>
          </a:xfrm>
          <a:prstGeom prst="rect">
            <a:avLst/>
          </a:prstGeom>
          <a:solidFill>
            <a:srgbClr val="EEF2F8"/>
          </a:solidFill>
          <a:ln w="12700">
            <a:solidFill>
              <a:srgbClr val="9AA7B8"/>
            </a:solidFill>
            <a:prstDash val="solid"/>
          </a:ln>
        </p:spPr>
      </p:sp>
      <p:sp>
        <p:nvSpPr>
          <p:cNvPr id="15" name="Text 13"/>
          <p:cNvSpPr/>
          <p:nvPr/>
        </p:nvSpPr>
        <p:spPr>
          <a:xfrm>
            <a:off x="7818120" y="1901952"/>
            <a:ext cx="37033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注目ポイント</a:t>
            </a:r>
            <a:endParaRPr lang="en-US" sz="1250" dirty="0"/>
          </a:p>
        </p:txBody>
      </p:sp>
      <p:sp>
        <p:nvSpPr>
          <p:cNvPr id="16" name="Text 14"/>
          <p:cNvSpPr/>
          <p:nvPr/>
        </p:nvSpPr>
        <p:spPr>
          <a:xfrm>
            <a:off x="7818120" y="2286000"/>
            <a:ext cx="3703320" cy="2907791"/>
          </a:xfrm>
          <a:prstGeom prst="rect">
            <a:avLst/>
          </a:prstGeom>
          <a:noFill/>
          <a:ln/>
        </p:spPr>
        <p:txBody>
          <a:bodyPr wrap="square" lIns="0" tIns="0" rIns="0" bIns="0" rtlCol="0" anchor="t"/>
          <a:lstStyle/>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市内5拠点を展開する最大手NPO「基本塾」の中核拠点。教育畑の専門人材の厚みが最大の差別化要素。</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園庭を保有し屋外活動が可能。テナント型の民間事業所にはない環境資源を持つ。</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言語聴覚士・心理検査士の在籍により、アセスメントから個別支援計画までの質を訴求できる体制。</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多職種体制はコスト構造上も参入障壁が高く、人材採用力が最大の競合要因となる。</a:t>
            </a:r>
            <a:endParaRPr lang="en-US" sz="1000" dirty="0">
              <a:latin typeface="メイリオ" panose="020B0604030504040204" pitchFamily="50" charset="-128"/>
              <a:ea typeface="メイリオ" panose="020B0604030504040204" pitchFamily="50" charset="-128"/>
            </a:endParaRPr>
          </a:p>
        </p:txBody>
      </p:sp>
      <p:sp>
        <p:nvSpPr>
          <p:cNvPr id="940" name="FootBG"/>
          <p:cNvSpPr/>
          <p:nvPr/>
        </p:nvSpPr>
        <p:spPr>
          <a:xfrm>
            <a:off x="502920" y="5394960"/>
            <a:ext cx="11201400" cy="896112"/>
          </a:xfrm>
          <a:prstGeom prst="rect">
            <a:avLst/>
          </a:prstGeom>
          <a:solidFill>
            <a:srgbClr val="EEF2F8"/>
          </a:solidFill>
          <a:ln w="12700">
            <a:solidFill>
              <a:srgbClr val="9AA7B8"/>
            </a:solidFill>
            <a:prstDash val="solid"/>
          </a:ln>
        </p:spPr>
      </p:sp>
      <p:sp>
        <p:nvSpPr>
          <p:cNvPr id="941" name="FootTitle"/>
          <p:cNvSpPr/>
          <p:nvPr/>
        </p:nvSpPr>
        <p:spPr>
          <a:xfrm>
            <a:off x="713232" y="5477256"/>
            <a:ext cx="10789920" cy="27432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出典 ／ 要確認事項</a:t>
            </a:r>
            <a:endParaRPr lang="en-US" sz="1250" dirty="0"/>
          </a:p>
        </p:txBody>
      </p:sp>
      <p:sp>
        <p:nvSpPr>
          <p:cNvPr id="13" name="FootBody"/>
          <p:cNvSpPr/>
          <p:nvPr/>
        </p:nvSpPr>
        <p:spPr>
          <a:xfrm>
            <a:off x="713232" y="5779008"/>
            <a:ext cx="10789920" cy="475488"/>
          </a:xfrm>
          <a:prstGeom prst="rect">
            <a:avLst/>
          </a:prstGeom>
          <a:noFill/>
          <a:ln/>
        </p:spPr>
        <p:txBody>
          <a:bodyPr wrap="square" lIns="0" tIns="0" rIns="0" bIns="0" rtlCol="0" anchor="t"/>
          <a:lstStyle/>
          <a:p>
            <a:pPr marL="0" indent="0">
              <a:lnSpc>
                <a:spcPct val="103000"/>
              </a:lnSpc>
              <a:buNone/>
            </a:pPr>
            <a:r>
              <a:rPr lang="en-US" sz="950" b="1" dirty="0">
                <a:solidFill>
                  <a:srgbClr val="2E6BB8"/>
                </a:solidFill>
                <a:latin typeface="Meiryo" pitchFamily="34" charset="0"/>
                <a:ea typeface="Meiryo" pitchFamily="34" charset="-122"/>
                <a:cs typeface="Meiryo" pitchFamily="34" charset="-120"/>
              </a:rPr>
              <a:t>▶</a:t>
            </a:r>
            <a:r>
              <a:rPr lang="en-US" sz="950" b="1" dirty="0">
                <a:solidFill>
                  <a:srgbClr val="222222"/>
                </a:solidFill>
                <a:latin typeface="Meiryo" pitchFamily="34" charset="0"/>
                <a:ea typeface="Meiryo" pitchFamily="34" charset="-122"/>
                <a:cs typeface="Meiryo" pitchFamily="34" charset="-120"/>
              </a:rPr>
              <a:t>出典：</a:t>
            </a:r>
            <a:r>
              <a:rPr lang="en-US" sz="950" dirty="0">
                <a:solidFill>
                  <a:srgbClr val="222222"/>
                </a:solidFill>
                <a:latin typeface="Meiryo" pitchFamily="34" charset="0"/>
                <a:ea typeface="Meiryo" pitchFamily="34" charset="-122"/>
                <a:cs typeface="Meiryo" pitchFamily="34" charset="-120"/>
              </a:rPr>
              <a:t>公式HP kihonjuku-yuuyuu.com／ホイシル／児発ねっと／ADDS kikotto施設検索</a:t>
            </a:r>
            <a:endParaRPr lang="en-US" sz="1050" dirty="0"/>
          </a:p>
          <a:p>
            <a:pPr marL="0" indent="0">
              <a:lnSpc>
                <a:spcPct val="103000"/>
              </a:lnSpc>
              <a:buNone/>
            </a:pPr>
            <a:r>
              <a:rPr lang="en-US" sz="950" b="1" dirty="0">
                <a:solidFill>
                  <a:srgbClr val="2E6BB8"/>
                </a:solidFill>
                <a:latin typeface="Meiryo" pitchFamily="34" charset="0"/>
                <a:ea typeface="Meiryo" pitchFamily="34" charset="-122"/>
                <a:cs typeface="Meiryo" pitchFamily="34" charset="-120"/>
              </a:rPr>
              <a:t>▶</a:t>
            </a:r>
            <a:r>
              <a:rPr lang="en-US" sz="950" b="1" dirty="0">
                <a:solidFill>
                  <a:srgbClr val="222222"/>
                </a:solidFill>
                <a:latin typeface="Meiryo" pitchFamily="34" charset="0"/>
                <a:ea typeface="Meiryo" pitchFamily="34" charset="-122"/>
                <a:cs typeface="Meiryo" pitchFamily="34" charset="-120"/>
              </a:rPr>
              <a:t>要確認事項：</a:t>
            </a:r>
            <a:r>
              <a:rPr lang="en-US" sz="950" dirty="0">
                <a:solidFill>
                  <a:srgbClr val="222222"/>
                </a:solidFill>
                <a:latin typeface="Meiryo" pitchFamily="34" charset="0"/>
                <a:ea typeface="Meiryo" pitchFamily="34" charset="-122"/>
                <a:cs typeface="Meiryo" pitchFamily="34" charset="-120"/>
              </a:rPr>
              <a:t>定員、送迎の有無、児発と放デイの時間帯区分、専門職の常勤／非常勤の別</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II．　事業所別 詳細</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en-US" sz="2100" b="1" dirty="0">
                <a:solidFill>
                  <a:srgbClr val="222222"/>
                </a:solidFill>
                <a:latin typeface="Meiryo" pitchFamily="34" charset="0"/>
                <a:ea typeface="Meiryo" pitchFamily="34" charset="-122"/>
                <a:cs typeface="Meiryo" pitchFamily="34" charset="-120"/>
              </a:rPr>
              <a:t>⑥ 基本塾優遊 松之郷</a:t>
            </a:r>
            <a:endParaRPr lang="en-US" sz="2100" dirty="0"/>
          </a:p>
        </p:txBody>
      </p:sp>
      <p:sp>
        <p:nvSpPr>
          <p:cNvPr id="6" name="Shape 4"/>
          <p:cNvSpPr/>
          <p:nvPr/>
        </p:nvSpPr>
        <p:spPr>
          <a:xfrm>
            <a:off x="10104120" y="1170432"/>
            <a:ext cx="1600200" cy="457200"/>
          </a:xfrm>
          <a:prstGeom prst="rect">
            <a:avLst/>
          </a:prstGeom>
          <a:solidFill>
            <a:srgbClr val="FFFFFF"/>
          </a:solidFill>
          <a:ln w="15875">
            <a:solidFill>
              <a:srgbClr val="1B3A6B"/>
            </a:solidFill>
            <a:prstDash val="solid"/>
          </a:ln>
        </p:spPr>
      </p:sp>
      <p:sp>
        <p:nvSpPr>
          <p:cNvPr id="7" name="Text 5"/>
          <p:cNvSpPr/>
          <p:nvPr/>
        </p:nvSpPr>
        <p:spPr>
          <a:xfrm>
            <a:off x="10104120" y="1170432"/>
            <a:ext cx="1600200" cy="457200"/>
          </a:xfrm>
          <a:prstGeom prst="rect">
            <a:avLst/>
          </a:prstGeom>
          <a:noFill/>
          <a:ln/>
        </p:spPr>
        <p:txBody>
          <a:bodyPr wrap="square" lIns="0" tIns="0" rIns="0" bIns="0" rtlCol="0" anchor="ctr"/>
          <a:lstStyle/>
          <a:p>
            <a:pPr marL="0" indent="0" algn="ctr">
              <a:buNone/>
            </a:pPr>
            <a:r>
              <a:rPr lang="en-US" sz="1400" b="1" dirty="0">
                <a:solidFill>
                  <a:srgbClr val="1B3A6B"/>
                </a:solidFill>
                <a:latin typeface="Meiryo" pitchFamily="34" charset="0"/>
                <a:ea typeface="Meiryo" pitchFamily="34" charset="-122"/>
                <a:cs typeface="Meiryo" pitchFamily="34" charset="-120"/>
              </a:rPr>
              <a:t>東金市</a:t>
            </a:r>
            <a:endParaRPr lang="en-US" sz="1400" dirty="0"/>
          </a:p>
        </p:txBody>
      </p:sp>
      <p:sp>
        <p:nvSpPr>
          <p:cNvPr id="8" name="Text 6"/>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sp>
        <p:nvSpPr>
          <p:cNvPr id="9" name="Shape 7"/>
          <p:cNvSpPr/>
          <p:nvPr/>
        </p:nvSpPr>
        <p:spPr>
          <a:xfrm>
            <a:off x="502920" y="1783080"/>
            <a:ext cx="6903720" cy="3474720"/>
          </a:xfrm>
          <a:prstGeom prst="rect">
            <a:avLst/>
          </a:prstGeom>
          <a:solidFill>
            <a:srgbClr val="FFFFFF"/>
          </a:solidFill>
          <a:ln w="12700">
            <a:solidFill>
              <a:srgbClr val="9AA7B8"/>
            </a:solidFill>
            <a:prstDash val="solid"/>
          </a:ln>
          <a:effectLst>
            <a:outerShdw blurRad="63500" dist="25400" dir="8100000" algn="bl" rotWithShape="0">
              <a:srgbClr val="000000">
                <a:alpha val="12000"/>
              </a:srgbClr>
            </a:outerShdw>
          </a:effectLst>
        </p:spPr>
      </p:sp>
      <p:sp>
        <p:nvSpPr>
          <p:cNvPr id="10" name="Text 8"/>
          <p:cNvSpPr/>
          <p:nvPr/>
        </p:nvSpPr>
        <p:spPr>
          <a:xfrm>
            <a:off x="704088" y="1911096"/>
            <a:ext cx="6501384" cy="384048"/>
          </a:xfrm>
          <a:prstGeom prst="rect">
            <a:avLst/>
          </a:prstGeom>
          <a:noFill/>
          <a:ln/>
        </p:spPr>
        <p:txBody>
          <a:bodyPr wrap="square" lIns="0" tIns="0" rIns="0" bIns="0" rtlCol="0" anchor="ctr"/>
          <a:lstStyle/>
          <a:p>
            <a:pPr marL="0" indent="0">
              <a:buNone/>
            </a:pPr>
            <a:r>
              <a:rPr lang="en-US" sz="1400" b="1" dirty="0">
                <a:solidFill>
                  <a:srgbClr val="1B3A6B"/>
                </a:solidFill>
                <a:latin typeface="Meiryo" pitchFamily="34" charset="0"/>
                <a:ea typeface="Meiryo" pitchFamily="34" charset="-122"/>
                <a:cs typeface="Meiryo" pitchFamily="34" charset="-120"/>
              </a:rPr>
              <a:t>基本塾優遊 松之郷（運営：特定非営利活動法人 基本塾）</a:t>
            </a:r>
            <a:endParaRPr lang="en-US" sz="1400" dirty="0"/>
          </a:p>
        </p:txBody>
      </p:sp>
      <p:sp>
        <p:nvSpPr>
          <p:cNvPr id="11" name="Text 9"/>
          <p:cNvSpPr/>
          <p:nvPr/>
        </p:nvSpPr>
        <p:spPr>
          <a:xfrm>
            <a:off x="704088" y="2331720"/>
            <a:ext cx="6501384" cy="2852927"/>
          </a:xfrm>
          <a:prstGeom prst="rect">
            <a:avLst/>
          </a:prstGeom>
          <a:noFill/>
          <a:ln/>
        </p:spPr>
        <p:txBody>
          <a:bodyPr wrap="square" lIns="0" tIns="0" rIns="0" bIns="0" rtlCol="0" anchor="t"/>
          <a:lstStyle/>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対象：</a:t>
            </a:r>
            <a:r>
              <a:rPr lang="en-US" sz="1100" dirty="0">
                <a:solidFill>
                  <a:srgbClr val="222222"/>
                </a:solidFill>
                <a:latin typeface="Meiryo" pitchFamily="34" charset="0"/>
                <a:ea typeface="Meiryo" pitchFamily="34" charset="-122"/>
                <a:cs typeface="Meiryo" pitchFamily="34" charset="-120"/>
              </a:rPr>
              <a:t>未就学児〜就学児／身体障がい・知的障がい・精神障がい・難病</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住所：</a:t>
            </a:r>
            <a:r>
              <a:rPr lang="en-US" sz="1100" dirty="0">
                <a:solidFill>
                  <a:srgbClr val="222222"/>
                </a:solidFill>
                <a:latin typeface="Meiryo" pitchFamily="34" charset="0"/>
                <a:ea typeface="Meiryo" pitchFamily="34" charset="-122"/>
                <a:cs typeface="Meiryo" pitchFamily="34" charset="-120"/>
              </a:rPr>
              <a:t>千葉県東金市松之郷2423-1（〒283-0805／JR東金線 東金駅から徒歩約19分）</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TEL／HP：</a:t>
            </a:r>
            <a:r>
              <a:rPr lang="en-US" sz="1100" dirty="0">
                <a:solidFill>
                  <a:srgbClr val="222222"/>
                </a:solidFill>
                <a:latin typeface="Meiryo" pitchFamily="34" charset="0"/>
                <a:ea typeface="Meiryo" pitchFamily="34" charset="-122"/>
                <a:cs typeface="Meiryo" pitchFamily="34" charset="-120"/>
              </a:rPr>
              <a:t>0475-51-4082 ／ kihonjuku-yuuyuu.com</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サービス提供時間：</a:t>
            </a:r>
            <a:r>
              <a:rPr lang="en-US" sz="1100" dirty="0">
                <a:solidFill>
                  <a:srgbClr val="222222"/>
                </a:solidFill>
                <a:latin typeface="Meiryo" pitchFamily="34" charset="0"/>
                <a:ea typeface="Meiryo" pitchFamily="34" charset="-122"/>
                <a:cs typeface="Meiryo" pitchFamily="34" charset="-120"/>
              </a:rPr>
              <a:t>9:00〜18:00（目安）／定休：日曜・祝日・年末年始</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定員／送迎：</a:t>
            </a:r>
            <a:r>
              <a:rPr lang="en-US" sz="1100" dirty="0">
                <a:solidFill>
                  <a:srgbClr val="222222"/>
                </a:solidFill>
                <a:latin typeface="Meiryo" pitchFamily="34" charset="0"/>
                <a:ea typeface="Meiryo" pitchFamily="34" charset="-122"/>
                <a:cs typeface="Meiryo" pitchFamily="34" charset="-120"/>
              </a:rPr>
              <a:t>児童発達支援 10名 ／ 送迎あり（要相談）</a:t>
            </a:r>
            <a:endParaRPr lang="en-US" sz="1050" dirty="0"/>
          </a:p>
          <a:p>
            <a:pPr marL="0" indent="0">
              <a:lnSpc>
                <a:spcPct val="103000"/>
              </a:lnSpc>
              <a:spcAft>
                <a:spcPts val="500"/>
              </a:spcAft>
              <a:buNone/>
            </a:pP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療育プログラムの特徴：</a:t>
            </a:r>
            <a:r>
              <a:rPr lang="en-US" sz="1100" dirty="0">
                <a:solidFill>
                  <a:srgbClr val="222222"/>
                </a:solidFill>
                <a:latin typeface="Meiryo" pitchFamily="34" charset="0"/>
                <a:ea typeface="Meiryo" pitchFamily="34" charset="-122"/>
                <a:cs typeface="Meiryo" pitchFamily="34" charset="-120"/>
              </a:rPr>
              <a:t>一人ひとりのニーズに応じた個別支援プログラムを編成。</a:t>
            </a:r>
            <a:endParaRPr lang="en-US" sz="1050" dirty="0"/>
          </a:p>
          <a:p>
            <a:pPr marL="0" indent="0">
              <a:lnSpc>
                <a:spcPct val="103000"/>
              </a:lnSpc>
              <a:spcAft>
                <a:spcPts val="500"/>
              </a:spcAft>
              <a:buNone/>
            </a:pPr>
            <a:r>
              <a:rPr lang="en-US" sz="1100" dirty="0">
                <a:solidFill>
                  <a:srgbClr val="222222"/>
                </a:solidFill>
                <a:latin typeface="Meiryo" pitchFamily="34" charset="0"/>
                <a:ea typeface="Meiryo" pitchFamily="34" charset="-122"/>
                <a:cs typeface="Meiryo" pitchFamily="34" charset="-120"/>
              </a:rPr>
              <a:t>・「10の活動」を通じ、アートセラピー・運動・社会性を育むグループ活動をバランスよく実施。</a:t>
            </a:r>
            <a:endParaRPr lang="en-US" sz="1050" dirty="0"/>
          </a:p>
          <a:p>
            <a:pPr marL="0" indent="0">
              <a:lnSpc>
                <a:spcPct val="103000"/>
              </a:lnSpc>
              <a:spcAft>
                <a:spcPts val="500"/>
              </a:spcAft>
              <a:buNone/>
            </a:pPr>
            <a:r>
              <a:rPr lang="en-US" sz="1100" dirty="0">
                <a:solidFill>
                  <a:srgbClr val="222222"/>
                </a:solidFill>
                <a:latin typeface="Meiryo" pitchFamily="34" charset="0"/>
                <a:ea typeface="Meiryo" pitchFamily="34" charset="-122"/>
                <a:cs typeface="Meiryo" pitchFamily="34" charset="-120"/>
              </a:rPr>
              <a:t>・少人数の環境を活かし、個別対応と集団活動を組み合わせて提供。</a:t>
            </a:r>
            <a:endParaRPr lang="en-US" sz="1050" dirty="0"/>
          </a:p>
        </p:txBody>
      </p:sp>
      <p:sp>
        <p:nvSpPr>
          <p:cNvPr id="14" name="Shape 12"/>
          <p:cNvSpPr/>
          <p:nvPr/>
        </p:nvSpPr>
        <p:spPr>
          <a:xfrm>
            <a:off x="7635240" y="1783080"/>
            <a:ext cx="4069080" cy="3474720"/>
          </a:xfrm>
          <a:prstGeom prst="rect">
            <a:avLst/>
          </a:prstGeom>
          <a:solidFill>
            <a:srgbClr val="EEF2F8"/>
          </a:solidFill>
          <a:ln w="12700">
            <a:solidFill>
              <a:srgbClr val="9AA7B8"/>
            </a:solidFill>
            <a:prstDash val="solid"/>
          </a:ln>
        </p:spPr>
      </p:sp>
      <p:sp>
        <p:nvSpPr>
          <p:cNvPr id="15" name="Text 13"/>
          <p:cNvSpPr/>
          <p:nvPr/>
        </p:nvSpPr>
        <p:spPr>
          <a:xfrm>
            <a:off x="7818120" y="1901952"/>
            <a:ext cx="37033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注目ポイント</a:t>
            </a:r>
            <a:endParaRPr lang="en-US" sz="1250" dirty="0"/>
          </a:p>
        </p:txBody>
      </p:sp>
      <p:sp>
        <p:nvSpPr>
          <p:cNvPr id="16" name="Text 14"/>
          <p:cNvSpPr/>
          <p:nvPr/>
        </p:nvSpPr>
        <p:spPr>
          <a:xfrm>
            <a:off x="7818120" y="2286000"/>
            <a:ext cx="3703320" cy="2907791"/>
          </a:xfrm>
          <a:prstGeom prst="rect">
            <a:avLst/>
          </a:prstGeom>
          <a:noFill/>
          <a:ln/>
        </p:spPr>
        <p:txBody>
          <a:bodyPr wrap="square" lIns="0" tIns="0" rIns="0" bIns="0" rtlCol="0" anchor="t"/>
          <a:lstStyle/>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定員10名の小規模・個別重視型。グループ内では「個別支援＋アートセラピー」が特徴。</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駅から徒歩約19分と距離があり、送迎（要相談）の可否が利用のハードルになりやすい。</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対象を身体・知的・精神・難病まで広く取り、受け入れ幅が広い。</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立地の弱さを送迎で補う構造。送迎圏が重なる事業所とは直接競合になりやすい。</a:t>
            </a:r>
            <a:endParaRPr lang="en-US" sz="1000" dirty="0">
              <a:latin typeface="メイリオ" panose="020B0604030504040204" pitchFamily="50" charset="-128"/>
              <a:ea typeface="メイリオ" panose="020B0604030504040204" pitchFamily="50" charset="-128"/>
            </a:endParaRPr>
          </a:p>
        </p:txBody>
      </p:sp>
      <p:sp>
        <p:nvSpPr>
          <p:cNvPr id="940" name="FootBG"/>
          <p:cNvSpPr/>
          <p:nvPr/>
        </p:nvSpPr>
        <p:spPr>
          <a:xfrm>
            <a:off x="502920" y="5394960"/>
            <a:ext cx="11201400" cy="896112"/>
          </a:xfrm>
          <a:prstGeom prst="rect">
            <a:avLst/>
          </a:prstGeom>
          <a:solidFill>
            <a:srgbClr val="EEF2F8"/>
          </a:solidFill>
          <a:ln w="12700">
            <a:solidFill>
              <a:srgbClr val="9AA7B8"/>
            </a:solidFill>
            <a:prstDash val="solid"/>
          </a:ln>
        </p:spPr>
      </p:sp>
      <p:sp>
        <p:nvSpPr>
          <p:cNvPr id="941" name="FootTitle"/>
          <p:cNvSpPr/>
          <p:nvPr/>
        </p:nvSpPr>
        <p:spPr>
          <a:xfrm>
            <a:off x="713232" y="5477256"/>
            <a:ext cx="10789920" cy="27432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出典 ／ 要確認事項</a:t>
            </a:r>
            <a:endParaRPr lang="en-US" sz="1250" dirty="0"/>
          </a:p>
        </p:txBody>
      </p:sp>
      <p:sp>
        <p:nvSpPr>
          <p:cNvPr id="13" name="FootBody"/>
          <p:cNvSpPr/>
          <p:nvPr/>
        </p:nvSpPr>
        <p:spPr>
          <a:xfrm>
            <a:off x="713232" y="5779008"/>
            <a:ext cx="10789920" cy="475488"/>
          </a:xfrm>
          <a:prstGeom prst="rect">
            <a:avLst/>
          </a:prstGeom>
          <a:noFill/>
          <a:ln/>
        </p:spPr>
        <p:txBody>
          <a:bodyPr wrap="square" lIns="0" tIns="0" rIns="0" bIns="0" rtlCol="0" anchor="t"/>
          <a:lstStyle/>
          <a:p>
            <a:pPr marL="0" indent="0">
              <a:lnSpc>
                <a:spcPct val="103000"/>
              </a:lnSpc>
              <a:buNone/>
            </a:pPr>
            <a:r>
              <a:rPr lang="en-US" sz="950" b="1" dirty="0">
                <a:solidFill>
                  <a:srgbClr val="2E6BB8"/>
                </a:solidFill>
                <a:latin typeface="Meiryo" pitchFamily="34" charset="0"/>
                <a:ea typeface="Meiryo" pitchFamily="34" charset="-122"/>
                <a:cs typeface="Meiryo" pitchFamily="34" charset="-120"/>
              </a:rPr>
              <a:t>▶</a:t>
            </a:r>
            <a:r>
              <a:rPr lang="en-US" sz="950" b="1" dirty="0">
                <a:solidFill>
                  <a:srgbClr val="222222"/>
                </a:solidFill>
                <a:latin typeface="Meiryo" pitchFamily="34" charset="0"/>
                <a:ea typeface="Meiryo" pitchFamily="34" charset="-122"/>
                <a:cs typeface="Meiryo" pitchFamily="34" charset="-120"/>
              </a:rPr>
              <a:t>出典：</a:t>
            </a:r>
            <a:r>
              <a:rPr lang="en-US" sz="950" dirty="0">
                <a:solidFill>
                  <a:srgbClr val="222222"/>
                </a:solidFill>
                <a:latin typeface="Meiryo" pitchFamily="34" charset="0"/>
                <a:ea typeface="Meiryo" pitchFamily="34" charset="-122"/>
                <a:cs typeface="Meiryo" pitchFamily="34" charset="-120"/>
              </a:rPr>
              <a:t>公式HP kihonjuku-yuuyuu.com／LITALICO発達ナビ／イクデン／ホイシル</a:t>
            </a:r>
            <a:endParaRPr lang="en-US" sz="1050" dirty="0"/>
          </a:p>
          <a:p>
            <a:pPr marL="0" indent="0">
              <a:lnSpc>
                <a:spcPct val="103000"/>
              </a:lnSpc>
              <a:buNone/>
            </a:pPr>
            <a:r>
              <a:rPr lang="en-US" sz="950" b="1" dirty="0">
                <a:solidFill>
                  <a:srgbClr val="2E6BB8"/>
                </a:solidFill>
                <a:latin typeface="Meiryo" pitchFamily="34" charset="0"/>
                <a:ea typeface="Meiryo" pitchFamily="34" charset="-122"/>
                <a:cs typeface="Meiryo" pitchFamily="34" charset="-120"/>
              </a:rPr>
              <a:t>▶</a:t>
            </a:r>
            <a:r>
              <a:rPr lang="en-US" sz="950" b="1" dirty="0">
                <a:solidFill>
                  <a:srgbClr val="222222"/>
                </a:solidFill>
                <a:latin typeface="Meiryo" pitchFamily="34" charset="0"/>
                <a:ea typeface="Meiryo" pitchFamily="34" charset="-122"/>
                <a:cs typeface="Meiryo" pitchFamily="34" charset="-120"/>
              </a:rPr>
              <a:t>要確認事項：</a:t>
            </a:r>
            <a:r>
              <a:rPr lang="en-US" sz="950" dirty="0">
                <a:solidFill>
                  <a:srgbClr val="222222"/>
                </a:solidFill>
                <a:latin typeface="Meiryo" pitchFamily="34" charset="0"/>
                <a:ea typeface="Meiryo" pitchFamily="34" charset="-122"/>
                <a:cs typeface="Meiryo" pitchFamily="34" charset="-120"/>
              </a:rPr>
              <a:t>放課後等デイサービス側の定員、送迎範囲、土曜・長期休暇の開所有無</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II．　事業所別 詳細</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en-US" sz="2100" b="1" dirty="0">
                <a:solidFill>
                  <a:srgbClr val="222222"/>
                </a:solidFill>
                <a:latin typeface="Meiryo" pitchFamily="34" charset="0"/>
                <a:ea typeface="Meiryo" pitchFamily="34" charset="-122"/>
                <a:cs typeface="Meiryo" pitchFamily="34" charset="-120"/>
              </a:rPr>
              <a:t>⑦ 基本塾優遊 八坂台</a:t>
            </a:r>
            <a:endParaRPr lang="en-US" sz="2100" dirty="0"/>
          </a:p>
        </p:txBody>
      </p:sp>
      <p:sp>
        <p:nvSpPr>
          <p:cNvPr id="6" name="Shape 4"/>
          <p:cNvSpPr/>
          <p:nvPr/>
        </p:nvSpPr>
        <p:spPr>
          <a:xfrm>
            <a:off x="10104120" y="1170432"/>
            <a:ext cx="1600200" cy="457200"/>
          </a:xfrm>
          <a:prstGeom prst="rect">
            <a:avLst/>
          </a:prstGeom>
          <a:solidFill>
            <a:srgbClr val="FFFFFF"/>
          </a:solidFill>
          <a:ln w="15875">
            <a:solidFill>
              <a:srgbClr val="1B3A6B"/>
            </a:solidFill>
            <a:prstDash val="solid"/>
          </a:ln>
        </p:spPr>
      </p:sp>
      <p:sp>
        <p:nvSpPr>
          <p:cNvPr id="7" name="Text 5"/>
          <p:cNvSpPr/>
          <p:nvPr/>
        </p:nvSpPr>
        <p:spPr>
          <a:xfrm>
            <a:off x="10104120" y="1170432"/>
            <a:ext cx="1600200" cy="457200"/>
          </a:xfrm>
          <a:prstGeom prst="rect">
            <a:avLst/>
          </a:prstGeom>
          <a:noFill/>
          <a:ln/>
        </p:spPr>
        <p:txBody>
          <a:bodyPr wrap="square" lIns="0" tIns="0" rIns="0" bIns="0" rtlCol="0" anchor="ctr"/>
          <a:lstStyle/>
          <a:p>
            <a:pPr marL="0" indent="0" algn="ctr">
              <a:buNone/>
            </a:pPr>
            <a:r>
              <a:rPr lang="en-US" sz="1400" b="1" dirty="0">
                <a:solidFill>
                  <a:srgbClr val="1B3A6B"/>
                </a:solidFill>
                <a:latin typeface="Meiryo" pitchFamily="34" charset="0"/>
                <a:ea typeface="Meiryo" pitchFamily="34" charset="-122"/>
                <a:cs typeface="Meiryo" pitchFamily="34" charset="-120"/>
              </a:rPr>
              <a:t>東金市</a:t>
            </a:r>
            <a:endParaRPr lang="en-US" sz="1400" dirty="0"/>
          </a:p>
        </p:txBody>
      </p:sp>
      <p:sp>
        <p:nvSpPr>
          <p:cNvPr id="8" name="Text 6"/>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sp>
        <p:nvSpPr>
          <p:cNvPr id="9" name="Shape 7"/>
          <p:cNvSpPr/>
          <p:nvPr/>
        </p:nvSpPr>
        <p:spPr>
          <a:xfrm>
            <a:off x="502920" y="1783080"/>
            <a:ext cx="6903720" cy="3474720"/>
          </a:xfrm>
          <a:prstGeom prst="rect">
            <a:avLst/>
          </a:prstGeom>
          <a:solidFill>
            <a:srgbClr val="FFFFFF"/>
          </a:solidFill>
          <a:ln w="12700">
            <a:solidFill>
              <a:srgbClr val="9AA7B8"/>
            </a:solidFill>
            <a:prstDash val="solid"/>
          </a:ln>
          <a:effectLst>
            <a:outerShdw blurRad="63500" dist="25400" dir="8100000" algn="bl" rotWithShape="0">
              <a:srgbClr val="000000">
                <a:alpha val="12000"/>
              </a:srgbClr>
            </a:outerShdw>
          </a:effectLst>
        </p:spPr>
      </p:sp>
      <p:sp>
        <p:nvSpPr>
          <p:cNvPr id="10" name="Text 8"/>
          <p:cNvSpPr/>
          <p:nvPr/>
        </p:nvSpPr>
        <p:spPr>
          <a:xfrm>
            <a:off x="704088" y="1911096"/>
            <a:ext cx="6501384" cy="384048"/>
          </a:xfrm>
          <a:prstGeom prst="rect">
            <a:avLst/>
          </a:prstGeom>
          <a:noFill/>
          <a:ln/>
        </p:spPr>
        <p:txBody>
          <a:bodyPr wrap="square" lIns="0" tIns="0" rIns="0" bIns="0" rtlCol="0" anchor="ctr"/>
          <a:lstStyle/>
          <a:p>
            <a:pPr marL="0" indent="0">
              <a:buNone/>
            </a:pPr>
            <a:r>
              <a:rPr lang="en-US" sz="1400" b="1" dirty="0">
                <a:solidFill>
                  <a:srgbClr val="1B3A6B"/>
                </a:solidFill>
                <a:latin typeface="Meiryo" pitchFamily="34" charset="0"/>
                <a:ea typeface="Meiryo" pitchFamily="34" charset="-122"/>
                <a:cs typeface="Meiryo" pitchFamily="34" charset="-120"/>
              </a:rPr>
              <a:t>基本塾優遊 八坂台（運営：特定非営利活動法人 基本塾）</a:t>
            </a:r>
            <a:endParaRPr lang="en-US" sz="1400" dirty="0"/>
          </a:p>
        </p:txBody>
      </p:sp>
      <p:sp>
        <p:nvSpPr>
          <p:cNvPr id="11" name="Text 9"/>
          <p:cNvSpPr/>
          <p:nvPr/>
        </p:nvSpPr>
        <p:spPr>
          <a:xfrm>
            <a:off x="704088" y="2331720"/>
            <a:ext cx="6501384" cy="2852927"/>
          </a:xfrm>
          <a:prstGeom prst="rect">
            <a:avLst/>
          </a:prstGeom>
          <a:noFill/>
          <a:ln/>
        </p:spPr>
        <p:txBody>
          <a:bodyPr wrap="square" lIns="0" tIns="0" rIns="0" bIns="0" rtlCol="0" anchor="t"/>
          <a:lstStyle/>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対象：</a:t>
            </a:r>
            <a:r>
              <a:rPr lang="en-US" sz="1100" dirty="0">
                <a:solidFill>
                  <a:srgbClr val="222222"/>
                </a:solidFill>
                <a:latin typeface="Meiryo" pitchFamily="34" charset="0"/>
                <a:ea typeface="Meiryo" pitchFamily="34" charset="-122"/>
                <a:cs typeface="Meiryo" pitchFamily="34" charset="-120"/>
              </a:rPr>
              <a:t>小学生、および翌年度に小学生になる児童（就学移行期）を中心に募集</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住所：</a:t>
            </a:r>
            <a:r>
              <a:rPr lang="en-US" sz="1100" dirty="0">
                <a:solidFill>
                  <a:srgbClr val="222222"/>
                </a:solidFill>
                <a:latin typeface="Meiryo" pitchFamily="34" charset="0"/>
                <a:ea typeface="Meiryo" pitchFamily="34" charset="-122"/>
                <a:cs typeface="Meiryo" pitchFamily="34" charset="-120"/>
              </a:rPr>
              <a:t>千葉県東金市八坂台5-11-1</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TEL／HP：</a:t>
            </a:r>
            <a:r>
              <a:rPr lang="en-US" sz="1100" dirty="0">
                <a:solidFill>
                  <a:srgbClr val="222222"/>
                </a:solidFill>
                <a:latin typeface="Meiryo" pitchFamily="34" charset="0"/>
                <a:ea typeface="Meiryo" pitchFamily="34" charset="-122"/>
                <a:cs typeface="Meiryo" pitchFamily="34" charset="-120"/>
              </a:rPr>
              <a:t>0475-51-5010 ／ kihonjuku-yuuyuu.com</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サービス提供時間：</a:t>
            </a:r>
            <a:r>
              <a:rPr lang="en-US" sz="1100" dirty="0">
                <a:solidFill>
                  <a:srgbClr val="222222"/>
                </a:solidFill>
                <a:latin typeface="Meiryo" pitchFamily="34" charset="0"/>
                <a:ea typeface="Meiryo" pitchFamily="34" charset="-122"/>
                <a:cs typeface="Meiryo" pitchFamily="34" charset="-120"/>
              </a:rPr>
              <a:t>9:00〜18:00 ／ 定休：土曜・日曜・祝日・年末年始</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定員／職員：</a:t>
            </a:r>
            <a:r>
              <a:rPr lang="en-US" sz="1100" dirty="0">
                <a:solidFill>
                  <a:srgbClr val="222222"/>
                </a:solidFill>
                <a:latin typeface="Meiryo" pitchFamily="34" charset="0"/>
                <a:ea typeface="Meiryo" pitchFamily="34" charset="-122"/>
                <a:cs typeface="Meiryo" pitchFamily="34" charset="-120"/>
              </a:rPr>
              <a:t>10名 ／ 児童発達支援管理責任者1名・児童指導員4名・保育士4名（計9名）</a:t>
            </a:r>
            <a:endParaRPr lang="en-US" sz="1050" dirty="0"/>
          </a:p>
          <a:p>
            <a:pPr marL="0" indent="0">
              <a:lnSpc>
                <a:spcPct val="103000"/>
              </a:lnSpc>
              <a:spcAft>
                <a:spcPts val="500"/>
              </a:spcAft>
              <a:buNone/>
            </a:pP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療育プログラムの特徴：</a:t>
            </a:r>
            <a:r>
              <a:rPr lang="en-US" sz="1100" dirty="0">
                <a:solidFill>
                  <a:srgbClr val="222222"/>
                </a:solidFill>
                <a:latin typeface="Meiryo" pitchFamily="34" charset="0"/>
                <a:ea typeface="Meiryo" pitchFamily="34" charset="-122"/>
                <a:cs typeface="Meiryo" pitchFamily="34" charset="-120"/>
              </a:rPr>
              <a:t>少人数での活動・制作を基本に、地域と連携したイベントを実施。</a:t>
            </a:r>
            <a:endParaRPr lang="en-US" sz="1050" dirty="0"/>
          </a:p>
          <a:p>
            <a:pPr marL="0" indent="0">
              <a:lnSpc>
                <a:spcPct val="103000"/>
              </a:lnSpc>
              <a:spcAft>
                <a:spcPts val="500"/>
              </a:spcAft>
              <a:buNone/>
            </a:pPr>
            <a:r>
              <a:rPr lang="en-US" sz="1100" dirty="0">
                <a:solidFill>
                  <a:srgbClr val="222222"/>
                </a:solidFill>
                <a:latin typeface="Meiryo" pitchFamily="34" charset="0"/>
                <a:ea typeface="Meiryo" pitchFamily="34" charset="-122"/>
                <a:cs typeface="Meiryo" pitchFamily="34" charset="-120"/>
              </a:rPr>
              <a:t>・元サッカー選手による「サッカー療育」を導入。</a:t>
            </a:r>
            <a:endParaRPr lang="en-US" sz="1050" dirty="0"/>
          </a:p>
          <a:p>
            <a:pPr marL="0" indent="0">
              <a:lnSpc>
                <a:spcPct val="103000"/>
              </a:lnSpc>
              <a:spcAft>
                <a:spcPts val="500"/>
              </a:spcAft>
              <a:buNone/>
            </a:pPr>
            <a:r>
              <a:rPr lang="en-US" sz="1100" dirty="0">
                <a:solidFill>
                  <a:srgbClr val="222222"/>
                </a:solidFill>
                <a:latin typeface="Meiryo" pitchFamily="34" charset="0"/>
                <a:ea typeface="Meiryo" pitchFamily="34" charset="-122"/>
                <a:cs typeface="Meiryo" pitchFamily="34" charset="-120"/>
              </a:rPr>
              <a:t>・子どもの「やりたい！」「できた！」を大切にする支援方針を掲げる。</a:t>
            </a:r>
            <a:endParaRPr lang="en-US" sz="1050" dirty="0"/>
          </a:p>
        </p:txBody>
      </p:sp>
      <p:sp>
        <p:nvSpPr>
          <p:cNvPr id="14" name="Shape 12"/>
          <p:cNvSpPr/>
          <p:nvPr/>
        </p:nvSpPr>
        <p:spPr>
          <a:xfrm>
            <a:off x="7635240" y="1783080"/>
            <a:ext cx="4069080" cy="3474720"/>
          </a:xfrm>
          <a:prstGeom prst="rect">
            <a:avLst/>
          </a:prstGeom>
          <a:solidFill>
            <a:srgbClr val="EEF2F8"/>
          </a:solidFill>
          <a:ln w="12700">
            <a:solidFill>
              <a:srgbClr val="9AA7B8"/>
            </a:solidFill>
            <a:prstDash val="solid"/>
          </a:ln>
        </p:spPr>
      </p:sp>
      <p:sp>
        <p:nvSpPr>
          <p:cNvPr id="15" name="Text 13"/>
          <p:cNvSpPr/>
          <p:nvPr/>
        </p:nvSpPr>
        <p:spPr>
          <a:xfrm>
            <a:off x="7818120" y="1901952"/>
            <a:ext cx="37033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注目ポイント</a:t>
            </a:r>
            <a:endParaRPr lang="en-US" sz="1250" dirty="0"/>
          </a:p>
        </p:txBody>
      </p:sp>
      <p:sp>
        <p:nvSpPr>
          <p:cNvPr id="16" name="Text 14"/>
          <p:cNvSpPr/>
          <p:nvPr/>
        </p:nvSpPr>
        <p:spPr>
          <a:xfrm>
            <a:off x="7818120" y="2286000"/>
            <a:ext cx="3703320" cy="2907791"/>
          </a:xfrm>
          <a:prstGeom prst="rect">
            <a:avLst/>
          </a:prstGeom>
          <a:noFill/>
          <a:ln/>
        </p:spPr>
        <p:txBody>
          <a:bodyPr wrap="square" lIns="0" tIns="0" rIns="0" bIns="0" rtlCol="0" anchor="t"/>
          <a:lstStyle/>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職員9名に対し定員10名と、市内でも手厚い人員配置。</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「サッカー療育」という他事業所にない明確なフック。就学移行期（年長〜小学生）に的を絞った募集。</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土曜が定休のため、土曜・長期休暇のニーズは他事業所へ流れる構造。</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土曜・長期休暇の受け皿が手薄なため、そこを埋める事業所には需要が回りやすい。</a:t>
            </a:r>
            <a:endParaRPr lang="en-US" sz="1000" dirty="0">
              <a:latin typeface="メイリオ" panose="020B0604030504040204" pitchFamily="50" charset="-128"/>
              <a:ea typeface="メイリオ" panose="020B0604030504040204" pitchFamily="50" charset="-128"/>
            </a:endParaRPr>
          </a:p>
        </p:txBody>
      </p:sp>
      <p:sp>
        <p:nvSpPr>
          <p:cNvPr id="940" name="FootBG"/>
          <p:cNvSpPr/>
          <p:nvPr/>
        </p:nvSpPr>
        <p:spPr>
          <a:xfrm>
            <a:off x="502920" y="5394960"/>
            <a:ext cx="11201400" cy="896112"/>
          </a:xfrm>
          <a:prstGeom prst="rect">
            <a:avLst/>
          </a:prstGeom>
          <a:solidFill>
            <a:srgbClr val="EEF2F8"/>
          </a:solidFill>
          <a:ln w="12700">
            <a:solidFill>
              <a:srgbClr val="9AA7B8"/>
            </a:solidFill>
            <a:prstDash val="solid"/>
          </a:ln>
        </p:spPr>
      </p:sp>
      <p:sp>
        <p:nvSpPr>
          <p:cNvPr id="941" name="FootTitle"/>
          <p:cNvSpPr/>
          <p:nvPr/>
        </p:nvSpPr>
        <p:spPr>
          <a:xfrm>
            <a:off x="713232" y="5477256"/>
            <a:ext cx="10789920" cy="27432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出典 ／ 要確認事項</a:t>
            </a:r>
            <a:endParaRPr lang="en-US" sz="1250" dirty="0"/>
          </a:p>
        </p:txBody>
      </p:sp>
      <p:sp>
        <p:nvSpPr>
          <p:cNvPr id="13" name="FootBody"/>
          <p:cNvSpPr/>
          <p:nvPr/>
        </p:nvSpPr>
        <p:spPr>
          <a:xfrm>
            <a:off x="713232" y="5779008"/>
            <a:ext cx="10789920" cy="475488"/>
          </a:xfrm>
          <a:prstGeom prst="rect">
            <a:avLst/>
          </a:prstGeom>
          <a:noFill/>
          <a:ln/>
        </p:spPr>
        <p:txBody>
          <a:bodyPr wrap="square" lIns="0" tIns="0" rIns="0" bIns="0" rtlCol="0" anchor="t"/>
          <a:lstStyle/>
          <a:p>
            <a:pPr marL="0" indent="0">
              <a:lnSpc>
                <a:spcPct val="103000"/>
              </a:lnSpc>
              <a:buNone/>
            </a:pPr>
            <a:r>
              <a:rPr lang="en-US" sz="950" b="1" dirty="0">
                <a:solidFill>
                  <a:srgbClr val="2E6BB8"/>
                </a:solidFill>
                <a:latin typeface="Meiryo" pitchFamily="34" charset="0"/>
                <a:ea typeface="Meiryo" pitchFamily="34" charset="-122"/>
                <a:cs typeface="Meiryo" pitchFamily="34" charset="-120"/>
              </a:rPr>
              <a:t>▶</a:t>
            </a:r>
            <a:r>
              <a:rPr lang="en-US" sz="950" b="1" dirty="0">
                <a:solidFill>
                  <a:srgbClr val="222222"/>
                </a:solidFill>
                <a:latin typeface="Meiryo" pitchFamily="34" charset="0"/>
                <a:ea typeface="Meiryo" pitchFamily="34" charset="-122"/>
                <a:cs typeface="Meiryo" pitchFamily="34" charset="-120"/>
              </a:rPr>
              <a:t>出典：</a:t>
            </a:r>
            <a:r>
              <a:rPr lang="en-US" sz="950" dirty="0">
                <a:solidFill>
                  <a:srgbClr val="222222"/>
                </a:solidFill>
                <a:latin typeface="Meiryo" pitchFamily="34" charset="0"/>
                <a:ea typeface="Meiryo" pitchFamily="34" charset="-122"/>
                <a:cs typeface="Meiryo" pitchFamily="34" charset="-120"/>
              </a:rPr>
              <a:t>公式HP kihonjuku-yuuyuu.com／LITALICO発達ナビ</a:t>
            </a:r>
            <a:endParaRPr lang="en-US" sz="1050" dirty="0"/>
          </a:p>
          <a:p>
            <a:pPr marL="0" indent="0">
              <a:lnSpc>
                <a:spcPct val="103000"/>
              </a:lnSpc>
              <a:buNone/>
            </a:pPr>
            <a:r>
              <a:rPr lang="en-US" sz="950" b="1" dirty="0">
                <a:solidFill>
                  <a:srgbClr val="2E6BB8"/>
                </a:solidFill>
                <a:latin typeface="Meiryo" pitchFamily="34" charset="0"/>
                <a:ea typeface="Meiryo" pitchFamily="34" charset="-122"/>
                <a:cs typeface="Meiryo" pitchFamily="34" charset="-120"/>
              </a:rPr>
              <a:t>▶</a:t>
            </a:r>
            <a:r>
              <a:rPr lang="en-US" sz="950" b="1" dirty="0">
                <a:solidFill>
                  <a:srgbClr val="222222"/>
                </a:solidFill>
                <a:latin typeface="Meiryo" pitchFamily="34" charset="0"/>
                <a:ea typeface="Meiryo" pitchFamily="34" charset="-122"/>
                <a:cs typeface="Meiryo" pitchFamily="34" charset="-120"/>
              </a:rPr>
              <a:t>要確認事項：</a:t>
            </a:r>
            <a:r>
              <a:rPr lang="en-US" sz="950" dirty="0">
                <a:solidFill>
                  <a:srgbClr val="222222"/>
                </a:solidFill>
                <a:latin typeface="Meiryo" pitchFamily="34" charset="0"/>
                <a:ea typeface="Meiryo" pitchFamily="34" charset="-122"/>
                <a:cs typeface="Meiryo" pitchFamily="34" charset="-120"/>
              </a:rPr>
              <a:t>児童発達支援の受け入れ年齢（未就学の下限）、長期休暇中の開所時間、送迎の有無</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II．　事業所別 詳細</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en-US" sz="2100" b="1" dirty="0">
                <a:solidFill>
                  <a:srgbClr val="222222"/>
                </a:solidFill>
                <a:latin typeface="Meiryo" pitchFamily="34" charset="0"/>
                <a:ea typeface="Meiryo" pitchFamily="34" charset="-122"/>
                <a:cs typeface="Meiryo" pitchFamily="34" charset="-120"/>
              </a:rPr>
              <a:t>⑧ 基本塾優遊 八坂西 ／ 八坂中央</a:t>
            </a:r>
            <a:endParaRPr lang="en-US" sz="2100" dirty="0"/>
          </a:p>
        </p:txBody>
      </p:sp>
      <p:sp>
        <p:nvSpPr>
          <p:cNvPr id="6" name="Shape 4"/>
          <p:cNvSpPr/>
          <p:nvPr/>
        </p:nvSpPr>
        <p:spPr>
          <a:xfrm>
            <a:off x="10104120" y="1170432"/>
            <a:ext cx="1600200" cy="457200"/>
          </a:xfrm>
          <a:prstGeom prst="rect">
            <a:avLst/>
          </a:prstGeom>
          <a:solidFill>
            <a:srgbClr val="FFFFFF"/>
          </a:solidFill>
          <a:ln w="15875">
            <a:solidFill>
              <a:srgbClr val="1B3A6B"/>
            </a:solidFill>
            <a:prstDash val="solid"/>
          </a:ln>
        </p:spPr>
      </p:sp>
      <p:sp>
        <p:nvSpPr>
          <p:cNvPr id="7" name="Text 5"/>
          <p:cNvSpPr/>
          <p:nvPr/>
        </p:nvSpPr>
        <p:spPr>
          <a:xfrm>
            <a:off x="10104120" y="1170432"/>
            <a:ext cx="1600200" cy="457200"/>
          </a:xfrm>
          <a:prstGeom prst="rect">
            <a:avLst/>
          </a:prstGeom>
          <a:noFill/>
          <a:ln/>
        </p:spPr>
        <p:txBody>
          <a:bodyPr wrap="square" lIns="0" tIns="0" rIns="0" bIns="0" rtlCol="0" anchor="ctr"/>
          <a:lstStyle/>
          <a:p>
            <a:pPr marL="0" indent="0" algn="ctr">
              <a:buNone/>
            </a:pPr>
            <a:r>
              <a:rPr lang="en-US" sz="1400" b="1" dirty="0">
                <a:solidFill>
                  <a:srgbClr val="1B3A6B"/>
                </a:solidFill>
                <a:latin typeface="Meiryo" pitchFamily="34" charset="0"/>
                <a:ea typeface="Meiryo" pitchFamily="34" charset="-122"/>
                <a:cs typeface="Meiryo" pitchFamily="34" charset="-120"/>
              </a:rPr>
              <a:t>東金市</a:t>
            </a:r>
            <a:endParaRPr lang="en-US" sz="1400" dirty="0"/>
          </a:p>
        </p:txBody>
      </p:sp>
      <p:sp>
        <p:nvSpPr>
          <p:cNvPr id="8" name="Text 6"/>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sp>
        <p:nvSpPr>
          <p:cNvPr id="9" name="Shape 7"/>
          <p:cNvSpPr/>
          <p:nvPr/>
        </p:nvSpPr>
        <p:spPr>
          <a:xfrm>
            <a:off x="502920" y="1783080"/>
            <a:ext cx="6903720" cy="3474720"/>
          </a:xfrm>
          <a:prstGeom prst="rect">
            <a:avLst/>
          </a:prstGeom>
          <a:solidFill>
            <a:srgbClr val="FFFFFF"/>
          </a:solidFill>
          <a:ln w="12700">
            <a:solidFill>
              <a:srgbClr val="9AA7B8"/>
            </a:solidFill>
            <a:prstDash val="solid"/>
          </a:ln>
          <a:effectLst>
            <a:outerShdw blurRad="63500" dist="25400" dir="8100000" algn="bl" rotWithShape="0">
              <a:srgbClr val="000000">
                <a:alpha val="12000"/>
              </a:srgbClr>
            </a:outerShdw>
          </a:effectLst>
        </p:spPr>
      </p:sp>
      <p:sp>
        <p:nvSpPr>
          <p:cNvPr id="10" name="Text 8"/>
          <p:cNvSpPr/>
          <p:nvPr/>
        </p:nvSpPr>
        <p:spPr>
          <a:xfrm>
            <a:off x="704088" y="1911096"/>
            <a:ext cx="6501384" cy="384048"/>
          </a:xfrm>
          <a:prstGeom prst="rect">
            <a:avLst/>
          </a:prstGeom>
          <a:noFill/>
          <a:ln/>
        </p:spPr>
        <p:txBody>
          <a:bodyPr wrap="square" lIns="0" tIns="0" rIns="0" bIns="0" rtlCol="0" anchor="ctr"/>
          <a:lstStyle/>
          <a:p>
            <a:pPr marL="0" indent="0">
              <a:buNone/>
            </a:pPr>
            <a:r>
              <a:rPr lang="en-US" sz="1400" b="1" dirty="0">
                <a:solidFill>
                  <a:srgbClr val="1B3A6B"/>
                </a:solidFill>
                <a:latin typeface="Meiryo" pitchFamily="34" charset="0"/>
                <a:ea typeface="Meiryo" pitchFamily="34" charset="-122"/>
                <a:cs typeface="Meiryo" pitchFamily="34" charset="-120"/>
              </a:rPr>
              <a:t>基本塾優遊 八坂西・八坂中央（運営：特定非営利活動法人 基本塾）</a:t>
            </a:r>
            <a:endParaRPr lang="en-US" sz="1400" dirty="0"/>
          </a:p>
        </p:txBody>
      </p:sp>
      <p:sp>
        <p:nvSpPr>
          <p:cNvPr id="11" name="Text 9"/>
          <p:cNvSpPr/>
          <p:nvPr/>
        </p:nvSpPr>
        <p:spPr>
          <a:xfrm>
            <a:off x="704088" y="2331720"/>
            <a:ext cx="6501384" cy="2852927"/>
          </a:xfrm>
          <a:prstGeom prst="rect">
            <a:avLst/>
          </a:prstGeom>
          <a:noFill/>
          <a:ln/>
        </p:spPr>
        <p:txBody>
          <a:bodyPr wrap="square" lIns="0" tIns="0" rIns="0" bIns="0" rtlCol="0" anchor="t"/>
          <a:lstStyle/>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対象：</a:t>
            </a:r>
            <a:r>
              <a:rPr lang="en-US" sz="1100" dirty="0">
                <a:solidFill>
                  <a:srgbClr val="222222"/>
                </a:solidFill>
                <a:latin typeface="Meiryo" pitchFamily="34" charset="0"/>
                <a:ea typeface="Meiryo" pitchFamily="34" charset="-122"/>
                <a:cs typeface="Meiryo" pitchFamily="34" charset="-120"/>
              </a:rPr>
              <a:t>未就学児（児童発達支援）／就学児（放課後等デイサービス）</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住所：</a:t>
            </a:r>
            <a:r>
              <a:rPr lang="en-US" sz="1100" dirty="0">
                <a:solidFill>
                  <a:srgbClr val="222222"/>
                </a:solidFill>
                <a:latin typeface="Meiryo" pitchFamily="34" charset="0"/>
                <a:ea typeface="Meiryo" pitchFamily="34" charset="-122"/>
                <a:cs typeface="Meiryo" pitchFamily="34" charset="-120"/>
              </a:rPr>
              <a:t>【八坂西】千葉県東金市八坂台4-2-4（〒283-0801）　【八坂中央】東金市八坂台地区（詳細要確認）</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TEL／HP：</a:t>
            </a:r>
            <a:r>
              <a:rPr lang="en-US" sz="1100" dirty="0">
                <a:solidFill>
                  <a:srgbClr val="222222"/>
                </a:solidFill>
                <a:latin typeface="Meiryo" pitchFamily="34" charset="0"/>
                <a:ea typeface="Meiryo" pitchFamily="34" charset="-122"/>
                <a:cs typeface="Meiryo" pitchFamily="34" charset="-120"/>
              </a:rPr>
              <a:t>【八坂西】0475-51-6631 ／ kihonjuku-yuuyuu.com　【八坂中央】要確認</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サービス提供時間：</a:t>
            </a:r>
            <a:r>
              <a:rPr lang="en-US" sz="1100" dirty="0">
                <a:solidFill>
                  <a:srgbClr val="222222"/>
                </a:solidFill>
                <a:latin typeface="Meiryo" pitchFamily="34" charset="0"/>
                <a:ea typeface="Meiryo" pitchFamily="34" charset="-122"/>
                <a:cs typeface="Meiryo" pitchFamily="34" charset="-120"/>
              </a:rPr>
              <a:t>9:00〜18:00（グループ共通の目安）／日曜・祝日・年末年始休</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定員：</a:t>
            </a:r>
            <a:r>
              <a:rPr lang="en-US" sz="1100" dirty="0">
                <a:solidFill>
                  <a:srgbClr val="222222"/>
                </a:solidFill>
                <a:latin typeface="Meiryo" pitchFamily="34" charset="0"/>
                <a:ea typeface="Meiryo" pitchFamily="34" charset="-122"/>
                <a:cs typeface="Meiryo" pitchFamily="34" charset="-120"/>
              </a:rPr>
              <a:t>要確認（グループ他拠点は10名前後）</a:t>
            </a:r>
            <a:endParaRPr lang="en-US" sz="1050" dirty="0"/>
          </a:p>
          <a:p>
            <a:pPr marL="0" indent="0">
              <a:lnSpc>
                <a:spcPct val="103000"/>
              </a:lnSpc>
              <a:spcAft>
                <a:spcPts val="500"/>
              </a:spcAft>
              <a:buNone/>
            </a:pP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療育プログラムの特徴：</a:t>
            </a:r>
            <a:r>
              <a:rPr lang="en-US" sz="1100" dirty="0">
                <a:solidFill>
                  <a:srgbClr val="222222"/>
                </a:solidFill>
                <a:latin typeface="Meiryo" pitchFamily="34" charset="0"/>
                <a:ea typeface="Meiryo" pitchFamily="34" charset="-122"/>
                <a:cs typeface="Meiryo" pitchFamily="34" charset="-120"/>
              </a:rPr>
              <a:t>基本塾グループ共通の個別支援プログラムと「10の活動」を基本に運営。</a:t>
            </a:r>
            <a:endParaRPr lang="en-US" sz="1050" dirty="0"/>
          </a:p>
          <a:p>
            <a:pPr marL="0" indent="0">
              <a:lnSpc>
                <a:spcPct val="103000"/>
              </a:lnSpc>
              <a:spcAft>
                <a:spcPts val="500"/>
              </a:spcAft>
              <a:buNone/>
            </a:pPr>
            <a:r>
              <a:rPr lang="en-US" sz="1100" dirty="0">
                <a:solidFill>
                  <a:srgbClr val="222222"/>
                </a:solidFill>
                <a:latin typeface="Meiryo" pitchFamily="34" charset="0"/>
                <a:ea typeface="Meiryo" pitchFamily="34" charset="-122"/>
                <a:cs typeface="Meiryo" pitchFamily="34" charset="-120"/>
              </a:rPr>
              <a:t>・八坂台エリアに 八坂台・八坂西・八坂中央 の計3拠点を集中配置。</a:t>
            </a:r>
            <a:endParaRPr lang="en-US" sz="1050" dirty="0"/>
          </a:p>
          <a:p>
            <a:pPr marL="0" indent="0">
              <a:lnSpc>
                <a:spcPct val="103000"/>
              </a:lnSpc>
              <a:spcAft>
                <a:spcPts val="500"/>
              </a:spcAft>
              <a:buNone/>
            </a:pPr>
            <a:r>
              <a:rPr lang="en-US" sz="1100" dirty="0">
                <a:solidFill>
                  <a:srgbClr val="222222"/>
                </a:solidFill>
                <a:latin typeface="Meiryo" pitchFamily="34" charset="0"/>
                <a:ea typeface="Meiryo" pitchFamily="34" charset="-122"/>
                <a:cs typeface="Meiryo" pitchFamily="34" charset="-120"/>
              </a:rPr>
              <a:t>・八坂中央は公開情報が乏しく、開所時期・定員・提供時間は要確認。</a:t>
            </a:r>
            <a:endParaRPr lang="en-US" sz="1050" dirty="0"/>
          </a:p>
        </p:txBody>
      </p:sp>
      <p:sp>
        <p:nvSpPr>
          <p:cNvPr id="14" name="Shape 12"/>
          <p:cNvSpPr/>
          <p:nvPr/>
        </p:nvSpPr>
        <p:spPr>
          <a:xfrm>
            <a:off x="7635240" y="1783080"/>
            <a:ext cx="4069080" cy="3474720"/>
          </a:xfrm>
          <a:prstGeom prst="rect">
            <a:avLst/>
          </a:prstGeom>
          <a:solidFill>
            <a:srgbClr val="EEF2F8"/>
          </a:solidFill>
          <a:ln w="12700">
            <a:solidFill>
              <a:srgbClr val="9AA7B8"/>
            </a:solidFill>
            <a:prstDash val="solid"/>
          </a:ln>
        </p:spPr>
      </p:sp>
      <p:sp>
        <p:nvSpPr>
          <p:cNvPr id="15" name="Text 13"/>
          <p:cNvSpPr/>
          <p:nvPr/>
        </p:nvSpPr>
        <p:spPr>
          <a:xfrm>
            <a:off x="7818120" y="1901952"/>
            <a:ext cx="37033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注目ポイント</a:t>
            </a:r>
            <a:endParaRPr lang="en-US" sz="1250" dirty="0"/>
          </a:p>
        </p:txBody>
      </p:sp>
      <p:sp>
        <p:nvSpPr>
          <p:cNvPr id="16" name="Text 14"/>
          <p:cNvSpPr/>
          <p:nvPr/>
        </p:nvSpPr>
        <p:spPr>
          <a:xfrm>
            <a:off x="7818120" y="2286000"/>
            <a:ext cx="3703320" cy="2907791"/>
          </a:xfrm>
          <a:prstGeom prst="rect">
            <a:avLst/>
          </a:prstGeom>
          <a:noFill/>
          <a:ln/>
        </p:spPr>
        <p:txBody>
          <a:bodyPr wrap="square" lIns="0" tIns="0" rIns="0" bIns="0" rtlCol="0" anchor="t"/>
          <a:lstStyle/>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八坂台エリアだけで3拠点。八坂台団地（ニュータウン）の児童人口を面で押さえる出店戦略。</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拠点を細かく分けることで少人数の環境を維持しつつ、法人としての総定員を確保するモデル。</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1法人で市内児発の約半数（5／11拠点）を占め、東金市の供給構造を実質的に規定している。</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八坂台エリアへの新規出店は、基本塾3拠点との正面競合となる点に留意が必要。</a:t>
            </a:r>
            <a:endParaRPr lang="en-US" sz="1000" dirty="0">
              <a:latin typeface="メイリオ" panose="020B0604030504040204" pitchFamily="50" charset="-128"/>
              <a:ea typeface="メイリオ" panose="020B0604030504040204" pitchFamily="50" charset="-128"/>
            </a:endParaRPr>
          </a:p>
        </p:txBody>
      </p:sp>
      <p:sp>
        <p:nvSpPr>
          <p:cNvPr id="940" name="FootBG"/>
          <p:cNvSpPr/>
          <p:nvPr/>
        </p:nvSpPr>
        <p:spPr>
          <a:xfrm>
            <a:off x="502920" y="5394960"/>
            <a:ext cx="11201400" cy="896112"/>
          </a:xfrm>
          <a:prstGeom prst="rect">
            <a:avLst/>
          </a:prstGeom>
          <a:solidFill>
            <a:srgbClr val="EEF2F8"/>
          </a:solidFill>
          <a:ln w="12700">
            <a:solidFill>
              <a:srgbClr val="9AA7B8"/>
            </a:solidFill>
            <a:prstDash val="solid"/>
          </a:ln>
        </p:spPr>
      </p:sp>
      <p:sp>
        <p:nvSpPr>
          <p:cNvPr id="941" name="FootTitle"/>
          <p:cNvSpPr/>
          <p:nvPr/>
        </p:nvSpPr>
        <p:spPr>
          <a:xfrm>
            <a:off x="713232" y="5477256"/>
            <a:ext cx="10789920" cy="27432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出典 ／ 要確認事項</a:t>
            </a:r>
            <a:endParaRPr lang="en-US" sz="1250" dirty="0"/>
          </a:p>
        </p:txBody>
      </p:sp>
      <p:sp>
        <p:nvSpPr>
          <p:cNvPr id="13" name="FootBody"/>
          <p:cNvSpPr/>
          <p:nvPr/>
        </p:nvSpPr>
        <p:spPr>
          <a:xfrm>
            <a:off x="713232" y="5779008"/>
            <a:ext cx="10789920" cy="475488"/>
          </a:xfrm>
          <a:prstGeom prst="rect">
            <a:avLst/>
          </a:prstGeom>
          <a:noFill/>
          <a:ln/>
        </p:spPr>
        <p:txBody>
          <a:bodyPr wrap="square" lIns="0" tIns="0" rIns="0" bIns="0" rtlCol="0" anchor="t"/>
          <a:lstStyle/>
          <a:p>
            <a:pPr marL="0" indent="0">
              <a:lnSpc>
                <a:spcPct val="103000"/>
              </a:lnSpc>
              <a:buNone/>
            </a:pPr>
            <a:r>
              <a:rPr lang="en-US" sz="950" b="1" dirty="0">
                <a:solidFill>
                  <a:srgbClr val="2E6BB8"/>
                </a:solidFill>
                <a:latin typeface="Meiryo" pitchFamily="34" charset="0"/>
                <a:ea typeface="Meiryo" pitchFamily="34" charset="-122"/>
                <a:cs typeface="Meiryo" pitchFamily="34" charset="-120"/>
              </a:rPr>
              <a:t>▶</a:t>
            </a:r>
            <a:r>
              <a:rPr lang="en-US" sz="950" b="1" dirty="0">
                <a:solidFill>
                  <a:srgbClr val="222222"/>
                </a:solidFill>
                <a:latin typeface="Meiryo" pitchFamily="34" charset="0"/>
                <a:ea typeface="Meiryo" pitchFamily="34" charset="-122"/>
                <a:cs typeface="Meiryo" pitchFamily="34" charset="-120"/>
              </a:rPr>
              <a:t>出典：</a:t>
            </a:r>
            <a:r>
              <a:rPr lang="en-US" sz="950" dirty="0">
                <a:solidFill>
                  <a:srgbClr val="222222"/>
                </a:solidFill>
                <a:latin typeface="Meiryo" pitchFamily="34" charset="0"/>
                <a:ea typeface="Meiryo" pitchFamily="34" charset="-122"/>
                <a:cs typeface="Meiryo" pitchFamily="34" charset="-120"/>
              </a:rPr>
              <a:t>公式HP kihonjuku-yuuyuu.com／児発ねっと／東金市公式サイト</a:t>
            </a:r>
            <a:endParaRPr lang="en-US" sz="1050" dirty="0"/>
          </a:p>
          <a:p>
            <a:pPr marL="0" indent="0">
              <a:lnSpc>
                <a:spcPct val="103000"/>
              </a:lnSpc>
              <a:buNone/>
            </a:pPr>
            <a:r>
              <a:rPr lang="en-US" sz="950" b="1" dirty="0">
                <a:solidFill>
                  <a:srgbClr val="2E6BB8"/>
                </a:solidFill>
                <a:latin typeface="Meiryo" pitchFamily="34" charset="0"/>
                <a:ea typeface="Meiryo" pitchFamily="34" charset="-122"/>
                <a:cs typeface="Meiryo" pitchFamily="34" charset="-120"/>
              </a:rPr>
              <a:t>▶</a:t>
            </a:r>
            <a:r>
              <a:rPr lang="en-US" sz="950" b="1" dirty="0">
                <a:solidFill>
                  <a:srgbClr val="222222"/>
                </a:solidFill>
                <a:latin typeface="Meiryo" pitchFamily="34" charset="0"/>
                <a:ea typeface="Meiryo" pitchFamily="34" charset="-122"/>
                <a:cs typeface="Meiryo" pitchFamily="34" charset="-120"/>
              </a:rPr>
              <a:t>要確認事項：</a:t>
            </a:r>
            <a:r>
              <a:rPr lang="en-US" sz="950" dirty="0">
                <a:solidFill>
                  <a:srgbClr val="222222"/>
                </a:solidFill>
                <a:latin typeface="Meiryo" pitchFamily="34" charset="0"/>
                <a:ea typeface="Meiryo" pitchFamily="34" charset="-122"/>
                <a:cs typeface="Meiryo" pitchFamily="34" charset="-120"/>
              </a:rPr>
              <a:t>八坂中央の開所時期・正確な所在地・定員・電話番号、八坂西の定員と提供時間</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II．　事業所別 詳細</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en-US" sz="2100" b="1" dirty="0">
                <a:solidFill>
                  <a:srgbClr val="222222"/>
                </a:solidFill>
                <a:latin typeface="Meiryo" pitchFamily="34" charset="0"/>
                <a:ea typeface="Meiryo" pitchFamily="34" charset="-122"/>
                <a:cs typeface="Meiryo" pitchFamily="34" charset="-120"/>
              </a:rPr>
              <a:t>⑨ 児童発達支援コンパッション保育所</a:t>
            </a:r>
            <a:endParaRPr lang="en-US" sz="2100" dirty="0"/>
          </a:p>
        </p:txBody>
      </p:sp>
      <p:sp>
        <p:nvSpPr>
          <p:cNvPr id="6" name="Shape 4"/>
          <p:cNvSpPr/>
          <p:nvPr/>
        </p:nvSpPr>
        <p:spPr>
          <a:xfrm>
            <a:off x="10104120" y="1170432"/>
            <a:ext cx="1600200" cy="457200"/>
          </a:xfrm>
          <a:prstGeom prst="rect">
            <a:avLst/>
          </a:prstGeom>
          <a:solidFill>
            <a:srgbClr val="FFFFFF"/>
          </a:solidFill>
          <a:ln w="15875">
            <a:solidFill>
              <a:srgbClr val="1B3A6B"/>
            </a:solidFill>
            <a:prstDash val="solid"/>
          </a:ln>
        </p:spPr>
      </p:sp>
      <p:sp>
        <p:nvSpPr>
          <p:cNvPr id="7" name="Text 5"/>
          <p:cNvSpPr/>
          <p:nvPr/>
        </p:nvSpPr>
        <p:spPr>
          <a:xfrm>
            <a:off x="10104120" y="1170432"/>
            <a:ext cx="1600200" cy="457200"/>
          </a:xfrm>
          <a:prstGeom prst="rect">
            <a:avLst/>
          </a:prstGeom>
          <a:noFill/>
          <a:ln/>
        </p:spPr>
        <p:txBody>
          <a:bodyPr wrap="square" lIns="0" tIns="0" rIns="0" bIns="0" rtlCol="0" anchor="ctr"/>
          <a:lstStyle/>
          <a:p>
            <a:pPr marL="0" indent="0" algn="ctr">
              <a:buNone/>
            </a:pPr>
            <a:r>
              <a:rPr lang="en-US" sz="1400" b="1" dirty="0">
                <a:solidFill>
                  <a:srgbClr val="1B3A6B"/>
                </a:solidFill>
                <a:latin typeface="Meiryo" pitchFamily="34" charset="0"/>
                <a:ea typeface="Meiryo" pitchFamily="34" charset="-122"/>
                <a:cs typeface="Meiryo" pitchFamily="34" charset="-120"/>
              </a:rPr>
              <a:t>東金市</a:t>
            </a:r>
            <a:endParaRPr lang="en-US" sz="1400" dirty="0"/>
          </a:p>
        </p:txBody>
      </p:sp>
      <p:sp>
        <p:nvSpPr>
          <p:cNvPr id="8" name="Text 6"/>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sp>
        <p:nvSpPr>
          <p:cNvPr id="9" name="Shape 7"/>
          <p:cNvSpPr/>
          <p:nvPr/>
        </p:nvSpPr>
        <p:spPr>
          <a:xfrm>
            <a:off x="502920" y="1783080"/>
            <a:ext cx="6903720" cy="3474720"/>
          </a:xfrm>
          <a:prstGeom prst="rect">
            <a:avLst/>
          </a:prstGeom>
          <a:solidFill>
            <a:srgbClr val="FFFFFF"/>
          </a:solidFill>
          <a:ln w="12700">
            <a:solidFill>
              <a:srgbClr val="9AA7B8"/>
            </a:solidFill>
            <a:prstDash val="solid"/>
          </a:ln>
          <a:effectLst>
            <a:outerShdw blurRad="63500" dist="25400" dir="8100000" algn="bl" rotWithShape="0">
              <a:srgbClr val="000000">
                <a:alpha val="12000"/>
              </a:srgbClr>
            </a:outerShdw>
          </a:effectLst>
        </p:spPr>
      </p:sp>
      <p:sp>
        <p:nvSpPr>
          <p:cNvPr id="10" name="Text 8"/>
          <p:cNvSpPr/>
          <p:nvPr/>
        </p:nvSpPr>
        <p:spPr>
          <a:xfrm>
            <a:off x="704088" y="1911096"/>
            <a:ext cx="6501384" cy="384048"/>
          </a:xfrm>
          <a:prstGeom prst="rect">
            <a:avLst/>
          </a:prstGeom>
          <a:noFill/>
          <a:ln/>
        </p:spPr>
        <p:txBody>
          <a:bodyPr wrap="square" lIns="0" tIns="0" rIns="0" bIns="0" rtlCol="0" anchor="ctr"/>
          <a:lstStyle/>
          <a:p>
            <a:pPr marL="0" indent="0">
              <a:buNone/>
            </a:pPr>
            <a:r>
              <a:rPr lang="en-US" sz="1400" b="1" dirty="0">
                <a:solidFill>
                  <a:srgbClr val="1B3A6B"/>
                </a:solidFill>
                <a:latin typeface="Meiryo" pitchFamily="34" charset="0"/>
                <a:ea typeface="Meiryo" pitchFamily="34" charset="-122"/>
                <a:cs typeface="Meiryo" pitchFamily="34" charset="-120"/>
              </a:rPr>
              <a:t>児童発達支援コンパッション保育所</a:t>
            </a:r>
            <a:endParaRPr lang="en-US" sz="1400" dirty="0"/>
          </a:p>
        </p:txBody>
      </p:sp>
      <p:sp>
        <p:nvSpPr>
          <p:cNvPr id="11" name="Text 9"/>
          <p:cNvSpPr/>
          <p:nvPr/>
        </p:nvSpPr>
        <p:spPr>
          <a:xfrm>
            <a:off x="704088" y="2331720"/>
            <a:ext cx="6501384" cy="2852927"/>
          </a:xfrm>
          <a:prstGeom prst="rect">
            <a:avLst/>
          </a:prstGeom>
          <a:noFill/>
          <a:ln/>
        </p:spPr>
        <p:txBody>
          <a:bodyPr wrap="square" lIns="0" tIns="0" rIns="0" bIns="0" rtlCol="0" anchor="t"/>
          <a:lstStyle/>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対象：</a:t>
            </a:r>
            <a:r>
              <a:rPr lang="en-US" sz="1100" dirty="0">
                <a:solidFill>
                  <a:srgbClr val="222222"/>
                </a:solidFill>
                <a:latin typeface="Meiryo" pitchFamily="34" charset="0"/>
                <a:ea typeface="Meiryo" pitchFamily="34" charset="-122"/>
                <a:cs typeface="Meiryo" pitchFamily="34" charset="-120"/>
              </a:rPr>
              <a:t>未就学児（児童発達支援）</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住所：</a:t>
            </a:r>
            <a:r>
              <a:rPr lang="en-US" sz="1100" dirty="0">
                <a:solidFill>
                  <a:srgbClr val="222222"/>
                </a:solidFill>
                <a:latin typeface="Meiryo" pitchFamily="34" charset="0"/>
                <a:ea typeface="Meiryo" pitchFamily="34" charset="-122"/>
                <a:cs typeface="Meiryo" pitchFamily="34" charset="-120"/>
              </a:rPr>
              <a:t>千葉県東金市家之子1671-36</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TEL／HP：</a:t>
            </a:r>
            <a:r>
              <a:rPr lang="en-US" sz="1100" dirty="0">
                <a:solidFill>
                  <a:srgbClr val="222222"/>
                </a:solidFill>
                <a:latin typeface="Meiryo" pitchFamily="34" charset="0"/>
                <a:ea typeface="Meiryo" pitchFamily="34" charset="-122"/>
                <a:cs typeface="Meiryo" pitchFamily="34" charset="-120"/>
              </a:rPr>
              <a:t>要確認（公開情報に記載なし）</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サービス提供時間：</a:t>
            </a:r>
            <a:r>
              <a:rPr lang="en-US" sz="1100" dirty="0">
                <a:solidFill>
                  <a:srgbClr val="222222"/>
                </a:solidFill>
                <a:latin typeface="Meiryo" pitchFamily="34" charset="0"/>
                <a:ea typeface="Meiryo" pitchFamily="34" charset="-122"/>
                <a:cs typeface="Meiryo" pitchFamily="34" charset="-120"/>
              </a:rPr>
              <a:t>要確認</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定員：</a:t>
            </a:r>
            <a:r>
              <a:rPr lang="en-US" sz="1100" dirty="0">
                <a:solidFill>
                  <a:srgbClr val="222222"/>
                </a:solidFill>
                <a:latin typeface="Meiryo" pitchFamily="34" charset="0"/>
                <a:ea typeface="Meiryo" pitchFamily="34" charset="-122"/>
                <a:cs typeface="Meiryo" pitchFamily="34" charset="-120"/>
              </a:rPr>
              <a:t>要確認</a:t>
            </a:r>
            <a:endParaRPr lang="en-US" sz="1050" dirty="0"/>
          </a:p>
          <a:p>
            <a:pPr marL="0" indent="0">
              <a:lnSpc>
                <a:spcPct val="103000"/>
              </a:lnSpc>
              <a:spcAft>
                <a:spcPts val="500"/>
              </a:spcAft>
              <a:buNone/>
            </a:pP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療育プログラムの特徴：</a:t>
            </a:r>
            <a:r>
              <a:rPr lang="en-US" sz="1100" dirty="0">
                <a:solidFill>
                  <a:srgbClr val="222222"/>
                </a:solidFill>
                <a:latin typeface="Meiryo" pitchFamily="34" charset="0"/>
                <a:ea typeface="Meiryo" pitchFamily="34" charset="-122"/>
                <a:cs typeface="Meiryo" pitchFamily="34" charset="-120"/>
              </a:rPr>
              <a:t>保育所を母体とする児童発達支援。保育の場と療育の場が同一施設にある併設型。</a:t>
            </a:r>
            <a:endParaRPr lang="en-US" sz="1050" dirty="0"/>
          </a:p>
          <a:p>
            <a:pPr marL="0" indent="0">
              <a:lnSpc>
                <a:spcPct val="103000"/>
              </a:lnSpc>
              <a:spcAft>
                <a:spcPts val="500"/>
              </a:spcAft>
              <a:buNone/>
            </a:pPr>
            <a:r>
              <a:rPr lang="en-US" sz="1100" dirty="0">
                <a:solidFill>
                  <a:srgbClr val="222222"/>
                </a:solidFill>
                <a:latin typeface="Meiryo" pitchFamily="34" charset="0"/>
                <a:ea typeface="Meiryo" pitchFamily="34" charset="-122"/>
                <a:cs typeface="Meiryo" pitchFamily="34" charset="-120"/>
              </a:rPr>
              <a:t>・市および発達支援施設検索サイトの児童発達支援事業所一覧に掲載されている。</a:t>
            </a:r>
            <a:endParaRPr lang="en-US" sz="1050" dirty="0"/>
          </a:p>
          <a:p>
            <a:pPr marL="0" indent="0">
              <a:lnSpc>
                <a:spcPct val="103000"/>
              </a:lnSpc>
              <a:spcAft>
                <a:spcPts val="500"/>
              </a:spcAft>
              <a:buNone/>
            </a:pPr>
            <a:r>
              <a:rPr lang="en-US" sz="1100" dirty="0">
                <a:solidFill>
                  <a:srgbClr val="222222"/>
                </a:solidFill>
                <a:latin typeface="Meiryo" pitchFamily="34" charset="0"/>
                <a:ea typeface="Meiryo" pitchFamily="34" charset="-122"/>
                <a:cs typeface="Meiryo" pitchFamily="34" charset="-120"/>
              </a:rPr>
              <a:t>・Web上の公開情報は極めて限定的で、支援プログラムの詳細は現地・電話での確認が必要。</a:t>
            </a:r>
            <a:endParaRPr lang="en-US" sz="1050" dirty="0"/>
          </a:p>
        </p:txBody>
      </p:sp>
      <p:sp>
        <p:nvSpPr>
          <p:cNvPr id="14" name="Shape 12"/>
          <p:cNvSpPr/>
          <p:nvPr/>
        </p:nvSpPr>
        <p:spPr>
          <a:xfrm>
            <a:off x="7635240" y="1783080"/>
            <a:ext cx="4069080" cy="3474720"/>
          </a:xfrm>
          <a:prstGeom prst="rect">
            <a:avLst/>
          </a:prstGeom>
          <a:solidFill>
            <a:srgbClr val="EEF2F8"/>
          </a:solidFill>
          <a:ln w="12700">
            <a:solidFill>
              <a:srgbClr val="9AA7B8"/>
            </a:solidFill>
            <a:prstDash val="solid"/>
          </a:ln>
        </p:spPr>
      </p:sp>
      <p:sp>
        <p:nvSpPr>
          <p:cNvPr id="15" name="Text 13"/>
          <p:cNvSpPr/>
          <p:nvPr/>
        </p:nvSpPr>
        <p:spPr>
          <a:xfrm>
            <a:off x="7818120" y="1901952"/>
            <a:ext cx="37033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注目ポイント</a:t>
            </a:r>
            <a:endParaRPr lang="en-US" sz="1250" dirty="0"/>
          </a:p>
        </p:txBody>
      </p:sp>
      <p:sp>
        <p:nvSpPr>
          <p:cNvPr id="16" name="Text 14"/>
          <p:cNvSpPr/>
          <p:nvPr/>
        </p:nvSpPr>
        <p:spPr>
          <a:xfrm>
            <a:off x="7818120" y="2286000"/>
            <a:ext cx="3703320" cy="2907791"/>
          </a:xfrm>
          <a:prstGeom prst="rect">
            <a:avLst/>
          </a:prstGeom>
          <a:noFill/>
          <a:ln/>
        </p:spPr>
        <p:txBody>
          <a:bodyPr wrap="square" lIns="0" tIns="0" rIns="0" bIns="0" rtlCol="0" anchor="t"/>
          <a:lstStyle/>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市街地から離れた家之子地区（市北部）に立地し、周辺の事業所空白地帯をカバー。</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保育所併設型は市内で唯一。定型発達児との日常的な交流が可能な環境が構造的な強み。</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情報発信がほぼ無く、稼働状況・空き枠の把握には直接ヒアリングが必須。</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市北部（家之子・丘山方面）は事業所が少なく、送迎圏として狙える余地がある。</a:t>
            </a:r>
            <a:endParaRPr lang="en-US" sz="1000" dirty="0">
              <a:latin typeface="メイリオ" panose="020B0604030504040204" pitchFamily="50" charset="-128"/>
              <a:ea typeface="メイリオ" panose="020B0604030504040204" pitchFamily="50" charset="-128"/>
            </a:endParaRPr>
          </a:p>
        </p:txBody>
      </p:sp>
      <p:sp>
        <p:nvSpPr>
          <p:cNvPr id="940" name="FootBG"/>
          <p:cNvSpPr/>
          <p:nvPr/>
        </p:nvSpPr>
        <p:spPr>
          <a:xfrm>
            <a:off x="502920" y="5394960"/>
            <a:ext cx="11201400" cy="896112"/>
          </a:xfrm>
          <a:prstGeom prst="rect">
            <a:avLst/>
          </a:prstGeom>
          <a:solidFill>
            <a:srgbClr val="EEF2F8"/>
          </a:solidFill>
          <a:ln w="12700">
            <a:solidFill>
              <a:srgbClr val="9AA7B8"/>
            </a:solidFill>
            <a:prstDash val="solid"/>
          </a:ln>
        </p:spPr>
      </p:sp>
      <p:sp>
        <p:nvSpPr>
          <p:cNvPr id="941" name="FootTitle"/>
          <p:cNvSpPr/>
          <p:nvPr/>
        </p:nvSpPr>
        <p:spPr>
          <a:xfrm>
            <a:off x="713232" y="5477256"/>
            <a:ext cx="10789920" cy="27432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出典 ／ 要確認事項</a:t>
            </a:r>
            <a:endParaRPr lang="en-US" sz="1250" dirty="0"/>
          </a:p>
        </p:txBody>
      </p:sp>
      <p:sp>
        <p:nvSpPr>
          <p:cNvPr id="13" name="FootBody"/>
          <p:cNvSpPr/>
          <p:nvPr/>
        </p:nvSpPr>
        <p:spPr>
          <a:xfrm>
            <a:off x="713232" y="5779008"/>
            <a:ext cx="10789920" cy="475488"/>
          </a:xfrm>
          <a:prstGeom prst="rect">
            <a:avLst/>
          </a:prstGeom>
          <a:noFill/>
          <a:ln/>
        </p:spPr>
        <p:txBody>
          <a:bodyPr wrap="square" lIns="0" tIns="0" rIns="0" bIns="0" rtlCol="0" anchor="t"/>
          <a:lstStyle/>
          <a:p>
            <a:pPr marL="0" indent="0">
              <a:lnSpc>
                <a:spcPct val="103000"/>
              </a:lnSpc>
              <a:buNone/>
            </a:pPr>
            <a:r>
              <a:rPr lang="en-US" sz="950" b="1" dirty="0">
                <a:solidFill>
                  <a:srgbClr val="2E6BB8"/>
                </a:solidFill>
                <a:latin typeface="Meiryo" pitchFamily="34" charset="0"/>
                <a:ea typeface="Meiryo" pitchFamily="34" charset="-122"/>
                <a:cs typeface="Meiryo" pitchFamily="34" charset="-120"/>
              </a:rPr>
              <a:t>▶</a:t>
            </a:r>
            <a:r>
              <a:rPr lang="en-US" sz="950" b="1" dirty="0">
                <a:solidFill>
                  <a:srgbClr val="222222"/>
                </a:solidFill>
                <a:latin typeface="Meiryo" pitchFamily="34" charset="0"/>
                <a:ea typeface="Meiryo" pitchFamily="34" charset="-122"/>
                <a:cs typeface="Meiryo" pitchFamily="34" charset="-120"/>
              </a:rPr>
              <a:t>出典：</a:t>
            </a:r>
            <a:r>
              <a:rPr lang="en-US" sz="950" dirty="0">
                <a:solidFill>
                  <a:srgbClr val="222222"/>
                </a:solidFill>
                <a:latin typeface="Meiryo" pitchFamily="34" charset="0"/>
                <a:ea typeface="Meiryo" pitchFamily="34" charset="-122"/>
                <a:cs typeface="Meiryo" pitchFamily="34" charset="-120"/>
              </a:rPr>
              <a:t>東金市公式サイト／LITALICO発達ナビ 東金市 児童発達支援事業所一覧</a:t>
            </a:r>
            <a:endParaRPr lang="en-US" sz="1050" dirty="0"/>
          </a:p>
          <a:p>
            <a:pPr marL="0" indent="0">
              <a:lnSpc>
                <a:spcPct val="103000"/>
              </a:lnSpc>
              <a:buNone/>
            </a:pPr>
            <a:r>
              <a:rPr lang="en-US" sz="950" b="1" dirty="0">
                <a:solidFill>
                  <a:srgbClr val="2E6BB8"/>
                </a:solidFill>
                <a:latin typeface="Meiryo" pitchFamily="34" charset="0"/>
                <a:ea typeface="Meiryo" pitchFamily="34" charset="-122"/>
                <a:cs typeface="Meiryo" pitchFamily="34" charset="-120"/>
              </a:rPr>
              <a:t>▶</a:t>
            </a:r>
            <a:r>
              <a:rPr lang="en-US" sz="950" b="1" dirty="0">
                <a:solidFill>
                  <a:srgbClr val="222222"/>
                </a:solidFill>
                <a:latin typeface="Meiryo" pitchFamily="34" charset="0"/>
                <a:ea typeface="Meiryo" pitchFamily="34" charset="-122"/>
                <a:cs typeface="Meiryo" pitchFamily="34" charset="-120"/>
              </a:rPr>
              <a:t>要確認事項：</a:t>
            </a:r>
            <a:r>
              <a:rPr lang="en-US" sz="950" dirty="0">
                <a:solidFill>
                  <a:srgbClr val="222222"/>
                </a:solidFill>
                <a:latin typeface="Meiryo" pitchFamily="34" charset="0"/>
                <a:ea typeface="Meiryo" pitchFamily="34" charset="-122"/>
                <a:cs typeface="Meiryo" pitchFamily="34" charset="-120"/>
              </a:rPr>
              <a:t>運営法人、電話番号、定員、提供時間、母体となる保育所との関係　※公開情報がほぼ無い</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II．　事業所別 詳細</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en-US" sz="2100" b="1" dirty="0">
                <a:solidFill>
                  <a:srgbClr val="222222"/>
                </a:solidFill>
                <a:latin typeface="Meiryo" pitchFamily="34" charset="0"/>
                <a:ea typeface="Meiryo" pitchFamily="34" charset="-122"/>
                <a:cs typeface="Meiryo" pitchFamily="34" charset="-120"/>
              </a:rPr>
              <a:t>⑩ 鴇嶺の家</a:t>
            </a:r>
            <a:endParaRPr lang="en-US" sz="2100" dirty="0"/>
          </a:p>
        </p:txBody>
      </p:sp>
      <p:sp>
        <p:nvSpPr>
          <p:cNvPr id="6" name="Shape 4"/>
          <p:cNvSpPr/>
          <p:nvPr/>
        </p:nvSpPr>
        <p:spPr>
          <a:xfrm>
            <a:off x="10104120" y="1170432"/>
            <a:ext cx="1600200" cy="457200"/>
          </a:xfrm>
          <a:prstGeom prst="rect">
            <a:avLst/>
          </a:prstGeom>
          <a:solidFill>
            <a:srgbClr val="FFFFFF"/>
          </a:solidFill>
          <a:ln w="15875">
            <a:solidFill>
              <a:srgbClr val="1B3A6B"/>
            </a:solidFill>
            <a:prstDash val="solid"/>
          </a:ln>
        </p:spPr>
      </p:sp>
      <p:sp>
        <p:nvSpPr>
          <p:cNvPr id="7" name="Text 5"/>
          <p:cNvSpPr/>
          <p:nvPr/>
        </p:nvSpPr>
        <p:spPr>
          <a:xfrm>
            <a:off x="10104120" y="1170432"/>
            <a:ext cx="1600200" cy="457200"/>
          </a:xfrm>
          <a:prstGeom prst="rect">
            <a:avLst/>
          </a:prstGeom>
          <a:noFill/>
          <a:ln/>
        </p:spPr>
        <p:txBody>
          <a:bodyPr wrap="square" lIns="0" tIns="0" rIns="0" bIns="0" rtlCol="0" anchor="ctr"/>
          <a:lstStyle/>
          <a:p>
            <a:pPr marL="0" indent="0" algn="ctr">
              <a:buNone/>
            </a:pPr>
            <a:r>
              <a:rPr lang="en-US" sz="1400" b="1" dirty="0">
                <a:solidFill>
                  <a:srgbClr val="1B3A6B"/>
                </a:solidFill>
                <a:latin typeface="Meiryo" pitchFamily="34" charset="0"/>
                <a:ea typeface="Meiryo" pitchFamily="34" charset="-122"/>
                <a:cs typeface="Meiryo" pitchFamily="34" charset="-120"/>
              </a:rPr>
              <a:t>東金市</a:t>
            </a:r>
            <a:endParaRPr lang="en-US" sz="1400" dirty="0"/>
          </a:p>
        </p:txBody>
      </p:sp>
      <p:sp>
        <p:nvSpPr>
          <p:cNvPr id="8" name="Text 6"/>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sp>
        <p:nvSpPr>
          <p:cNvPr id="9" name="Shape 7"/>
          <p:cNvSpPr/>
          <p:nvPr/>
        </p:nvSpPr>
        <p:spPr>
          <a:xfrm>
            <a:off x="502920" y="1783080"/>
            <a:ext cx="6903720" cy="3474720"/>
          </a:xfrm>
          <a:prstGeom prst="rect">
            <a:avLst/>
          </a:prstGeom>
          <a:solidFill>
            <a:srgbClr val="FFFFFF"/>
          </a:solidFill>
          <a:ln w="12700">
            <a:solidFill>
              <a:srgbClr val="9AA7B8"/>
            </a:solidFill>
            <a:prstDash val="solid"/>
          </a:ln>
          <a:effectLst>
            <a:outerShdw blurRad="63500" dist="25400" dir="8100000" algn="bl" rotWithShape="0">
              <a:srgbClr val="000000">
                <a:alpha val="12000"/>
              </a:srgbClr>
            </a:outerShdw>
          </a:effectLst>
        </p:spPr>
      </p:sp>
      <p:sp>
        <p:nvSpPr>
          <p:cNvPr id="10" name="Text 8"/>
          <p:cNvSpPr/>
          <p:nvPr/>
        </p:nvSpPr>
        <p:spPr>
          <a:xfrm>
            <a:off x="704088" y="1911096"/>
            <a:ext cx="6501384" cy="384048"/>
          </a:xfrm>
          <a:prstGeom prst="rect">
            <a:avLst/>
          </a:prstGeom>
          <a:noFill/>
          <a:ln/>
        </p:spPr>
        <p:txBody>
          <a:bodyPr wrap="square" lIns="0" tIns="0" rIns="0" bIns="0" rtlCol="0" anchor="ctr"/>
          <a:lstStyle/>
          <a:p>
            <a:pPr marL="0" indent="0">
              <a:buNone/>
            </a:pPr>
            <a:r>
              <a:rPr lang="en-US" sz="1400" b="1" dirty="0">
                <a:solidFill>
                  <a:srgbClr val="1B3A6B"/>
                </a:solidFill>
                <a:latin typeface="Meiryo" pitchFamily="34" charset="0"/>
                <a:ea typeface="Meiryo" pitchFamily="34" charset="-122"/>
                <a:cs typeface="Meiryo" pitchFamily="34" charset="-120"/>
              </a:rPr>
              <a:t>鴇嶺の家（児童発達支援・放課後等デイサービス）</a:t>
            </a:r>
            <a:endParaRPr lang="en-US" sz="1400" dirty="0"/>
          </a:p>
        </p:txBody>
      </p:sp>
      <p:sp>
        <p:nvSpPr>
          <p:cNvPr id="11" name="Text 9"/>
          <p:cNvSpPr/>
          <p:nvPr/>
        </p:nvSpPr>
        <p:spPr>
          <a:xfrm>
            <a:off x="704088" y="2331720"/>
            <a:ext cx="6501384" cy="2852927"/>
          </a:xfrm>
          <a:prstGeom prst="rect">
            <a:avLst/>
          </a:prstGeom>
          <a:noFill/>
          <a:ln/>
        </p:spPr>
        <p:txBody>
          <a:bodyPr wrap="square" lIns="0" tIns="0" rIns="0" bIns="0" rtlCol="0" anchor="t"/>
          <a:lstStyle/>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対象：</a:t>
            </a:r>
            <a:r>
              <a:rPr lang="en-US" sz="1100" dirty="0">
                <a:solidFill>
                  <a:srgbClr val="222222"/>
                </a:solidFill>
                <a:latin typeface="Meiryo" pitchFamily="34" charset="0"/>
                <a:ea typeface="Meiryo" pitchFamily="34" charset="-122"/>
                <a:cs typeface="Meiryo" pitchFamily="34" charset="-120"/>
              </a:rPr>
              <a:t>未就学児（児童発達支援）〜就学児（放課後等デイサービス）</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住所：</a:t>
            </a:r>
            <a:r>
              <a:rPr lang="en-US" sz="1100" dirty="0">
                <a:solidFill>
                  <a:srgbClr val="222222"/>
                </a:solidFill>
                <a:latin typeface="Meiryo" pitchFamily="34" charset="0"/>
                <a:ea typeface="Meiryo" pitchFamily="34" charset="-122"/>
                <a:cs typeface="Meiryo" pitchFamily="34" charset="-120"/>
              </a:rPr>
              <a:t>千葉県東金市東金425-2</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TEL／HP：</a:t>
            </a:r>
            <a:r>
              <a:rPr lang="en-US" sz="1100" dirty="0">
                <a:solidFill>
                  <a:srgbClr val="222222"/>
                </a:solidFill>
                <a:latin typeface="Meiryo" pitchFamily="34" charset="0"/>
                <a:ea typeface="Meiryo" pitchFamily="34" charset="-122"/>
                <a:cs typeface="Meiryo" pitchFamily="34" charset="-120"/>
              </a:rPr>
              <a:t>要確認（公開情報では下4桁「0285」までの記載にとどまる）／公開HPなし</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サービス提供時間：</a:t>
            </a:r>
            <a:r>
              <a:rPr lang="en-US" sz="1100" dirty="0">
                <a:solidFill>
                  <a:srgbClr val="222222"/>
                </a:solidFill>
                <a:latin typeface="Meiryo" pitchFamily="34" charset="0"/>
                <a:ea typeface="Meiryo" pitchFamily="34" charset="-122"/>
                <a:cs typeface="Meiryo" pitchFamily="34" charset="-120"/>
              </a:rPr>
              <a:t>要確認</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定員：</a:t>
            </a:r>
            <a:r>
              <a:rPr lang="en-US" sz="1100" dirty="0">
                <a:solidFill>
                  <a:srgbClr val="222222"/>
                </a:solidFill>
                <a:latin typeface="Meiryo" pitchFamily="34" charset="0"/>
                <a:ea typeface="Meiryo" pitchFamily="34" charset="-122"/>
                <a:cs typeface="Meiryo" pitchFamily="34" charset="-120"/>
              </a:rPr>
              <a:t>要確認</a:t>
            </a:r>
            <a:endParaRPr lang="en-US" sz="1050" dirty="0"/>
          </a:p>
          <a:p>
            <a:pPr marL="0" indent="0">
              <a:lnSpc>
                <a:spcPct val="103000"/>
              </a:lnSpc>
              <a:spcAft>
                <a:spcPts val="500"/>
              </a:spcAft>
              <a:buNone/>
            </a:pP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療育プログラムの特徴：</a:t>
            </a:r>
            <a:r>
              <a:rPr lang="en-US" sz="1100" dirty="0">
                <a:solidFill>
                  <a:srgbClr val="222222"/>
                </a:solidFill>
                <a:latin typeface="Meiryo" pitchFamily="34" charset="0"/>
                <a:ea typeface="Meiryo" pitchFamily="34" charset="-122"/>
                <a:cs typeface="Meiryo" pitchFamily="34" charset="-120"/>
              </a:rPr>
              <a:t>児童発達支援と放課後等デイサービスを併設。プログラム内容は公開情報からは確認できず要確認。</a:t>
            </a:r>
            <a:endParaRPr lang="en-US" sz="1050" dirty="0"/>
          </a:p>
          <a:p>
            <a:pPr marL="0" indent="0">
              <a:lnSpc>
                <a:spcPct val="103000"/>
              </a:lnSpc>
              <a:spcAft>
                <a:spcPts val="500"/>
              </a:spcAft>
              <a:buNone/>
            </a:pPr>
            <a:r>
              <a:rPr lang="en-US" sz="1100" dirty="0">
                <a:solidFill>
                  <a:srgbClr val="222222"/>
                </a:solidFill>
                <a:latin typeface="Meiryo" pitchFamily="34" charset="0"/>
                <a:ea typeface="Meiryo" pitchFamily="34" charset="-122"/>
                <a:cs typeface="Meiryo" pitchFamily="34" charset="-120"/>
              </a:rPr>
              <a:t>・東金地区（旧市街・鴇嶺小学校区）に立地し、学校からの通所導線が近い。</a:t>
            </a:r>
            <a:endParaRPr lang="en-US" sz="1050" dirty="0"/>
          </a:p>
          <a:p>
            <a:pPr marL="0" indent="0">
              <a:lnSpc>
                <a:spcPct val="103000"/>
              </a:lnSpc>
              <a:spcAft>
                <a:spcPts val="500"/>
              </a:spcAft>
              <a:buNone/>
            </a:pPr>
            <a:r>
              <a:rPr lang="en-US" sz="1100" dirty="0">
                <a:solidFill>
                  <a:srgbClr val="222222"/>
                </a:solidFill>
                <a:latin typeface="Meiryo" pitchFamily="34" charset="0"/>
                <a:ea typeface="Meiryo" pitchFamily="34" charset="-122"/>
                <a:cs typeface="Meiryo" pitchFamily="34" charset="-120"/>
              </a:rPr>
              <a:t>・同一町域の東金723にスターワーク東金（放デイ）があり、東金駅東口エリアに事業所が集積。</a:t>
            </a:r>
            <a:endParaRPr lang="en-US" sz="1050" dirty="0"/>
          </a:p>
        </p:txBody>
      </p:sp>
      <p:sp>
        <p:nvSpPr>
          <p:cNvPr id="14" name="Shape 12"/>
          <p:cNvSpPr/>
          <p:nvPr/>
        </p:nvSpPr>
        <p:spPr>
          <a:xfrm>
            <a:off x="7635240" y="1783080"/>
            <a:ext cx="4069080" cy="3474720"/>
          </a:xfrm>
          <a:prstGeom prst="rect">
            <a:avLst/>
          </a:prstGeom>
          <a:solidFill>
            <a:srgbClr val="EEF2F8"/>
          </a:solidFill>
          <a:ln w="12700">
            <a:solidFill>
              <a:srgbClr val="9AA7B8"/>
            </a:solidFill>
            <a:prstDash val="solid"/>
          </a:ln>
        </p:spPr>
      </p:sp>
      <p:sp>
        <p:nvSpPr>
          <p:cNvPr id="15" name="Text 13"/>
          <p:cNvSpPr/>
          <p:nvPr/>
        </p:nvSpPr>
        <p:spPr>
          <a:xfrm>
            <a:off x="7818120" y="1901952"/>
            <a:ext cx="37033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注目ポイント</a:t>
            </a:r>
            <a:endParaRPr lang="en-US" sz="1250" dirty="0"/>
          </a:p>
        </p:txBody>
      </p:sp>
      <p:sp>
        <p:nvSpPr>
          <p:cNvPr id="16" name="Text 14"/>
          <p:cNvSpPr/>
          <p:nvPr/>
        </p:nvSpPr>
        <p:spPr>
          <a:xfrm>
            <a:off x="7818120" y="2286000"/>
            <a:ext cx="3703320" cy="2907791"/>
          </a:xfrm>
          <a:prstGeom prst="rect">
            <a:avLst/>
          </a:prstGeom>
          <a:noFill/>
          <a:ln/>
        </p:spPr>
        <p:txBody>
          <a:bodyPr wrap="square" lIns="0" tIns="0" rIns="0" bIns="0" rtlCol="0" anchor="t"/>
          <a:lstStyle/>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鴇嶺小学校区の中心部に位置し、学区内からの徒歩・短距離送迎に適した立地。</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東金駅東口エリアの事業所集積地にあり、競合との距離が近い。</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情報発信が乏しく、実態把握は市社会福祉課・相談支援事業所経由での確認が現実的。</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東金駅東口は事業所集積地。新規参入するなら駅前以外の空白地を狙うのが現実的。</a:t>
            </a:r>
            <a:endParaRPr lang="en-US" sz="1000" dirty="0">
              <a:latin typeface="メイリオ" panose="020B0604030504040204" pitchFamily="50" charset="-128"/>
              <a:ea typeface="メイリオ" panose="020B0604030504040204" pitchFamily="50" charset="-128"/>
            </a:endParaRPr>
          </a:p>
        </p:txBody>
      </p:sp>
      <p:sp>
        <p:nvSpPr>
          <p:cNvPr id="940" name="FootBG"/>
          <p:cNvSpPr/>
          <p:nvPr/>
        </p:nvSpPr>
        <p:spPr>
          <a:xfrm>
            <a:off x="502920" y="5394960"/>
            <a:ext cx="11201400" cy="896112"/>
          </a:xfrm>
          <a:prstGeom prst="rect">
            <a:avLst/>
          </a:prstGeom>
          <a:solidFill>
            <a:srgbClr val="EEF2F8"/>
          </a:solidFill>
          <a:ln w="12700">
            <a:solidFill>
              <a:srgbClr val="9AA7B8"/>
            </a:solidFill>
            <a:prstDash val="solid"/>
          </a:ln>
        </p:spPr>
      </p:sp>
      <p:sp>
        <p:nvSpPr>
          <p:cNvPr id="941" name="FootTitle"/>
          <p:cNvSpPr/>
          <p:nvPr/>
        </p:nvSpPr>
        <p:spPr>
          <a:xfrm>
            <a:off x="713232" y="5477256"/>
            <a:ext cx="10789920" cy="27432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出典 ／ 要確認事項</a:t>
            </a:r>
            <a:endParaRPr lang="en-US" sz="1250" dirty="0"/>
          </a:p>
        </p:txBody>
      </p:sp>
      <p:sp>
        <p:nvSpPr>
          <p:cNvPr id="13" name="FootBody"/>
          <p:cNvSpPr/>
          <p:nvPr/>
        </p:nvSpPr>
        <p:spPr>
          <a:xfrm>
            <a:off x="713232" y="5779008"/>
            <a:ext cx="10789920" cy="475488"/>
          </a:xfrm>
          <a:prstGeom prst="rect">
            <a:avLst/>
          </a:prstGeom>
          <a:noFill/>
          <a:ln/>
        </p:spPr>
        <p:txBody>
          <a:bodyPr wrap="square" lIns="0" tIns="0" rIns="0" bIns="0" rtlCol="0" anchor="t"/>
          <a:lstStyle/>
          <a:p>
            <a:pPr marL="0" indent="0">
              <a:lnSpc>
                <a:spcPct val="103000"/>
              </a:lnSpc>
              <a:buNone/>
            </a:pPr>
            <a:r>
              <a:rPr lang="en-US" sz="950" b="1" dirty="0">
                <a:solidFill>
                  <a:srgbClr val="2E6BB8"/>
                </a:solidFill>
                <a:latin typeface="Meiryo" pitchFamily="34" charset="0"/>
                <a:ea typeface="Meiryo" pitchFamily="34" charset="-122"/>
                <a:cs typeface="Meiryo" pitchFamily="34" charset="-120"/>
              </a:rPr>
              <a:t>▶</a:t>
            </a:r>
            <a:r>
              <a:rPr lang="en-US" sz="950" b="1" dirty="0">
                <a:solidFill>
                  <a:srgbClr val="222222"/>
                </a:solidFill>
                <a:latin typeface="Meiryo" pitchFamily="34" charset="0"/>
                <a:ea typeface="Meiryo" pitchFamily="34" charset="-122"/>
                <a:cs typeface="Meiryo" pitchFamily="34" charset="-120"/>
              </a:rPr>
              <a:t>出典：</a:t>
            </a:r>
            <a:r>
              <a:rPr lang="en-US" sz="950" dirty="0">
                <a:solidFill>
                  <a:srgbClr val="222222"/>
                </a:solidFill>
                <a:latin typeface="Meiryo" pitchFamily="34" charset="0"/>
                <a:ea typeface="Meiryo" pitchFamily="34" charset="-122"/>
                <a:cs typeface="Meiryo" pitchFamily="34" charset="-120"/>
              </a:rPr>
              <a:t>東金市公式サイト／LITALICO発達ナビ 東金市 児童発達支援事業所一覧</a:t>
            </a:r>
            <a:endParaRPr lang="en-US" sz="1050" dirty="0"/>
          </a:p>
          <a:p>
            <a:pPr marL="0" indent="0">
              <a:lnSpc>
                <a:spcPct val="103000"/>
              </a:lnSpc>
              <a:buNone/>
            </a:pPr>
            <a:r>
              <a:rPr lang="en-US" sz="950" b="1" dirty="0">
                <a:solidFill>
                  <a:srgbClr val="2E6BB8"/>
                </a:solidFill>
                <a:latin typeface="Meiryo" pitchFamily="34" charset="0"/>
                <a:ea typeface="Meiryo" pitchFamily="34" charset="-122"/>
                <a:cs typeface="Meiryo" pitchFamily="34" charset="-120"/>
              </a:rPr>
              <a:t>▶</a:t>
            </a:r>
            <a:r>
              <a:rPr lang="en-US" sz="950" b="1" dirty="0">
                <a:solidFill>
                  <a:srgbClr val="222222"/>
                </a:solidFill>
                <a:latin typeface="Meiryo" pitchFamily="34" charset="0"/>
                <a:ea typeface="Meiryo" pitchFamily="34" charset="-122"/>
                <a:cs typeface="Meiryo" pitchFamily="34" charset="-120"/>
              </a:rPr>
              <a:t>要確認事項：</a:t>
            </a:r>
            <a:r>
              <a:rPr lang="en-US" sz="950" dirty="0">
                <a:solidFill>
                  <a:srgbClr val="222222"/>
                </a:solidFill>
                <a:latin typeface="Meiryo" pitchFamily="34" charset="0"/>
                <a:ea typeface="Meiryo" pitchFamily="34" charset="-122"/>
                <a:cs typeface="Meiryo" pitchFamily="34" charset="-120"/>
              </a:rPr>
              <a:t>運営法人、正確な電話番号、定員、提供時間、プログラム内容　※公開情報がほぼ無い</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altLang="ja-JP" sz="3000" b="1" dirty="0">
                <a:solidFill>
                  <a:srgbClr val="FFFFFF"/>
                </a:solidFill>
                <a:latin typeface="Meiryo" pitchFamily="34" charset="0"/>
                <a:ea typeface="Meiryo" pitchFamily="34" charset="-122"/>
                <a:cs typeface="Meiryo" pitchFamily="34" charset="-120"/>
              </a:rPr>
              <a:t>Ⅲ</a:t>
            </a:r>
            <a:r>
              <a:rPr lang="en-US" sz="3000" b="1" dirty="0">
                <a:solidFill>
                  <a:srgbClr val="FFFFFF"/>
                </a:solidFill>
                <a:latin typeface="Meiryo" pitchFamily="34" charset="0"/>
                <a:ea typeface="Meiryo" pitchFamily="34" charset="-122"/>
                <a:cs typeface="Meiryo" pitchFamily="34" charset="-120"/>
              </a:rPr>
              <a:t>． </a:t>
            </a:r>
            <a:r>
              <a:rPr lang="ja-JP" altLang="en-US" sz="3000" b="1" dirty="0">
                <a:solidFill>
                  <a:srgbClr val="FFFFFF"/>
                </a:solidFill>
                <a:latin typeface="Meiryo" pitchFamily="34" charset="0"/>
                <a:ea typeface="Meiryo" pitchFamily="34" charset="-122"/>
                <a:cs typeface="Meiryo" pitchFamily="34" charset="-120"/>
              </a:rPr>
              <a:t>まとめ</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ja-JP" altLang="en-US" sz="2100" b="1" dirty="0">
                <a:solidFill>
                  <a:srgbClr val="222222"/>
                </a:solidFill>
                <a:latin typeface="Meiryo" pitchFamily="34" charset="0"/>
                <a:ea typeface="Meiryo" pitchFamily="34" charset="-122"/>
                <a:cs typeface="Meiryo" pitchFamily="34" charset="-120"/>
              </a:rPr>
              <a:t>■ 比較まとめと示唆</a:t>
            </a:r>
            <a:endParaRPr lang="en-US" sz="2100" dirty="0"/>
          </a:p>
        </p:txBody>
      </p:sp>
      <p:sp>
        <p:nvSpPr>
          <p:cNvPr id="6" name="Text 4"/>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graphicFrame>
        <p:nvGraphicFramePr>
          <p:cNvPr id="8" name="Table 0"/>
          <p:cNvGraphicFramePr>
            <a:graphicFrameLocks noGrp="1"/>
          </p:cNvGraphicFramePr>
          <p:nvPr>
            <p:extLst>
              <p:ext uri="{D42A27DB-BD31-4B8C-83A1-F6EECF244321}">
                <p14:modId xmlns:p14="http://schemas.microsoft.com/office/powerpoint/2010/main" val="1455520415"/>
              </p:ext>
            </p:extLst>
          </p:nvPr>
        </p:nvGraphicFramePr>
        <p:xfrm>
          <a:off x="487680" y="1627632"/>
          <a:ext cx="11201399" cy="2962656"/>
        </p:xfrm>
        <a:graphic>
          <a:graphicData uri="http://schemas.openxmlformats.org/drawingml/2006/table">
            <a:tbl>
              <a:tblPr/>
              <a:tblGrid>
                <a:gridCol w="2395728">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1691640">
                  <a:extLst>
                    <a:ext uri="{9D8B030D-6E8A-4147-A177-3AD203B41FA5}">
                      <a16:colId xmlns:a16="http://schemas.microsoft.com/office/drawing/2014/main" val="20002"/>
                    </a:ext>
                  </a:extLst>
                </a:gridCol>
                <a:gridCol w="3931920">
                  <a:extLst>
                    <a:ext uri="{9D8B030D-6E8A-4147-A177-3AD203B41FA5}">
                      <a16:colId xmlns:a16="http://schemas.microsoft.com/office/drawing/2014/main" val="20003"/>
                    </a:ext>
                  </a:extLst>
                </a:gridCol>
                <a:gridCol w="2313432">
                  <a:extLst>
                    <a:ext uri="{9D8B030D-6E8A-4147-A177-3AD203B41FA5}">
                      <a16:colId xmlns:a16="http://schemas.microsoft.com/office/drawing/2014/main" val="20004"/>
                    </a:ext>
                  </a:extLst>
                </a:gridCol>
              </a:tblGrid>
              <a:tr h="493776">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運営主体</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拠点数</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タイプ</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特徴的なプログラム</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主な立地エリア</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extLst>
                  <a:ext uri="{0D108BD9-81ED-4DB2-BD59-A6C34878D82A}">
                    <a16:rowId xmlns:a16="http://schemas.microsoft.com/office/drawing/2014/main" val="10000"/>
                  </a:ext>
                </a:extLst>
              </a:tr>
              <a:tr h="493776">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東金市（市社会福祉協議会）</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1</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公立・親子通園型</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あそび中心のグループ活動＋小1・2の学習指導／SST。定員15名/日</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田間（ふれあいセンター）</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493776">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NPO法人 基本塾</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5</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民間・市内最大手</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個別支援＋「10の活動」。園庭・多職種（ST・心理検査士等）、サッカー療育</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日吉台・松之郷・八坂台</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493776">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株式会社ベストグロウ</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2</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民間・運動療育特化</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柳沢運動プログラムによる運動療育。平日9:00〜18:00・送迎あり</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東新宿・田間</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493776">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子ども支援センターぽけっと</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1</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民間（詳細要確認）</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児発＋放デイ併設。市街地立地</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東上宿</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493776">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コンパッション保育所／鴇嶺の家</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2</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民間（詳細要確認）</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保育所併設型（コンパッション）、児発＋放デイ併設（鴇嶺の家）</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家之子・東金</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7" name="Shape 5"/>
          <p:cNvSpPr/>
          <p:nvPr/>
        </p:nvSpPr>
        <p:spPr>
          <a:xfrm>
            <a:off x="502920" y="4718304"/>
            <a:ext cx="11201400" cy="1737360"/>
          </a:xfrm>
          <a:prstGeom prst="rect">
            <a:avLst/>
          </a:prstGeom>
          <a:solidFill>
            <a:srgbClr val="EEF2F8"/>
          </a:solidFill>
          <a:ln w="12700">
            <a:solidFill>
              <a:srgbClr val="9AA7B8"/>
            </a:solidFill>
            <a:prstDash val="solid"/>
          </a:ln>
        </p:spPr>
      </p:sp>
      <p:sp>
        <p:nvSpPr>
          <p:cNvPr id="9" name="Text 6"/>
          <p:cNvSpPr/>
          <p:nvPr/>
        </p:nvSpPr>
        <p:spPr>
          <a:xfrm>
            <a:off x="713232" y="4818888"/>
            <a:ext cx="107899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調査からの示唆（東金市の児童発達支援マーケット）</a:t>
            </a:r>
            <a:endParaRPr lang="en-US" sz="1250" dirty="0"/>
          </a:p>
        </p:txBody>
      </p:sp>
      <p:sp>
        <p:nvSpPr>
          <p:cNvPr id="10" name="Text 7"/>
          <p:cNvSpPr/>
          <p:nvPr/>
        </p:nvSpPr>
        <p:spPr>
          <a:xfrm>
            <a:off x="713232" y="5148072"/>
            <a:ext cx="10789920" cy="1261872"/>
          </a:xfrm>
          <a:prstGeom prst="rect">
            <a:avLst/>
          </a:prstGeom>
          <a:noFill/>
          <a:ln/>
        </p:spPr>
        <p:txBody>
          <a:bodyPr wrap="square" lIns="0" tIns="0" rIns="0" bIns="0" rtlCol="0" anchor="t"/>
          <a:lstStyle/>
          <a:p>
            <a:pPr marL="342900" indent="-342900">
              <a:spcAft>
                <a:spcPts val="500"/>
              </a:spcAft>
              <a:buSzPct val="100000"/>
              <a:buChar char="•"/>
            </a:pPr>
            <a:r>
              <a:rPr lang="en-US" sz="900" dirty="0">
                <a:solidFill>
                  <a:srgbClr val="222222"/>
                </a:solidFill>
                <a:latin typeface="メイリオ" panose="020B0604030504040204" pitchFamily="50" charset="-128"/>
                <a:ea typeface="メイリオ" panose="020B0604030504040204" pitchFamily="50" charset="-128"/>
                <a:cs typeface="Meiryo" pitchFamily="34" charset="-120"/>
              </a:rPr>
              <a:t>東金市の児童発達支援は【公立1＋民間9事業所／計11拠点】。うち5拠点をNPO法人基本塾、2拠点を株式会社ベストグロウが占め、実質2グループで市内拠点の約6割を押さえる寡占構造にある。</a:t>
            </a:r>
            <a:endParaRPr lang="en-US" sz="1000" dirty="0">
              <a:latin typeface="メイリオ" panose="020B0604030504040204" pitchFamily="50" charset="-128"/>
              <a:ea typeface="メイリオ" panose="020B0604030504040204" pitchFamily="50" charset="-128"/>
            </a:endParaRPr>
          </a:p>
          <a:p>
            <a:pPr marL="342900" indent="-342900">
              <a:spcAft>
                <a:spcPts val="500"/>
              </a:spcAft>
              <a:buSzPct val="100000"/>
              <a:buChar char="•"/>
            </a:pPr>
            <a:r>
              <a:rPr lang="en-US" sz="900" dirty="0">
                <a:solidFill>
                  <a:srgbClr val="222222"/>
                </a:solidFill>
                <a:latin typeface="メイリオ" panose="020B0604030504040204" pitchFamily="50" charset="-128"/>
                <a:ea typeface="メイリオ" panose="020B0604030504040204" pitchFamily="50" charset="-128"/>
                <a:cs typeface="Meiryo" pitchFamily="34" charset="-120"/>
              </a:rPr>
              <a:t>プログラム軸は「運動療育」（こどもプラス）と「個別支援＋多職種によるアセスメント」（基本塾優遊）の2系統に大別される。言語・コミュニケーション特化、ペアレントトレーニング、医療的ケア児対応を前面に打ち出す事業所は市内に見当たらず、差別化余地が大きい。</a:t>
            </a:r>
            <a:endParaRPr lang="en-US" sz="1000" dirty="0">
              <a:latin typeface="メイリオ" panose="020B0604030504040204" pitchFamily="50" charset="-128"/>
              <a:ea typeface="メイリオ" panose="020B0604030504040204" pitchFamily="50" charset="-128"/>
            </a:endParaRPr>
          </a:p>
          <a:p>
            <a:pPr marL="342900" indent="-342900">
              <a:spcAft>
                <a:spcPts val="500"/>
              </a:spcAft>
              <a:buSzPct val="100000"/>
              <a:buChar char="•"/>
            </a:pPr>
            <a:r>
              <a:rPr lang="en-US" sz="900" dirty="0">
                <a:solidFill>
                  <a:srgbClr val="222222"/>
                </a:solidFill>
                <a:latin typeface="メイリオ" panose="020B0604030504040204" pitchFamily="50" charset="-128"/>
                <a:ea typeface="メイリオ" panose="020B0604030504040204" pitchFamily="50" charset="-128"/>
                <a:cs typeface="Meiryo" pitchFamily="34" charset="-120"/>
              </a:rPr>
              <a:t>立地は八坂台・日吉台のニュータウン側と東金駅周辺に集中。市南西部（福俵・求名・丘山地区）は空白地帯であり、送迎圏の設計次第で新規参入の余地がある。一方、公開情報が乏しい事業所（②⑨⑩）が3件あり、稼働率・空き枠は市社会福祉課および相談支援事業所へのヒアリングで補完が必要。</a:t>
            </a:r>
            <a:endParaRPr lang="en-US" sz="1000" dirty="0">
              <a:latin typeface="メイリオ" panose="020B0604030504040204" pitchFamily="50" charset="-128"/>
              <a:ea typeface="メイリオ" panose="020B0604030504040204" pitchFamily="50" charset="-128"/>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57</TotalTime>
  <Words>1179</Words>
  <Application>Microsoft Office PowerPoint</Application>
  <PresentationFormat>ワイド画面</PresentationFormat>
  <Paragraphs>180</Paragraphs>
  <Slides>7</Slides>
  <Notes>7</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7</vt:i4>
      </vt:variant>
    </vt:vector>
  </HeadingPairs>
  <TitlesOfParts>
    <vt:vector size="11" baseType="lpstr">
      <vt:lpstr>Meiryo</vt:lpstr>
      <vt:lpstr>Meiryo</vt:lpstr>
      <vt:lpstr>Arial</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競合分析 特筆すべき事業所</dc:title>
  <dc:subject>PptxGenJS Presentation</dc:subject>
  <dc:creator>船井総研</dc:creator>
  <cp:lastModifiedBy>Hikaru Nakano</cp:lastModifiedBy>
  <cp:revision>6</cp:revision>
  <dcterms:created xsi:type="dcterms:W3CDTF">2026-06-09T11:42:43Z</dcterms:created>
  <dcterms:modified xsi:type="dcterms:W3CDTF">2026-06-09T12:44:47Z</dcterms:modified>
</cp:coreProperties>
</file>