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24"/>
    <p:sldId id="259" r:id="rId14"/>
    <p:sldId id="260" r:id="rId15"/>
    <p:sldId id="261" r:id="rId16"/>
    <p:sldId id="262" r:id="rId17"/>
    <p:sldId id="263" r:id="rId18"/>
    <p:sldId id="264" r:id="rId19"/>
    <p:sldId id="265" r:id="rId20"/>
    <p:sldId id="266" r:id="rId21"/>
    <p:sldId id="267" r:id="rId22"/>
    <p:sldId id="268" r:id="rId23"/>
    <p:sldId id="269"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4.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全10事業所（11拠点）の個別整理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全10事業所（11拠点）</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977639"/>
        </p:xfrm>
        <a:graphic>
          <a:graphicData uri="http://schemas.openxmlformats.org/drawingml/2006/table">
            <a:tbl>
              <a:tblPr/>
              <a:tblGrid>
                <a:gridCol w="566928">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3063240">
                  <a:extLst>
                    <a:ext uri="{9D8B030D-6E8A-4147-A177-3AD203B41FA5}">
                      <a16:colId xmlns:a16="http://schemas.microsoft.com/office/drawing/2014/main" val="20004"/>
                    </a:ext>
                  </a:extLst>
                </a:gridCol>
                <a:gridCol w="1810512">
                  <a:extLst>
                    <a:ext uri="{9D8B030D-6E8A-4147-A177-3AD203B41FA5}">
                      <a16:colId xmlns:a16="http://schemas.microsoft.com/office/drawing/2014/main" val="20005"/>
                    </a:ext>
                  </a:extLst>
                </a:gridCol>
              </a:tblGrid>
              <a:tr h="331469">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0475-54-1197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0475-50-1081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0475-77-8577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0475-52-6414</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0475-51-4082</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0475-51-5010</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0475-51-6631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⑧</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八坂中央</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八坂台地区（要確認）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児童発達支援コンパッション保育所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⑩</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児童発達支援」の指定を受けている事業所を抽出（放課後等デイサービス専業・相談支援は次頁に参考掲載）。基本塾優遊は同一法人の5拠点のため、八坂西・八坂中央は⑧として1枚にまとめて掲載。出典：東金市公式サイト／LITALICO発達ナビ／児発ねっと／ホイシル／WAM NET／各事業所公式HP（2026年8月時点の公開情報）。</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参考｜放課後等デイサービス専業・障害児相談支援事業所</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840480"/>
        </p:xfrm>
        <a:graphic>
          <a:graphicData uri="http://schemas.openxmlformats.org/drawingml/2006/table">
            <a:tbl>
              <a:tblPr/>
              <a:tblGrid>
                <a:gridCol w="566928">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1581912">
                  <a:extLst>
                    <a:ext uri="{9D8B030D-6E8A-4147-A177-3AD203B41FA5}">
                      <a16:colId xmlns:a16="http://schemas.microsoft.com/office/drawing/2014/main" val="20005"/>
                    </a:ext>
                  </a:extLst>
                </a:gridCol>
              </a:tblGrid>
              <a:tr h="426720">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区分</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スターワーク東金</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東金723 谷井ビル2・3F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エスポワール</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田間2-56-10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050-3145-9731</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ぬくもりKid's</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八坂台5-29-1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ホッとスタジオ</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放課後等デイサービス</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西福俵103-35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相談支援事業所 アプリング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街かど福祉相談室 るると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カマラードの里</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要確認</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6720">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8</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こどもプラス相談支援事業所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障害児相談支援</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東金市内（道庭925-1）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latin typeface="Meiryo" charset="0"/>
                          <a:ea typeface="Meiryo" charset="0"/>
                          <a:cs typeface="Meiryo" charset="0"/>
                        </a:rPr>
                        <a:t>0475-77-8577</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本頁は児童発達支援の指定が公開情報で確認できない事業所。スターワーク東金は中高生向け就労準備型の放デイで、未就学児は対象外。障害児相談支援事業所は受給者証申請・障害児支援利用計画の作成窓口となるため参考掲載。</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原則、市内に住所を有する心身に障がいのある就学前児童のうち、保護者と共に通所できる児童（伝染性疾病のない方）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0475-54-1197 ／ city.togane.chiba.jp（東金市公式）・togane-shakyo.jp</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アクセス：</a:t>
            </a:r>
            <a:r>
              <a:rPr lang="en-US" sz="1100" dirty="0">
                <a:solidFill>
                  <a:srgbClr val="222222"/>
                </a:solidFill>
                <a:latin typeface="Meiryo" pitchFamily="34" charset="0"/>
                <a:ea typeface="Meiryo" pitchFamily="34" charset="-122"/>
                <a:cs typeface="Meiryo" pitchFamily="34" charset="-120"/>
              </a:rPr>
              <a:t>JR東金線 東金駅から徒歩約15分。東金市役所前より循環バスあり。</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児童発達支援 1日15名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・小学1・2年生向けに学習指導とソーシャルスキルトレーニングを実施（放課後等デイサービス）。</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保護者同伴通所が原則の親子通園型。母子分離で預かる民間事業所とは役割が構造的に異なる。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東金市公式サイト（city.togane.chiba.jp）／東金市社会福祉協議会／みんなの障がい</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現在の空き状況、放課後等デイサービスの対象学年の詳細、利用手続き・受給者証の要否</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子ども支援センターぽけっと（児童発達支援・放課後等デイサービス）</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千葉県東金市東上宿6番地2</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0475-50-1081 ／ WAM NET（障害福祉サービス等情報公表システム）に事業所情報を掲載</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公開情報が限られており、支援内容の詳細は事業所への直接確認が必要。</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・児童発達支援と放課後等デイサービスを併設し、未就学から就学後まで継続利用できる体制。</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・東金駅・市役所に近い東上宿の市街地に立地。</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・同一町域（東上宿6-1）に相談支援事業所「街かど福祉相談室るると」が所在し、相談〜通所の導線が近い。</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児発／放デイの一貫利用が可能な、市内では数少ないタイプ。</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Web上の情報発信が乏しく、集客は行政・相談支援経由の紹介が中心と推察される。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情報発信の弱さは裏返せば、Web集客に強い事業所にとって切り崩しやすい競合といえる。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WAM NET 障害福祉サービス等情報公表システム／LITALICO発達ナビ／東金市公式サイト</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運営法人、サービス提供時間、定員、送迎の有無、プログラム内容　※公開情報がほぼ無く電話ヒアリング必須</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平日 9:00〜18:00　※送迎あり</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開設：</a:t>
            </a:r>
            <a:r>
              <a:rPr lang="en-US" sz="1100" dirty="0">
                <a:solidFill>
                  <a:srgbClr val="222222"/>
                </a:solidFill>
                <a:latin typeface="Meiryo" pitchFamily="34" charset="0"/>
                <a:ea typeface="Meiryo" pitchFamily="34" charset="-122"/>
                <a:cs typeface="Meiryo" pitchFamily="34" charset="-120"/>
              </a:rPr>
              <a:t>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③と同一法人・同一プログラムの2拠点目。田間エリア（市役所・ふれあいセンター側）をカバーし市内を面で展開。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基本塾優遊 日吉台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日吉台（運営：特定非営利活動法人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千葉県東金市日吉台2-26-3</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0475-52-6414 ／ kihonjuku-yuuyuu.com（info@kihonjuku-yuuyuu.com）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園庭を備え、リトミック・体操・英語教育など多様なプログラムを提供。</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・在籍：児童発達支援管理責任者、小学校校長経験者、幼稚園園長経験者、特別支援教育士、</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 xml:space="preserve">　教育カウンセラー、心理検査士、言語聴覚士 ほか。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・障がい児とその家族に対し、地域生活を行ううえで必要な支援を提供することを運営方針とする。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市内5拠点を展開する最大手NPO「基本塾」の中核拠点。教育畑の専門人材の厚みが最大の差別化要素。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園庭を保有し屋外活動が可能。テナント型の民間事業所にはない環境資源を持つ。</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言語聴覚士・心理検査士の在籍により、アセスメントから個別支援計画までの質を訴求できる体制。</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多職種体制はコスト構造上も参入障壁が高く、人材採用力が最大の競合要因となる。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kihonjuku-yuuyuu.com／ホイシル／児発ねっと／ADDS kikotto施設検索</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定員、送迎の有無、児発と放デイの時間帯区分、専門職の常勤／非常勤の別</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基本塾優遊 松之郷</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松之郷（運営：特定非営利活動法人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未就学児〜就学児／身体障がい・知的障がい・精神障がい・難病</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千葉県東金市松之郷2423-1（〒283-0805／JR東金線 東金駅から徒歩約19分）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0475-51-4082 ／ 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9:00〜18:00（目安）／定休：日曜・祝日・年末年始</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定員／送迎：</a:t>
            </a:r>
            <a:r>
              <a:rPr lang="en-US" sz="1100" dirty="0">
                <a:solidFill>
                  <a:srgbClr val="222222"/>
                </a:solidFill>
                <a:latin typeface="Meiryo" pitchFamily="34" charset="0"/>
                <a:ea typeface="Meiryo" pitchFamily="34" charset="-122"/>
                <a:cs typeface="Meiryo" pitchFamily="34" charset="-120"/>
              </a:rPr>
              <a:t>児童発達支援 10名 ／ 送迎あり（要相談）</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一人ひとりのニーズに応じた個別支援プログラムを編成。</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・「10の活動」を通じ、アートセラピー・運動・社会性を育むグループ活動をバランスよく実施。</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・少人数の環境を活かし、個別対応と集団活動を組み合わせて提供。</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定員10名の小規模・個別重視型。グループ内では「個別支援＋アートセラピー」が特徴。</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駅から徒歩約19分と距離があり、送迎（要相談）の可否が利用のハードルになりやすい。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対象を身体・知的・精神・難病まで広く取り、受け入れ幅が広い。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立地の弱さを送迎で補う構造。送迎圏が重なる事業所とは直接競合になりやすい。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kihonjuku-yuuyuu.com／LITALICO発達ナビ／イクデン／ホイシル</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放課後等デイサービス側の定員、送迎範囲、土曜・長期休暇の開所有無</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基本塾優遊 八坂台</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八坂台（運営：特定非営利活動法人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小学生、および翌年度に小学生になる児童（就学移行期）を中心に募集</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千葉県東金市八坂台5-11-1</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0475-51-5010 ／ kihonjuku-yuuyuu.com</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 ／ 定休：土曜・日曜・祝日・年末年始</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定員／職員：</a:t>
            </a:r>
            <a:r>
              <a:rPr lang="en-US" sz="1100" dirty="0">
                <a:solidFill>
                  <a:srgbClr val="222222"/>
                </a:solidFill>
                <a:latin typeface="Meiryo" pitchFamily="34" charset="0"/>
                <a:ea typeface="Meiryo" pitchFamily="34" charset="-122"/>
                <a:cs typeface="Meiryo" pitchFamily="34" charset="-120"/>
              </a:rPr>
              <a:t>10名 ／ 児童発達支援管理責任者1名・児童指導員4名・保育士4名（計9名）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少人数での活動・制作を基本に、地域と連携したイベントを実施。</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・元サッカー選手による「サッカー療育」を導入。</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・子どもの「やりたい！」「できた！」を大切にする支援方針を掲げる。</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職員9名に対し定員10名と、市内でも手厚い人員配置。</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「サッカー療育」という他事業所にない明確なフック。就学移行期（年長〜小学生）に的を絞った募集。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土曜が定休のため、土曜・長期休暇のニーズは他事業所へ流れる構造。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土曜・長期休暇の受け皿が手薄なため、そこを埋める事業所には需要が回りやすい。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kihonjuku-yuuyuu.com／LITALICO発達ナビ</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児童発達支援の受け入れ年齢（未就学の下限）、長期休暇中の開所時間、送迎の有無</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⑧ 基本塾優遊 八坂西 ／ 八坂中央</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 八坂西・八坂中央（運営：特定非営利活動法人 基本塾）</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【八坂西】千葉県東金市八坂台4-2-4（〒283-0801）　【八坂中央】東金市八坂台地区（詳細要確認）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【八坂西】0475-51-6631 ／ kihonjuku-yuuyuu.com　【八坂中央】要確認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9:00〜18:00（グループ共通の目安）／日曜・祝日・年末年始休</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要確認（グループ他拠点は10名前後）</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基本塾グループ共通の個別支援プログラムと「10の活動」を基本に運営。</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・八坂台エリアに 八坂台・八坂西・八坂中央 の計3拠点を集中配置。</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・八坂中央は公開情報が乏しく、開所時期・定員・提供時間は要確認。</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八坂台エリアだけで3拠点。八坂台団地（ニュータウン）の児童人口を面で押さえる出店戦略。</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拠点を細かく分けることで少人数の環境を維持しつつ、法人としての総定員を確保するモデル。</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1法人で市内児発の約半数（5／11拠点）を占め、東金市の供給構造を実質的に規定している。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八坂台エリアへの新規出店は、基本塾3拠点との正面競合となる点に留意が必要。</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公式HP kihonjuku-yuuyuu.com／児発ねっと／東金市公式サイト</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八坂中央の開所時期・正確な所在地・定員・電話番号、八坂西の定員と提供時間</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⑨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市北部（家之子・丘山方面）は事業所が少なく、送迎圏として狙える余地がある。</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運営法人、電話番号、定員、提供時間、母体となる保育所との関係　※公開情報がほぼ無い</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⑩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347472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2852927"/>
          </a:xfrm>
          <a:prstGeom prst="rect">
            <a:avLst/>
          </a:prstGeom>
          <a:noFill/>
          <a:ln/>
        </p:spPr>
        <p:txBody>
          <a:bodyPr wrap="square" lIns="0" tIns="0" rIns="0" bIns="0" rtlCol="0" anchor="t"/>
          <a:lstStyle/>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対象：</a:t>
            </a:r>
            <a:r>
              <a:rPr lang="en-US" sz="110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住所：</a:t>
            </a:r>
            <a:r>
              <a:rPr lang="en-US" sz="110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TEL／HP：</a:t>
            </a:r>
            <a:r>
              <a:rPr lang="en-US" sz="110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サービス提供時間：</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定員：</a:t>
            </a:r>
            <a:r>
              <a:rPr lang="en-US" sz="1100" dirty="0">
                <a:solidFill>
                  <a:srgbClr val="222222"/>
                </a:solidFill>
                <a:latin typeface="Meiryo" pitchFamily="34" charset="0"/>
                <a:ea typeface="Meiryo" pitchFamily="34" charset="-122"/>
                <a:cs typeface="Meiryo" pitchFamily="34" charset="-120"/>
              </a:rPr>
              <a:t>要確認</a:t>
            </a:r>
            <a:endParaRPr lang="en-US" sz="1050" dirty="0"/>
          </a:p>
          <a:p>
            <a:pPr marL="0" indent="0">
              <a:lnSpc>
                <a:spcPct val="103000"/>
              </a:lnSpc>
              <a:spcAft>
                <a:spcPts val="500"/>
              </a:spcAft>
              <a:buNone/>
            </a:pPr>
            <a:endParaRPr lang="en-US" sz="1050" dirty="0"/>
          </a:p>
          <a:p>
            <a:pPr marL="0" indent="0">
              <a:lnSpc>
                <a:spcPct val="103000"/>
              </a:lnSpc>
              <a:buNone/>
            </a:pPr>
            <a:r>
              <a:rPr lang="en-US" sz="1100" b="1" dirty="0">
                <a:solidFill>
                  <a:srgbClr val="2E6BB8"/>
                </a:solidFill>
                <a:latin typeface="Meiryo" pitchFamily="34" charset="0"/>
                <a:ea typeface="Meiryo" pitchFamily="34" charset="-122"/>
                <a:cs typeface="Meiryo" pitchFamily="34" charset="-120"/>
              </a:rPr>
              <a:t>▶</a:t>
            </a:r>
            <a:r>
              <a:rPr lang="en-US" sz="1100" b="1" dirty="0">
                <a:solidFill>
                  <a:srgbClr val="222222"/>
                </a:solidFill>
                <a:latin typeface="Meiryo" pitchFamily="34" charset="0"/>
                <a:ea typeface="Meiryo" pitchFamily="34" charset="-122"/>
                <a:cs typeface="Meiryo" pitchFamily="34" charset="-120"/>
              </a:rPr>
              <a:t>療育プログラムの特徴：</a:t>
            </a:r>
            <a:r>
              <a:rPr lang="en-US" sz="110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10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p:txBody>
      </p:sp>
      <p:sp>
        <p:nvSpPr>
          <p:cNvPr id="14" name="Shape 12"/>
          <p:cNvSpPr/>
          <p:nvPr/>
        </p:nvSpPr>
        <p:spPr>
          <a:xfrm>
            <a:off x="7635240" y="1783080"/>
            <a:ext cx="4069080" cy="3474720"/>
          </a:xfrm>
          <a:prstGeom prst="rect">
            <a:avLst/>
          </a:prstGeom>
          <a:solidFill>
            <a:srgbClr val="EEF2F8"/>
          </a:solidFill>
          <a:ln w="12700">
            <a:solidFill>
              <a:srgbClr val="9AA7B8"/>
            </a:solidFill>
            <a:prstDash val="solid"/>
          </a:ln>
        </p:spPr>
      </p:sp>
      <p:sp>
        <p:nvSpPr>
          <p:cNvPr id="15" name="Text 13"/>
          <p:cNvSpPr/>
          <p:nvPr/>
        </p:nvSpPr>
        <p:spPr>
          <a:xfrm>
            <a:off x="7818120" y="1901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2286000"/>
            <a:ext cx="3703320" cy="2907791"/>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10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
        <p:nvSpPr>
          <p:cNvPr id="940" name="FootBG"/>
          <p:cNvSpPr/>
          <p:nvPr/>
        </p:nvSpPr>
        <p:spPr>
          <a:xfrm>
            <a:off x="502920" y="5394960"/>
            <a:ext cx="11201400" cy="896112"/>
          </a:xfrm>
          <a:prstGeom prst="rect">
            <a:avLst/>
          </a:prstGeom>
          <a:solidFill>
            <a:srgbClr val="EEF2F8"/>
          </a:solidFill>
          <a:ln w="12700">
            <a:solidFill>
              <a:srgbClr val="9AA7B8"/>
            </a:solidFill>
            <a:prstDash val="solid"/>
          </a:ln>
        </p:spPr>
      </p:sp>
      <p:sp>
        <p:nvSpPr>
          <p:cNvPr id="941" name="FootTitle"/>
          <p:cNvSpPr/>
          <p:nvPr/>
        </p:nvSpPr>
        <p:spPr>
          <a:xfrm>
            <a:off x="713232" y="5477256"/>
            <a:ext cx="10789920" cy="27432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出典 ／ 要確認事項</a:t>
            </a:r>
            <a:endParaRPr lang="en-US" sz="1250" dirty="0"/>
          </a:p>
        </p:txBody>
      </p:sp>
      <p:sp>
        <p:nvSpPr>
          <p:cNvPr id="13" name="FootBody"/>
          <p:cNvSpPr/>
          <p:nvPr/>
        </p:nvSpPr>
        <p:spPr>
          <a:xfrm>
            <a:off x="713232" y="5779008"/>
            <a:ext cx="10789920" cy="475488"/>
          </a:xfrm>
          <a:prstGeom prst="rect">
            <a:avLst/>
          </a:prstGeom>
          <a:noFill/>
          <a:ln/>
        </p:spPr>
        <p:txBody>
          <a:bodyPr wrap="square" lIns="0" tIns="0" rIns="0" bIns="0" rtlCol="0" anchor="t"/>
          <a:lstStyle/>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出典：</a:t>
            </a:r>
            <a:r>
              <a:rPr lang="en-US" sz="9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950" b="1" dirty="0">
                <a:solidFill>
                  <a:srgbClr val="2E6BB8"/>
                </a:solidFill>
                <a:latin typeface="Meiryo" pitchFamily="34" charset="0"/>
                <a:ea typeface="Meiryo" pitchFamily="34" charset="-122"/>
                <a:cs typeface="Meiryo" pitchFamily="34" charset="-120"/>
              </a:rPr>
              <a:t>▶</a:t>
            </a:r>
            <a:r>
              <a:rPr lang="en-US" sz="950" b="1" dirty="0">
                <a:solidFill>
                  <a:srgbClr val="222222"/>
                </a:solidFill>
                <a:latin typeface="Meiryo" pitchFamily="34" charset="0"/>
                <a:ea typeface="Meiryo" pitchFamily="34" charset="-122"/>
                <a:cs typeface="Meiryo" pitchFamily="34" charset="-120"/>
              </a:rPr>
              <a:t>要確認事項：</a:t>
            </a:r>
            <a:r>
              <a:rPr lang="en-US" sz="9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962656"/>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493776">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5</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日吉台・松之郷・八坂台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児発＋放デイ併設。市街地立地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保育所併設型（コンパッション）、児発＋放デイ併設（鴇嶺の家）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718304"/>
            <a:ext cx="11201400" cy="1737360"/>
          </a:xfrm>
          <a:prstGeom prst="rect">
            <a:avLst/>
          </a:prstGeom>
          <a:solidFill>
            <a:srgbClr val="EEF2F8"/>
          </a:solidFill>
          <a:ln w="12700">
            <a:solidFill>
              <a:srgbClr val="9AA7B8"/>
            </a:solidFill>
            <a:prstDash val="solid"/>
          </a:ln>
        </p:spPr>
      </p:sp>
      <p:sp>
        <p:nvSpPr>
          <p:cNvPr id="9" name="Text 6"/>
          <p:cNvSpPr/>
          <p:nvPr/>
        </p:nvSpPr>
        <p:spPr>
          <a:xfrm>
            <a:off x="713232" y="4818888"/>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5148072"/>
            <a:ext cx="10789920" cy="12618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東金市の児童発達支援は【公立1＋民間9事業所／計11拠点】。うち5拠点をNPO法人基本塾、2拠点を株式会社ベストグロウが占め、実質2グループで市内拠点の約6割を押さえる寡占構造にある。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立地は八坂台・日吉台のニュータウン側と東金駅周辺に集中。市南西部（福俵・求名・丘山地区）は空白地帯であり、送迎圏の設計次第で新規参入の余地がある。一方、公開情報が乏しい事業所（②⑨⑩）が3件あり、稼働率・空き枠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