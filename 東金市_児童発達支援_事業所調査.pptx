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14"/>
    <p:sldId id="259" r:id="rId15"/>
    <p:sldId id="260" r:id="rId16"/>
    <p:sldId id="261" r:id="rId17"/>
    <p:sldId id="262" r:id="rId18"/>
    <p:sldId id="263" r:id="rId19"/>
    <p:sldId id="264" r:id="rId20"/>
    <p:sldId id="265" r:id="rId21"/>
    <p:sldId id="266"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1.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city.togane.chiba.jp/0000000953.html" TargetMode="External"/><Relationship Id="rId4" Type="http://schemas.openxmlformats.org/officeDocument/2006/relationships/hyperlink" Target="https://chibasha-kodomo2.com/maachiru" TargetMode="External"/><Relationship Id="rId5" Type="http://schemas.openxmlformats.org/officeDocument/2006/relationships/hyperlink" Target="https://chibasha-kodomo2.com/poketto" TargetMode="External"/><Relationship Id="rId6" Type="http://schemas.openxmlformats.org/officeDocument/2006/relationships/hyperlink" Target="https://kp-tougane.com/" TargetMode="External"/><Relationship Id="rId7" Type="http://schemas.openxmlformats.org/officeDocument/2006/relationships/hyperlink" Target="https://kp-daini-tougane.com/" TargetMode="External"/><Relationship Id="rId8" Type="http://schemas.openxmlformats.org/officeDocument/2006/relationships/hyperlink" Target="http://kihonjuku-yuuyuu.com/" TargetMode="External"/><Relationship Id="rId9" Type="http://schemas.openxmlformats.org/officeDocument/2006/relationships/hyperlink" Target="https://h-navi.jp/support_facility/chiba/cities/391/zihatu"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全12拠点（運営主体6）の個別整理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全12拠点（運営主体6）</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977639"/>
        </p:xfrm>
        <a:graphic>
          <a:graphicData uri="http://schemas.openxmlformats.org/drawingml/2006/table">
            <a:tbl>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305972">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HP ／ 出典（リンク）</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0475-54-1197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3"/>
                        </a:rPr>
                        <a:t>東金市公式 施設ページ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 まあちる</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子ども支援センター（要確認）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東岩崎2-10 えびすビル103号室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0475-71-3657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4"/>
                        </a:rPr>
                        <a:t>chibasha-kodomo2.com/maachiru</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 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子ども支援センター（要確認）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東上宿6番地2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0475-50-1081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5"/>
                        </a:rPr>
                        <a:t>chibasha-kodomo2.com/poketto</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0475-77-8577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6"/>
                        </a:rPr>
                        <a:t>kp-tougane.com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kp-daini-tougane.com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0475-52-6414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0475-51-4082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0475-51-5010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0475-51-6631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八坂中央</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八坂台地区（要確認）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児童発達支援コンパッション保育所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9"/>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05972">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9"/>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※「児童発達支援」の指定を受けている事業所を抽出。⑦を除き放課後等デイサービスを併設。②③は同一運営（公式サイト chibasha-kodomo2.com）、⑥基本塾優遊はNPO法人基本塾の5拠点で詳細頁では1枚に集約。「HP／出典」欄はクリックで該当ページを開きます。②③は事業所公式サイトのため未掲載の集約サイトあり。2026年8月時点の公開情報にもとづく整理のため、掲載内容は各事業所への確認を推奨。</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【児発】原則、市内在住の心身に障がいのある就学前児童で保護者と共に通所できる方／【放デイ】市内在住で単独通所できる就学児童（いずれも伝染性疾病のない方）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0475-54-1197 ／ city.togane.chiba.jp/0000000953.html</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定員／アクセス：</a:t>
            </a:r>
            <a:r>
              <a:rPr lang="en-US" sz="1050" dirty="0">
                <a:solidFill>
                  <a:srgbClr val="222222"/>
                </a:solidFill>
                <a:latin typeface="Meiryo" pitchFamily="34" charset="0"/>
                <a:ea typeface="Meiryo" pitchFamily="34" charset="-122"/>
                <a:cs typeface="Meiryo" pitchFamily="34" charset="-120"/>
              </a:rPr>
              <a:t>児童発達支援 1日15名 ／ JR東金線 東金駅から徒歩約15分・市役所前より循環バスあり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利用手続き：</a:t>
            </a:r>
            <a:r>
              <a:rPr lang="en-US" sz="1050" dirty="0">
                <a:solidFill>
                  <a:srgbClr val="222222"/>
                </a:solidFill>
                <a:latin typeface="Meiryo" pitchFamily="34" charset="0"/>
                <a:ea typeface="Meiryo" pitchFamily="34" charset="-122"/>
                <a:cs typeface="Meiryo" pitchFamily="34" charset="-120"/>
              </a:rPr>
              <a:t>社会福祉課 障がいサービス係（0475-50-1232）へ障害児通所支援給付費の支給申請。面接調査あり。</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・小学1・2年生向けに学習指導とソーシャルスキルトレーニングを実施。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 施設ページ（city.togane.chiba.jp/0000000953.html）／東金市簡易マザーズホーム設置管理条例／LITALICO発達ナビ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現在の空き状況、開所曜日・時間、送迎の有無、放デイの対象学年の範囲</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（東金市公式サイト「東金市簡易マザーズホーム」ページ掲載の施設写真を挿入）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児発は保護者同伴通所、放デイは単独通所が条件。母子分離で預かる民間事業所とは役割が構造的に異なる。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 まあちる</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 まあちる（児童発達支援・放課後等デイサービス）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通所受給者証をお持ちのお子さん　※在籍は主に2歳〜12歳（未就学児〜小学生が中心）</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〒283-0068 千葉県東金市東岩崎2-10 えびすビル103号室</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0475-71-3657 ／ chibasha-kodomo2.com/maachiru</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受付時間：</a:t>
            </a:r>
            <a:r>
              <a:rPr lang="en-US" sz="1050" dirty="0">
                <a:solidFill>
                  <a:srgbClr val="222222"/>
                </a:solidFill>
                <a:latin typeface="Meiryo" pitchFamily="34" charset="0"/>
                <a:ea typeface="Meiryo" pitchFamily="34" charset="-122"/>
                <a:cs typeface="Meiryo" pitchFamily="34" charset="-120"/>
              </a:rPr>
              <a:t>火曜〜土曜 9:00〜18:00　※日曜・月曜は電話受付外</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「生きる力」を育むことを掲げ、児童発達支援と放課後等デイサービスを提供。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・児発＝日常生活における基本動作や知識技術の習得支援、幼稚園等への入園・小学校入学に向けた集団生活への適応訓練。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・放デイ＝個別・集団活動を通じた日常動作の習得と集団生活への適応支援。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・事業所内見学を随時受付。電話・問い合わせフォームから相談・見学に対応。</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公式サイト chibasha-kodomo2.com（子ども支援センター まあちる／ぽけっと）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運営法人の正式名称、定員、サービス提供時間（受付時間とは別）、送迎の有無、指定年月日</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（公式サイト chibasha-kodomo2.com/maachiru 掲載の教室・活動写真を挿入）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同一運営の「ぽけっと」（主に6〜18歳）と年齢帯を分ける“年齢分離型”の2拠点運営。未就学の受け皿はまあちるが担う。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在籍が主に2〜12歳で、未就学から小学生までを継続して見られる点が訴求ポイント。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東岩崎はJR東金駅の東側エリア。ぽけっと（東上宿）とあわせ市街地を2拠点でカバー。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LITALICO発達ナビ等の集約サイトに未掲載で、公式サイト以外からは見つけにくい。認知獲得が競合上の課題。</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子ども支援センター 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 ぽけっと（児童発達支援・放課後等デイサービス）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通所受給者証をお持ちのお子さん　※在籍は主に6歳〜18歳（就学児が中心）</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〒283-0067 千葉県東金市東上宿6番地2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0475-50-1081 ／ chibasha-kodomo2.com/poketto</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受付時間：</a:t>
            </a:r>
            <a:r>
              <a:rPr lang="en-US" sz="1050" dirty="0">
                <a:solidFill>
                  <a:srgbClr val="222222"/>
                </a:solidFill>
                <a:latin typeface="Meiryo" pitchFamily="34" charset="0"/>
                <a:ea typeface="Meiryo" pitchFamily="34" charset="-122"/>
                <a:cs typeface="Meiryo" pitchFamily="34" charset="-120"/>
              </a:rPr>
              <a:t>月曜〜土曜 9:00〜18:00</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「生きる力」を育むことを掲げ、児童発達支援と放課後等デイサービスを提供。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・在籍が主に6〜18歳のため、実態は放課後等デイサービス中心の運営とみられる。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・放デイは放課後・長期休暇に利用し、できることを増やして自立を促し、居場所を増やすことを目的に掲げる。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・東金駅・市役所に近い東上宿に立地。同一町域（東上宿6-1）に相談支援事業所「街かど福祉相談室るると」が所在。</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・月刊で活動報告をWeb掲載（2026年8月時点で「7月のぽけっと」を公開）。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公式サイト chibasha-kodomo2.com／WAM NET 障害福祉サービス等情報公表システム／LITALICO発達ナビ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運営法人の正式名称、定員、児発の受け入れ実績（未就学の在籍有無）、送迎の有無</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（公式サイト chibasha-kodomo2.com/poketto 掲載の教室・活動写真を挿入）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同一運営の「まあちる」と年齢帯を分担。ぽけっとは就学児〜高校生を受け持つ年長側の拠点。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月曜〜土曜受付とまあちる（火〜土）より稼働日が多く、土曜ニーズにも対応。</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児発の指定はあるが在籍は就学児中心。未就学の療育ニーズは実質まあちるまたは他事業所へ流れる構造。</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平日 9:00〜18:00　※送迎あり／開設：2015年7月1日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kp-tougane.com 掲載の教室・運動あそびの写真を挿入）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kp-daini-tougane.com 掲載の教室・活動風景の写真を挿入）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④と同一法人・同一プログラムの2拠点目。田間エリア（市役所・ふれあいセンター側）をカバーし市内を面で展開。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基本塾優遊（市内5拠点）</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基本塾優遊（運営：特定非営利活動法人 基本塾）　市内5拠点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対象：</a:t>
            </a:r>
            <a:r>
              <a:rPr lang="en-US" sz="1000" dirty="0">
                <a:solidFill>
                  <a:srgbClr val="222222"/>
                </a:solidFill>
                <a:latin typeface="Meiryo" pitchFamily="34" charset="0"/>
                <a:ea typeface="Meiryo" pitchFamily="34" charset="-122"/>
                <a:cs typeface="Meiryo" pitchFamily="34" charset="-120"/>
              </a:rPr>
              <a:t>未就学児（児発）／就学児（放デイ）　※松之郷は身体・知的・精神障がい・難病まで対応、八坂台は小学生・翌年度就学予定児が中心</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拠点／TEL：</a:t>
            </a:r>
            <a:r>
              <a:rPr lang="en-US" sz="1000" dirty="0">
                <a:solidFill>
                  <a:srgbClr val="222222"/>
                </a:solidFill>
                <a:latin typeface="Meiryo" pitchFamily="34" charset="0"/>
                <a:ea typeface="Meiryo" pitchFamily="34" charset="-122"/>
                <a:cs typeface="Meiryo" pitchFamily="34" charset="-120"/>
              </a:rPr>
              <a:t>【日吉台】日吉台2-26-3／0475-52-6414　【松之郷】松之郷2423-1／0475-51-4082</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【八坂台】八坂台5-11-1／0475-51-5010　【八坂西】八坂台4-2-4／0475-51-6631　【八坂中央】要確認</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HP：</a:t>
            </a:r>
            <a:r>
              <a:rPr lang="en-US" sz="1000" dirty="0">
                <a:solidFill>
                  <a:srgbClr val="222222"/>
                </a:solidFill>
                <a:latin typeface="Meiryo" pitchFamily="34" charset="0"/>
                <a:ea typeface="Meiryo" pitchFamily="34" charset="-122"/>
                <a:cs typeface="Meiryo" pitchFamily="34" charset="-120"/>
              </a:rPr>
              <a:t>kihonjuku-yuuyuu.com（info@kihonjuku-yuuyuu.com）</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提供時間／定員：</a:t>
            </a:r>
            <a:r>
              <a:rPr lang="en-US" sz="1000" dirty="0">
                <a:solidFill>
                  <a:srgbClr val="222222"/>
                </a:solidFill>
                <a:latin typeface="Meiryo" pitchFamily="34" charset="0"/>
                <a:ea typeface="Meiryo" pitchFamily="34" charset="-122"/>
                <a:cs typeface="Meiryo" pitchFamily="34" charset="-120"/>
              </a:rPr>
              <a:t>9:00〜18:00（共通の目安）・日曜祝日年末年始休　※八坂台は土曜も定休</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松之郷10名（送迎あり・要相談）、八坂台10名・職員9名（児発管1・児童指導員4・保育士4）、他拠点は要確認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療育プログラムの特徴：</a:t>
            </a:r>
            <a:r>
              <a:rPr lang="en-US" sz="1000" dirty="0">
                <a:solidFill>
                  <a:srgbClr val="222222"/>
                </a:solidFill>
                <a:latin typeface="Meiryo" pitchFamily="34" charset="0"/>
                <a:ea typeface="Meiryo" pitchFamily="34" charset="-122"/>
                <a:cs typeface="Meiryo" pitchFamily="34" charset="-120"/>
              </a:rPr>
              <a:t>個々のニーズに応じた個別支援プログラムと「10の活動」を全拠点共通の基本形とする。</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・日吉台＝園庭あり。リトミック・体操・英語教育。小学校校長／幼稚園園長経験者、特別支援教育士、心理検査士、言語聴覚士などが在籍。</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・松之郷＝アートセラピー・運動・社会性を育むグループ活動。／八坂台＝少人数の活動・制作、地域連携イベント、元サッカー選手の「サッカー療育」。</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出典：</a:t>
            </a:r>
            <a:r>
              <a:rPr lang="en-US" sz="1000" dirty="0">
                <a:solidFill>
                  <a:srgbClr val="222222"/>
                </a:solidFill>
                <a:latin typeface="Meiryo" pitchFamily="34" charset="0"/>
                <a:ea typeface="Meiryo" pitchFamily="34" charset="-122"/>
                <a:cs typeface="Meiryo" pitchFamily="34" charset="-120"/>
              </a:rPr>
              <a:t>公式HP kihonjuku-yuuyuu.com／LITALICO発達ナビ／児発ねっと／ホイシル／ADDS kikotto施設検索</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要確認事項：</a:t>
            </a:r>
            <a:r>
              <a:rPr lang="en-US" sz="1000" dirty="0">
                <a:solidFill>
                  <a:srgbClr val="222222"/>
                </a:solidFill>
                <a:latin typeface="Meiryo" pitchFamily="34" charset="0"/>
                <a:ea typeface="Meiryo" pitchFamily="34" charset="-122"/>
                <a:cs typeface="Meiryo" pitchFamily="34" charset="-120"/>
              </a:rPr>
              <a:t>日吉台・八坂西・八坂中央の定員、児発と放デイの時間帯区分、各拠点の送迎範囲、八坂中央の開所時期・所在地・TEL</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 掲載の各拠点の教室・園庭・活動写真を挿入）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市内12拠点のうち5拠点を占める最大手。1法人で東金市の児童発達支援供給の4割超を握る。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教育畑の専門人材（校長・園長経験者、言語聴覚士、心理検査士）の厚みが最大の差別化要素で、参入障壁も高い。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拠点を小規模に分散させ、少人数環境を保ちながら総定員を確保するモデル。八坂台エリアだけで3拠点。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八坂台・日吉台への新規出店は基本塾との正面競合。土曜（八坂台は定休）や送迎圏の隙間が狙い目となる。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運営法人、電話番号、定員、提供時間、母体となる保育所との関係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（LITALICO発達ナビ／東金市公式の施設外観・保育室の写真を挿入）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市北部（家之子・丘山方面）は事業所が少なく、送迎圏として狙える余地がある。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788920"/>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464820">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64820">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64820">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5</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日吉台・松之郷・八坂台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64820">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64820">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子ども支援センター（まあちる／ぽけっと）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民間・年齢分離型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まあちる＝主に2〜12歳（火〜土）、ぽけっと＝主に6〜18歳（月〜土）。9:00〜18:00</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東岩崎・東上宿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64820">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保育所併設型（コンパッション）／児発＋放デイ併設（鴇嶺の家）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507992"/>
            <a:ext cx="11201400" cy="1929384"/>
          </a:xfrm>
          <a:prstGeom prst="rect">
            <a:avLst/>
          </a:prstGeom>
          <a:solidFill>
            <a:srgbClr val="EEF2F8"/>
          </a:solidFill>
          <a:ln w="12700">
            <a:solidFill>
              <a:srgbClr val="9AA7B8"/>
            </a:solidFill>
            <a:prstDash val="solid"/>
          </a:ln>
        </p:spPr>
      </p:sp>
      <p:sp>
        <p:nvSpPr>
          <p:cNvPr id="9" name="Text 6"/>
          <p:cNvSpPr/>
          <p:nvPr/>
        </p:nvSpPr>
        <p:spPr>
          <a:xfrm>
            <a:off x="713232" y="4599432"/>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4928616"/>
            <a:ext cx="1078992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東金市の児童発達支援は【公立1＋民間5運営主体／計12拠点】。うち基本塾5・ベストグロウ2・子ども支援センター2と、実質3グループで市内拠点の四分の三を押さえる寡占構造にある。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子ども支援センターは まあちる（主に2〜12歳）と ぽけっと（主に6〜18歳）で年齢帯を分ける2拠点運営。市内で未就学の受け皿を明確に担うのは 公立①・まあちる②・こどもプラス④⑤・基本塾⑥ に限られる。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立地は八坂台・日吉台のニュータウン側と東金駅周辺に集中。市南西部（福俵・求名・丘山地区）は空白地帯で、送迎圏の設計次第で新規参入の余地がある。なお公開情報が乏しい⑦⑧の稼働率・空き枠は市社会福祉課・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