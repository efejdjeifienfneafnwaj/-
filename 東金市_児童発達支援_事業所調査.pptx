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14"/>
    <p:sldId id="259" r:id="rId15"/>
    <p:sldId id="260" r:id="rId16"/>
    <p:sldId id="261" r:id="rId17"/>
    <p:sldId id="262" r:id="rId18"/>
    <p:sldId id="263" r:id="rId19"/>
    <p:sldId id="264" r:id="rId20"/>
    <p:sldId id="265" r:id="rId21"/>
    <p:sldId id="266" r:id="rId22"/>
    <p:sldId id="267" r:id="rId23"/>
    <p:sldId id="268"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067" userDrawn="1">
          <p15:clr>
            <a:srgbClr val="A4A3A4"/>
          </p15:clr>
        </p15:guide>
        <p15:guide id="2" pos="388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954" y="618"/>
      </p:cViewPr>
      <p:guideLst>
        <p:guide orient="horz" pos="3067"/>
        <p:guide pos="388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8" Type="http://schemas.openxmlformats.org/officeDocument/2006/relationships/slide" Target="slides/slide13.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07616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7581333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www.city.togane.chiba.jp/0000000953.html" TargetMode="External"/><Relationship Id="rId4" Type="http://schemas.openxmlformats.org/officeDocument/2006/relationships/hyperlink" Target="https://chibasha-kodomo2.com/maachiru" TargetMode="External"/><Relationship Id="rId5" Type="http://schemas.openxmlformats.org/officeDocument/2006/relationships/hyperlink" Target="https://chibasha-kodomo2.com/poketto" TargetMode="External"/><Relationship Id="rId6" Type="http://schemas.openxmlformats.org/officeDocument/2006/relationships/hyperlink" Target="https://kp-tougane.com/" TargetMode="External"/><Relationship Id="rId7" Type="http://schemas.openxmlformats.org/officeDocument/2006/relationships/hyperlink" Target="https://kp-daini-tougane.com/" TargetMode="External"/><Relationship Id="rId8" Type="http://schemas.openxmlformats.org/officeDocument/2006/relationships/hyperlink" Target="http://kihonjuku-yuuyuu.com/" TargetMode="External"/><Relationship Id="rId9" Type="http://schemas.openxmlformats.org/officeDocument/2006/relationships/hyperlink" Target="https://www.hoicil.com/f/424D8H10B9" TargetMode="External"/><Relationship Id="rId10" Type="http://schemas.openxmlformats.org/officeDocument/2006/relationships/hyperlink" Target="https://www.hoicil.com/f?area=122131&amp;facility_kind=15" TargetMode="External"/><Relationship Id="rId11" Type="http://schemas.openxmlformats.org/officeDocument/2006/relationships/hyperlink" Target="https://h-navi.jp/support_facility/chiba/cities/391/zihatu" TargetMode="External"/><Relationship Id="rId12" Type="http://schemas.openxmlformats.org/officeDocument/2006/relationships/hyperlink" Target="https://www.hoicil.com/f/G18VNI7HU7"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BEC354AB-C673-39DB-7787-525BA79DDBF6}"/>
              </a:ext>
            </a:extLst>
          </p:cNvPr>
          <p:cNvSpPr/>
          <p:nvPr/>
        </p:nvSpPr>
        <p:spPr>
          <a:xfrm>
            <a:off x="0" y="0"/>
            <a:ext cx="12192000" cy="687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Picture 2" descr="C:\Users\F1883\Desktop\変換 ～ gf2110035119l.jpg">
            <a:extLst>
              <a:ext uri="{FF2B5EF4-FFF2-40B4-BE49-F238E27FC236}">
                <a16:creationId xmlns:a16="http://schemas.microsoft.com/office/drawing/2014/main" id="{72BE0CF9-836D-C404-72E5-C89D7D53F53E}"/>
              </a:ext>
            </a:extLst>
          </p:cNvPr>
          <p:cNvPicPr>
            <a:picLocks noChangeAspect="1" noChangeArrowheads="1"/>
          </p:cNvPicPr>
          <p:nvPr/>
        </p:nvPicPr>
        <p:blipFill>
          <a:blip r:embed="rId3" cstate="print">
            <a:lum contrast="20000"/>
          </a:blip>
          <a:srcRect t="18750" r="3596"/>
          <a:stretch/>
        </p:blipFill>
        <p:spPr bwMode="auto">
          <a:xfrm>
            <a:off x="0" y="0"/>
            <a:ext cx="12192000" cy="6876000"/>
          </a:xfrm>
          <a:prstGeom prst="rect">
            <a:avLst/>
          </a:prstGeom>
          <a:noFill/>
        </p:spPr>
      </p:pic>
      <p:pic>
        <p:nvPicPr>
          <p:cNvPr id="10" name="Picture 2" descr="C:\Users\F1883\Desktop\px0010180830l (1).jpg">
            <a:extLst>
              <a:ext uri="{FF2B5EF4-FFF2-40B4-BE49-F238E27FC236}">
                <a16:creationId xmlns:a16="http://schemas.microsoft.com/office/drawing/2014/main" id="{4536EDB3-A3B8-2B2B-C38D-34AE81F8B9A3}"/>
              </a:ext>
            </a:extLst>
          </p:cNvPr>
          <p:cNvPicPr>
            <a:picLocks noChangeAspect="1" noChangeArrowheads="1"/>
          </p:cNvPicPr>
          <p:nvPr/>
        </p:nvPicPr>
        <p:blipFill>
          <a:blip r:embed="rId4" cstate="print">
            <a:clrChange>
              <a:clrFrom>
                <a:srgbClr val="FFFFFF"/>
              </a:clrFrom>
              <a:clrTo>
                <a:srgbClr val="FFFFFF">
                  <a:alpha val="0"/>
                </a:srgbClr>
              </a:clrTo>
            </a:clrChange>
            <a:grayscl/>
          </a:blip>
          <a:srcRect/>
          <a:stretch>
            <a:fillRect/>
          </a:stretch>
        </p:blipFill>
        <p:spPr bwMode="auto">
          <a:xfrm>
            <a:off x="760804" y="2348880"/>
            <a:ext cx="4076760" cy="2055312"/>
          </a:xfrm>
          <a:prstGeom prst="rect">
            <a:avLst/>
          </a:prstGeom>
          <a:noFill/>
        </p:spPr>
      </p:pic>
      <p:sp>
        <p:nvSpPr>
          <p:cNvPr id="11" name="正方形/長方形 10">
            <a:extLst>
              <a:ext uri="{FF2B5EF4-FFF2-40B4-BE49-F238E27FC236}">
                <a16:creationId xmlns:a16="http://schemas.microsoft.com/office/drawing/2014/main" id="{3CE6C090-6810-90B1-6E11-A4D1B922BD41}"/>
              </a:ext>
            </a:extLst>
          </p:cNvPr>
          <p:cNvSpPr/>
          <p:nvPr/>
        </p:nvSpPr>
        <p:spPr>
          <a:xfrm>
            <a:off x="0" y="2287505"/>
            <a:ext cx="12192000" cy="2088232"/>
          </a:xfrm>
          <a:prstGeom prst="rect">
            <a:avLst/>
          </a:prstGeom>
          <a:solidFill>
            <a:srgbClr val="00206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6FC589F5-9A35-165E-C9A8-C195524C3758}"/>
              </a:ext>
            </a:extLst>
          </p:cNvPr>
          <p:cNvSpPr txBox="1"/>
          <p:nvPr/>
        </p:nvSpPr>
        <p:spPr>
          <a:xfrm>
            <a:off x="239216" y="2492896"/>
            <a:ext cx="8962445" cy="2042867"/>
          </a:xfrm>
          <a:prstGeom prst="rect">
            <a:avLst/>
          </a:prstGeom>
          <a:noFill/>
        </p:spPr>
        <p:txBody>
          <a:bodyPr wrap="square" rtlCol="0">
            <a:spAutoFit/>
          </a:bodyPr>
          <a:lstStyle/>
          <a:p>
            <a:pPr defTabSz="914070">
              <a:lnSpc>
                <a:spcPct val="150000"/>
              </a:lnSpc>
            </a:pPr>
            <a:r>
              <a:rPr lang="en-US" altLang="ja-JP" sz="2000" b="1" dirty="0" err="1">
                <a:solidFill>
                  <a:srgbClr val="FFFFFF"/>
                </a:solidFill>
                <a:latin typeface="メイリオ" panose="020B0604030504040204" pitchFamily="50" charset="-128"/>
                <a:ea typeface="メイリオ" panose="020B0604030504040204" pitchFamily="50" charset="-128"/>
                <a:cs typeface="Meiryo" pitchFamily="34" charset="-120"/>
              </a:rPr>
              <a:t>千葉県東金市　児童発達支援 事業所調査</a:t>
            </a:r>
            <a:endParaRPr lang="en-US" altLang="ja-JP" sz="2000" b="1" dirty="0">
              <a:solidFill>
                <a:srgbClr val="FFFFFF"/>
              </a:solidFill>
              <a:latin typeface="メイリオ" panose="020B0604030504040204" pitchFamily="50" charset="-128"/>
              <a:ea typeface="メイリオ" panose="020B0604030504040204" pitchFamily="50" charset="-128"/>
              <a:cs typeface="Meiryo" pitchFamily="34" charset="-120"/>
            </a:endParaRPr>
          </a:p>
          <a:p>
            <a:pPr defTabSz="914070">
              <a:lnSpc>
                <a:spcPct val="150000"/>
              </a:lnSpc>
            </a:pPr>
            <a:r>
              <a:rPr lang="en-US" altLang="ja-JP" sz="1600" b="1" dirty="0" err="1">
                <a:solidFill>
                  <a:srgbClr val="CFE0F5"/>
                </a:solidFill>
                <a:latin typeface="メイリオ" panose="020B0604030504040204" pitchFamily="50" charset="-128"/>
                <a:ea typeface="メイリオ" panose="020B0604030504040204" pitchFamily="50" charset="-128"/>
                <a:cs typeface="Meiryo" pitchFamily="34" charset="-120"/>
              </a:rPr>
              <a:t>東金市内 全16拠点（運営主体8）の個別整理</a:t>
            </a:r>
            <a:endParaRPr lang="en-US" altLang="ja-JP" sz="1600" b="1" dirty="0">
              <a:latin typeface="メイリオ" panose="020B0604030504040204" pitchFamily="50" charset="-128"/>
              <a:ea typeface="メイリオ" panose="020B0604030504040204" pitchFamily="50" charset="-128"/>
            </a:endParaRPr>
          </a:p>
          <a:p>
            <a:pPr defTabSz="914070">
              <a:lnSpc>
                <a:spcPct val="150000"/>
              </a:lnSpc>
            </a:pPr>
            <a:endParaRPr lang="en-US" altLang="ja-JP" sz="1800" dirty="0">
              <a:latin typeface="メイリオ" panose="020B0604030504040204" pitchFamily="50" charset="-128"/>
              <a:ea typeface="メイリオ" panose="020B0604030504040204" pitchFamily="50" charset="-128"/>
            </a:endParaRPr>
          </a:p>
          <a:p>
            <a:pPr defTabSz="914070">
              <a:lnSpc>
                <a:spcPct val="150000"/>
              </a:lnSpc>
            </a:pPr>
            <a:endParaRPr lang="en-US" altLang="ja-JP" b="1" spc="277" dirty="0">
              <a:solidFill>
                <a:prstClr val="white"/>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平行四辺形 12">
            <a:extLst>
              <a:ext uri="{FF2B5EF4-FFF2-40B4-BE49-F238E27FC236}">
                <a16:creationId xmlns:a16="http://schemas.microsoft.com/office/drawing/2014/main" id="{5FDCF386-C540-A97C-1C04-2B2E17BA9604}"/>
              </a:ext>
            </a:extLst>
          </p:cNvPr>
          <p:cNvSpPr/>
          <p:nvPr/>
        </p:nvSpPr>
        <p:spPr>
          <a:xfrm>
            <a:off x="8221785" y="2276872"/>
            <a:ext cx="3149455" cy="2088000"/>
          </a:xfrm>
          <a:prstGeom prst="parallelogram">
            <a:avLst>
              <a:gd name="adj" fmla="val 49870"/>
            </a:avLst>
          </a:prstGeom>
          <a:solidFill>
            <a:schemeClr val="bg1"/>
          </a:solidFill>
          <a:ln>
            <a:no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4557EF7F-B29A-C086-1994-98929E762296}"/>
              </a:ext>
            </a:extLst>
          </p:cNvPr>
          <p:cNvSpPr txBox="1"/>
          <p:nvPr/>
        </p:nvSpPr>
        <p:spPr>
          <a:xfrm>
            <a:off x="320877" y="3717033"/>
            <a:ext cx="4098206" cy="246221"/>
          </a:xfrm>
          <a:prstGeom prst="rect">
            <a:avLst/>
          </a:prstGeom>
          <a:noFill/>
        </p:spPr>
        <p:txBody>
          <a:bodyPr wrap="square" rtlCol="0">
            <a:spAutoFit/>
          </a:bodyPr>
          <a:lstStyle/>
          <a:p>
            <a:pPr>
              <a:lnSpc>
                <a:spcPts val="1200"/>
              </a:lnSpc>
            </a:pPr>
            <a:r>
              <a:rPr kumimoji="1" lang="en-US" altLang="ja-JP" sz="900" spc="500" dirty="0">
                <a:solidFill>
                  <a:schemeClr val="bg1"/>
                </a:solidFill>
                <a:latin typeface="メイリオ" pitchFamily="50" charset="-128"/>
                <a:ea typeface="メイリオ" pitchFamily="50" charset="-128"/>
                <a:cs typeface="メイリオ" pitchFamily="50" charset="-128"/>
              </a:rPr>
              <a:t>2026年8月28日（金）</a:t>
            </a:r>
          </a:p>
        </p:txBody>
      </p:sp>
      <p:pic>
        <p:nvPicPr>
          <p:cNvPr id="15" name="図 14">
            <a:extLst>
              <a:ext uri="{FF2B5EF4-FFF2-40B4-BE49-F238E27FC236}">
                <a16:creationId xmlns:a16="http://schemas.microsoft.com/office/drawing/2014/main" id="{BC6E1081-1B34-56D0-B20C-8EC90261AB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04037" y="3139919"/>
            <a:ext cx="1711563" cy="335701"/>
          </a:xfrm>
          <a:prstGeom prst="rect">
            <a:avLst/>
          </a:prstGeom>
        </p:spPr>
      </p:pic>
    </p:spTree>
    <p:extLst>
      <p:ext uri="{BB962C8B-B14F-4D97-AF65-F5344CB8AC3E}">
        <p14:creationId xmlns:p14="http://schemas.microsoft.com/office/powerpoint/2010/main" val="2675795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東金市内の児童発達支援事業所　全16拠点（運営主体8）</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19072"/>
          <a:ext cx="11201400" cy="4096512"/>
        </p:xfrm>
        <a:graphic>
          <a:graphicData uri="http://schemas.openxmlformats.org/drawingml/2006/table">
            <a:tbl>
              <a:tblPr/>
              <a:tblGrid>
                <a:gridCol w="5029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240971">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err="1">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850" b="1" dirty="0">
                          <a:solidFill>
                            <a:srgbClr val="FFFFFF"/>
                          </a:solidFill>
                          <a:latin typeface="Meiryo" pitchFamily="34" charset="0"/>
                          <a:ea typeface="Meiryo" pitchFamily="34" charset="-122"/>
                          <a:cs typeface="Meiryo" pitchFamily="34" charset="-120"/>
                        </a:rPr>
                        <a:t>HP ／ 出典（リンク）</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東金市簡易マザーズホーム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東金市（運営：市社会福祉協議会）</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田間3-9-1 ふれあいセンター2F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0475-54-1197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3"/>
                        </a:rPr>
                        <a:t>東金市公式 施設ページ</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②</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子ども支援センター まあちる</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子ども支援センター（要確認）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東岩崎2-10 えびすビル103号室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0475-71-3657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4"/>
                        </a:rPr>
                        <a:t>chibasha-kodomo2.com/maachiru</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③</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子ども支援センター ぽけっと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子ども支援センター（要確認）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東上宿6番地2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0475-50-1081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5"/>
                        </a:rPr>
                        <a:t>chibasha-kodomo2.com/poketto</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④</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こどもプラス東金教室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東新宿18-1 酒造ビル105号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0475-77-8577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6"/>
                        </a:rPr>
                        <a:t>kp-tougane.com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こどもプラス第2東金教室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田間1-6-4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7"/>
                        </a:rPr>
                        <a:t>kp-daini-tougane.com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日吉台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日吉台2-26-3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0475-52-6414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西が丘</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日吉台5-15-2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0475-51-6845</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松之郷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松之郷2423-1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0475-51-4082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八坂西</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八坂台4-2-4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0475-51-6631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八坂台 ※</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八坂台5-11-1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0475-51-5010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基本塾優遊 八坂中央 ※</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八坂台4-3-14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8"/>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エスポワール</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田間2-56-10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050-3145-9731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9"/>
                        </a:rPr>
                        <a:t>ホイシル 事業所ページ</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エスポワール第2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求名駅から約229m（住所要確認）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10"/>
                        </a:rPr>
                        <a:t>ホイシル 東金市 児発一覧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果実の木 求名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求名駅から約593m（住所要確認）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10"/>
                        </a:rPr>
                        <a:t>ホイシル 東金市 児発一覧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児童発達支援コンパッション保育所 ※</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要確認（保育所併設）</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家之子1671-36</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11"/>
                        </a:rPr>
                        <a:t>LITALICO発達ナビ 東金市一覧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240971">
                <a:tc>
                  <a:txBody>
                    <a:bodyPr/>
                    <a:lstStyle/>
                    <a:p>
                      <a:pPr marL="0" indent="0" algn="ctr">
                        <a:buNone/>
                      </a:pPr>
                      <a:r>
                        <a:rPr lang="en-US" sz="800" b="1" dirty="0">
                          <a:solidFill>
                            <a:srgbClr val="222222"/>
                          </a:solidFill>
                          <a:latin typeface="Meiryo" pitchFamily="34" charset="0"/>
                          <a:ea typeface="Meiryo" pitchFamily="34" charset="-122"/>
                          <a:cs typeface="Meiryo" pitchFamily="34" charset="-120"/>
                        </a:rPr>
                        <a:t>⑩</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b="1" dirty="0">
                          <a:solidFill>
                            <a:srgbClr val="222222"/>
                          </a:solidFill>
                          <a:latin typeface="Meiryo" pitchFamily="34" charset="0"/>
                          <a:ea typeface="Meiryo" pitchFamily="34" charset="-122"/>
                          <a:cs typeface="Meiryo" pitchFamily="34" charset="-120"/>
                        </a:rPr>
                        <a:t>鴇嶺の家</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東金425-2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800" dirty="0" u="sng">
                          <a:solidFill>
                            <a:srgbClr val="1F5FA8"/>
                          </a:solidFill>
                          <a:latin typeface="Meiryo" charset="0"/>
                          <a:ea typeface="Meiryo" charset="0"/>
                          <a:cs typeface="Meiryo" charset="0"/>
                          <a:hlinkClick r:id="rId12"/>
                        </a:rPr>
                        <a:t>ホイシル 事業所ページ</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※印（基本塾優遊 八坂台・八坂中央、コンパッション保育所）は、ホイシル等の児童発達支援一覧に掲載がなく、児発指定の有無は要確認。②③は同一運営（chibasha-kodomo2.com）、⑥基本塾優遊はNPO法人基本塾の6拠点、⑦エスポワールは2拠点で、詳細頁ではそれぞれ1枚に集約。「HP／出典」欄はクリックで該当ページを開きます。出典：ホイシル／LITALICO発達ナビ／東金市公式／各事業所公式サイト（2026年8月時点）。</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① 東金市簡易マザーズホーム</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東金市簡易マザーズホーム（設置：東金市／運営：東金市社会福祉協議会）</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【児発】原則、市内在住の心身に障がいのある就学前児童で保護者と共に通所できる方／【放デイ】市内在住で単独通所できる就学児童（いずれも伝染性疾病のない方）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千葉県東金市田間3丁目9番地1　東金市ふれあいセンター（保健福祉センター）2階</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0475-54-1197 ／ city.togane.chiba.jp/0000000953.html</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定員／アクセス：</a:t>
            </a:r>
            <a:r>
              <a:rPr lang="en-US" sz="1050" dirty="0">
                <a:solidFill>
                  <a:srgbClr val="222222"/>
                </a:solidFill>
                <a:latin typeface="Meiryo" pitchFamily="34" charset="0"/>
                <a:ea typeface="Meiryo" pitchFamily="34" charset="-122"/>
                <a:cs typeface="Meiryo" pitchFamily="34" charset="-120"/>
              </a:rPr>
              <a:t>児童発達支援 1日15名 ／ JR東金線 東金駅から徒歩約15分・市役所前より循環バスあり</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利用手続き：</a:t>
            </a:r>
            <a:r>
              <a:rPr lang="en-US" sz="1050" dirty="0">
                <a:solidFill>
                  <a:srgbClr val="222222"/>
                </a:solidFill>
                <a:latin typeface="Meiryo" pitchFamily="34" charset="0"/>
                <a:ea typeface="Meiryo" pitchFamily="34" charset="-122"/>
                <a:cs typeface="Meiryo" pitchFamily="34" charset="-120"/>
              </a:rPr>
              <a:t>社会福祉課 障がいサービス係（0475-50-1232）へ障害児通所支援給付費の支給申請。面接調査あり。</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生活を支援することで児童の発達を援助することを目的とする。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・運動、おもちゃ・ゲームなどのあそびを用いたグループ活動が支援の中心。</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・小学1・2年生向けに学習指導とソーシャルスキルトレーニングを実施。</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・設置管理条例に基づく市の公の施設。地域開放事業もあわせて実施。</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 施設ページ（city.togane.chiba.jp/0000000953.html）／東金市簡易マザーズホーム設置管理条例／LITALICO発達ナビ</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現在の空き状況、開所曜日・時間、送迎の有無、放デイの対象学年の範囲</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（東金市公式サイト「東金市簡易マザーズホーム」ページ掲載の施設写真を挿入）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市内で唯一の公立（市設置）児童発達支援。乳幼児健診からの流れで最初につながる“入口”機能を担う。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児発は保護者同伴通所、放デイは単独通所が条件。母子分離で預かる民間事業所とは役割が構造的に異なる。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定員が1日15名と限られ、就学前の療育ニーズの受け皿が民間事業所へ流れやすい構造。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新規参入の観点では、公立の定員（1日15名）を超える就学前ニーズをどう受けるかが最初の需要源となる。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② 子ども支援センター まあちる</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 まあちる（児童発達支援・放課後等デイサービス）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通所受給者証をお持ちのお子さん　※在籍は主に2歳〜12歳（未就学児〜小学生が中心）</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〒283-0068 千葉県東金市東岩崎2-10 えびすビル103号室</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0475-71-3657 ／ chibasha-kodomo2.com/maachiru</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受付時間：</a:t>
            </a:r>
            <a:r>
              <a:rPr lang="en-US" sz="1050" dirty="0">
                <a:solidFill>
                  <a:srgbClr val="222222"/>
                </a:solidFill>
                <a:latin typeface="Meiryo" pitchFamily="34" charset="0"/>
                <a:ea typeface="Meiryo" pitchFamily="34" charset="-122"/>
                <a:cs typeface="Meiryo" pitchFamily="34" charset="-120"/>
              </a:rPr>
              <a:t>火曜〜土曜 9:00〜18:00　※日曜・月曜は電話受付外</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「生きる力」を育むことを掲げ、児童発達支援と放課後等デイサービスを提供。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・児発＝日常生活における基本動作や知識技術の習得支援、幼稚園等への入園・小学校入学に向けた集団生活への適応訓練。</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・放デイ＝個別・集団活動を通じた日常動作の習得と集団生活への適応支援。</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・事業所内見学を随時受付。電話・問い合わせフォームから相談・見学に対応。</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公式サイト chibasha-kodomo2.com（子ども支援センター まあちる／ぽけっと）</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運営法人の正式名称、定員、サービス提供時間（受付時間とは別）、送迎の有無、指定年月日</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（公式サイト chibasha-kodomo2.com/maachiru 掲載の教室・活動写真を挿入）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同一運営の「ぽけっと」（主に6〜18歳）と年齢帯を分ける“年齢分離型”の2拠点運営。未就学の受け皿はまあちるが担う。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在籍が主に2〜12歳で、未就学から小学生までを継続して見られる点が訴求ポイント。</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東岩崎はJR東金駅の東側エリア。ぽけっと（東上宿）とあわせ市街地を2拠点でカバー。</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LITALICO発達ナビ等の集約サイトに未掲載で、公式サイト以外からは見つけにくい。認知獲得が競合上の課題。</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③ 子ども支援センター ぽけっと</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 ぽけっと（児童発達支援・放課後等デイサービス）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通所受給者証をお持ちのお子さん　※在籍は主に6歳〜18歳（就学児が中心）</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〒283-0067 千葉県東金市東上宿6番地2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0475-50-1081 ／ chibasha-kodomo2.com/poketto</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受付時間：</a:t>
            </a:r>
            <a:r>
              <a:rPr lang="en-US" sz="1050" dirty="0">
                <a:solidFill>
                  <a:srgbClr val="222222"/>
                </a:solidFill>
                <a:latin typeface="Meiryo" pitchFamily="34" charset="0"/>
                <a:ea typeface="Meiryo" pitchFamily="34" charset="-122"/>
                <a:cs typeface="Meiryo" pitchFamily="34" charset="-120"/>
              </a:rPr>
              <a:t>月曜〜土曜 9:00〜18:00</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a:t>
            </a:r>
            <a:r>
              <a:rPr lang="en-US" sz="105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「生きる力」を育むことを掲げ、児童発達支援と放課後等デイサービスを提供。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・在籍が主に6〜18歳のため、実態は放課後等デイサービス中心の運営とみられる。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・放デイは放課後・長期休暇に利用し、できることを増やして自立を促し、居場所を増やすことを目的に掲げる。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・東金駅・市役所に近い東上宿に立地。同一町域（東上宿6-1）に相談支援事業所「街かど福祉相談室るると」が所在。</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・月刊で活動報告をWeb掲載（2026年8月時点で「7月のぽけっと」を公開）。</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公式サイト chibasha-kodomo2.com／WAM NET 障害福祉サービス等情報公表システム／LITALICO発達ナビ</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運営法人の正式名称、定員、児発の受け入れ実績（未就学の在籍有無）、送迎の有無</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（公式サイト chibasha-kodomo2.com/poketto 掲載の教室・活動写真を挿入）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同一運営の「まあちる」と年齢帯を分担。ぽけっとは就学児〜高校生を受け持つ年長側の拠点。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月曜〜土曜受付とまあちる（火〜土）より稼働日が多く、土曜ニーズにも対応。</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市街地中心部の立地で、駅・市役所方面からのアクセス性が高い。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児発の指定はあるが在籍は就学児中心。未就学の療育ニーズは実質まあちるまたは他事業所へ流れる構造。</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④ こどもプラス東金教室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こどもプラス東金教室（運営：株式会社ベストグロウ）</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千葉県東金市東新宿18-1 酒造ビル105号（JR東金線 東金駅から徒歩約7〜9分）</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0475-77-8577 ／ kp-tougane.com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平日 9:00〜18:00　※送迎あり／開設：2015年7月1日</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運動療育を主軸に、学習・あそびを取り入れた総合的な療育を提供。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・「柳沢運動プログラム」を導入。運動あそびが大脳活動の発達を促すという理論に基づくカリキュラム。</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・全身の筋力向上・けがの減少に加え、情緒の安定、切り替えの上達、ルール理解の定着を効果として掲げる。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・運営法人は千葉県内に児発・放デイ・相談支援あわせて10事業所を展開（本社：東金市道庭925-1）。</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公式HP kp-tougane.com／WAM NET／障害者ドットコム／児発ねっと</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定員、現在の空き状況、送迎範囲、児童発達支援と放課後等デイサービスの時間帯区分</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kp-tougane.com 掲載の教室・運動あそびの写真を挿入）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東金駅至近＋送迎ありで、通所利便性は市内トップクラス。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「運動療育」という明確なプログラム軸を打ち出し、Webでの情報発信量も市内最大級。</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同一法人の第2教室・相談支援事業所と連携し、相談から通所まで法人内で完結する導線を構築。</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市内で最も認知度・集客力が高いと推察され、実質的なベンチマーク先となる事業所。</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⑤ こどもプラス第2東金教室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こどもプラス第2東金教室（運営：株式会社ベストグロウ）</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千葉県東金市田間1丁目6番地4号</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要確認（法人代表 0475-77-8577）／ kp-daini-tougane.com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発達段階に合わせた支援と、楽しく取り組める運動療育を組み合わせて提供。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・脳の活性化につながる「柳沢運動プログラム」を取り入れ、毎日の活動を構成。</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・学習と運動あそびのバランスを取りながら、子どもの「できた！」を積み重ねることを重視。</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・地域密着型の教室として、家庭と連携しながら安心して通える場所づくりを掲げる。</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公式HP kp-daini-tougane.com／株式会社ベストグロウ公式（bestgrow-chiba.com）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電話番号、サービス提供時間、定員、送迎範囲、第1教室との役割分担</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kp-daini-tougane.com 掲載の教室・活動風景の写真を挿入）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④と同一法人・同一プログラムの2拠点目。田間エリア（市役所・ふれあいセンター側）をカバーし市内を面で展開。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公立の簡易マザーズホーム（田間3-9-1）と同一エリアにあり、公立からの移行導線が近い。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第1教室が「運動主軸」なのに対し「学習と運動のバランス」を明示し、法人内でも訴求を微差別化。</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田間エリアは公立・民間が近接する激戦区。差別化には時間帯と送迎範囲の設計が鍵となる。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⑥ 基本塾優遊（市内6拠点）</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基本塾優遊（運営：特定非営利活動法人 基本塾）　市内6拠点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対象：</a:t>
            </a:r>
            <a:r>
              <a:rPr lang="en-US" sz="1000" dirty="0">
                <a:solidFill>
                  <a:srgbClr val="222222"/>
                </a:solidFill>
                <a:latin typeface="Meiryo" pitchFamily="34" charset="0"/>
                <a:ea typeface="Meiryo" pitchFamily="34" charset="-122"/>
                <a:cs typeface="Meiryo" pitchFamily="34" charset="-120"/>
              </a:rPr>
              <a:t>未就学児（児発）／就学児（放デイ）　※松之郷は身体・知的・精神障がい・難病まで対応</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拠点／TEL：</a:t>
            </a:r>
            <a:r>
              <a:rPr lang="en-US" sz="1000" dirty="0">
                <a:solidFill>
                  <a:srgbClr val="222222"/>
                </a:solidFill>
                <a:latin typeface="Meiryo" pitchFamily="34" charset="0"/>
                <a:ea typeface="Meiryo" pitchFamily="34" charset="-122"/>
                <a:cs typeface="Meiryo" pitchFamily="34" charset="-120"/>
              </a:rPr>
              <a:t>【日吉台】日吉台2-26-3／52-6414　【西が丘】日吉台5-15-2／51-6845　【松之郷】松之郷2423-1／51-4082</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 xml:space="preserve">　　　　　　【八坂西】八坂台4-2-4／51-6631　【八坂台】八坂台5-11-1／51-5010　【八坂中央】八坂台4-3-14／要確認　※局番0475</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HP：</a:t>
            </a:r>
            <a:r>
              <a:rPr lang="en-US" sz="1000" dirty="0">
                <a:solidFill>
                  <a:srgbClr val="222222"/>
                </a:solidFill>
                <a:latin typeface="Meiryo" pitchFamily="34" charset="0"/>
                <a:ea typeface="Meiryo" pitchFamily="34" charset="-122"/>
                <a:cs typeface="Meiryo" pitchFamily="34" charset="-120"/>
              </a:rPr>
              <a:t>kihonjuku-yuuyuu.com（info@kihonjuku-yuuyuu.com）</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提供時間／定員：</a:t>
            </a:r>
            <a:r>
              <a:rPr lang="en-US" sz="1000" dirty="0">
                <a:solidFill>
                  <a:srgbClr val="222222"/>
                </a:solidFill>
                <a:latin typeface="Meiryo" pitchFamily="34" charset="0"/>
                <a:ea typeface="Meiryo" pitchFamily="34" charset="-122"/>
                <a:cs typeface="Meiryo" pitchFamily="34" charset="-120"/>
              </a:rPr>
              <a:t>9:00〜18:00（共通の目安）・日祝年末年始休（八坂台は土曜も定休）／松之郷10名・八坂台10名、他拠点は要確認</a:t>
            </a:r>
            <a:endParaRPr lang="en-US" sz="1050" dirty="0"/>
          </a:p>
          <a:p>
            <a:pPr marL="0" indent="0">
              <a:lnSpc>
                <a:spcPct val="103000"/>
              </a:lnSpc>
              <a:spcAft>
                <a:spcPts val="500"/>
              </a:spcAft>
              <a:buNone/>
            </a:pP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療育プログラムの特徴：</a:t>
            </a:r>
            <a:r>
              <a:rPr lang="en-US" sz="1000" dirty="0">
                <a:solidFill>
                  <a:srgbClr val="222222"/>
                </a:solidFill>
                <a:latin typeface="Meiryo" pitchFamily="34" charset="0"/>
                <a:ea typeface="Meiryo" pitchFamily="34" charset="-122"/>
                <a:cs typeface="Meiryo" pitchFamily="34" charset="-120"/>
              </a:rPr>
              <a:t>個々のニーズに応じた個別支援プログラムと「10の活動」を全拠点共通の基本形とする。</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・日吉台＝園庭あり。リトミック・体操・英語教育。校長／園長経験者、特別支援教育士、心理検査士、言語聴覚士が在籍。</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・松之郷＝アートセラピー・運動・社会性のグループ活動／八坂台＝少人数の活動・制作、元サッカー選手の「サッカー療育」。</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・児発一覧で確認できるのは 日吉台・西が丘・松之郷・八坂西 の4拠点。八坂台・八坂中央は放デイ掲載のみで児発指定は要確認。</a:t>
            </a:r>
            <a:endParaRPr lang="en-US" sz="1050" dirty="0"/>
          </a:p>
          <a:p>
            <a:pPr marL="0" indent="0">
              <a:lnSpc>
                <a:spcPct val="103000"/>
              </a:lnSpc>
              <a:spcAft>
                <a:spcPts val="500"/>
              </a:spcAft>
              <a:buNone/>
            </a:pP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出典：</a:t>
            </a:r>
            <a:r>
              <a:rPr lang="en-US" sz="1000" dirty="0">
                <a:solidFill>
                  <a:srgbClr val="222222"/>
                </a:solidFill>
                <a:latin typeface="Meiryo" pitchFamily="34" charset="0"/>
                <a:ea typeface="Meiryo" pitchFamily="34" charset="-122"/>
                <a:cs typeface="Meiryo" pitchFamily="34" charset="-120"/>
              </a:rPr>
              <a:t>公式HP kihonjuku-yuuyuu.com／ホイシル／LITALICO発達ナビ／児発ねっと／ADDS kikotto</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要確認事項：</a:t>
            </a:r>
            <a:r>
              <a:rPr lang="en-US" sz="1000" dirty="0">
                <a:solidFill>
                  <a:srgbClr val="222222"/>
                </a:solidFill>
                <a:latin typeface="Meiryo" pitchFamily="34" charset="0"/>
                <a:ea typeface="Meiryo" pitchFamily="34" charset="-122"/>
                <a:cs typeface="Meiryo" pitchFamily="34" charset="-120"/>
              </a:rPr>
              <a:t>日吉台・西が丘・八坂西・八坂中央の定員、児発と放デイの時間帯区分、送迎範囲、八坂台・八坂中央の児発指定</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kihonjuku-yuuyuu.com 掲載の各拠点の教室・園庭・活動写真を挿入）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市内16拠点のうち6拠点を占める最大手。1法人で東金市の児童発達支援供給の約4割を握る。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教育畑の専門人材（校長・園長経験者、言語聴覚士、心理検査士）の厚みが最大の差別化要素で、参入障壁も高い。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日吉台エリアに2拠点（日吉台・西が丘）、八坂台エリアに3拠点を集中配置。小規模拠点を面で並べて総定員を確保するモデル。</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日吉台・八坂台への新規出店は基本塾との正面競合。土曜（八坂台は定休）や送迎圏の隙間が狙い目となる。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⑦ エスポワール ／ エスポワール第2</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エスポワール・エスポワール第2（児童発達支援・放課後等デイサービス）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【エスポワール】〒283-0005 東金市田間2-56-10（JR東金線 東金駅から徒歩約16分）</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 xml:space="preserve">　　　　　　【エスポワール第2】東金市 求名駅から約229m（正確な所在地は要確認）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050-3145-9731（エスポワール）／ 公開HPは確認できず。ホイシル・発達ナビに事業所情報を掲載</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空き状況：</a:t>
            </a:r>
            <a:r>
              <a:rPr lang="en-US" sz="1050" dirty="0">
                <a:solidFill>
                  <a:srgbClr val="222222"/>
                </a:solidFill>
                <a:latin typeface="Meiryo" pitchFamily="34" charset="0"/>
                <a:ea typeface="Meiryo" pitchFamily="34" charset="-122"/>
                <a:cs typeface="Meiryo" pitchFamily="34" charset="-120"/>
              </a:rPr>
              <a:t>LITALICO発達ナビ上で「空きあり」表示（2026年8月時点）</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・市内2拠点体制。第2は求名駅至近に立地し、市南西部（求名・丘山方面）をカバー。</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ホイシル 東金市 児童発達支援一覧／LITALICO発達ナビ／障害者ドットコム</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運営法人、エスポワール第2の正確な所在地・TEL、両拠点の提供時間・定員、送迎の有無</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（ホイシル事業所ページ／LITALICO発達ナビ掲載の教室写真を挿入）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東金市で2拠点を展開。田間（市街地）と求名（市南西部）で商圏を分ける配置をとる。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求名駅圏は他事業所が少ない空白地帯で、第2の出店はその需要を先に押さえる動きとみられる。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発達ナビ上で「空きあり」と表示されており、稼働に余力がある可能性がある。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公開情報が乏しく、運営法人・プログラム内容の把握には直接ヒアリングが必要。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⑧ 果実の木 求名</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果実の木 求名（児童発達支援）</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　JR東金線 求名駅から約593m（正確な所在地は要確認）</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公開情報が極めて限定的で、支援内容は要確認。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・集約サイトの児童発達支援一覧に掲載。市南西部の求名駅圏に立地。</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・同一エリアにエスポワール第2があり、求名駅圏は2事業所が並ぶ。</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・「果実の木」は熊本市等にも同名の放課後等デイサービスがあり、同系列か否かは要確認。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ホイシル 東金市 児童発達支援一覧（www.hoicil.com/f?area=122131&amp;facility_kind=15）</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正式名称・所在地・電話番号、運営法人、定員、提供時間、他県の同名事業所との関係</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（ホイシル／LITALICO発達ナビ掲載の施設写真を挿入）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求名駅圏で確認できる数少ない児童発達支援。市南西部の受け皿を担う。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東金駅圏に集中する既存事業所とは商圏が異なり、直接競合になりにくい立地。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市南西部（求名・丘山地区）は従来「空白地帯」と見ていたが、実際には出店が進みつつある。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公開情報がほぼ無く、実態把握は市社会福祉課・相談支援事業所経由での確認が現実的。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⑨ 児童発達支援コンパッション保育所</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児童発達支援コンパッション保育所</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千葉県東金市家之子1671-36</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保育所を母体とする児童発達支援。保育の場と療育の場が同一施設にある併設型。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・市および発達支援施設検索サイトの児童発達支援事業所一覧に掲載されている。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・Web上の公開情報は極めて限定的で、支援プログラムの詳細は現地・電話での確認が必要。</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運営法人、電話番号、定員、提供時間、母体となる保育所との関係　※公開情報がほぼ無い</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（LITALICO発達ナビ／東金市公式の施設外観・保育室の写真を挿入）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市街地から離れた家之子地区（市北部）に立地し、周辺の事業所空白地帯をカバー。</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保育所併設型は市内で唯一。定型発達児との日常的な交流が可能な環境が構造的な強み。</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情報発信がほぼ無く、稼働状況・空き枠の把握には直接ヒアリングが必須。</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市北部（家之子・丘山方面）は事業所が少なく、送迎圏として狙える余地がある。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⑩ 鴇嶺の家</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鴇嶺の家（児童発達支援・放課後等デイサービス）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千葉県東金市東金425-2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要確認（公開情報では下4桁「0285」までの記載にとどまる）／公開HPなし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・東金地区（旧市街・鴇嶺小学校区）に立地し、学校からの通所導線が近い。</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・同一町域の東金723にスターワーク東金（放デイ）があり、東金駅東口エリアに事業所が集積。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運営法人、正確な電話番号、定員、提供時間、プログラム内容　※公開情報がほぼ無い</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（LITALICO発達ナビ／東金市公式の施設写真を挿入）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鴇嶺小学校区の中心部に位置し、学区内からの徒歩・短距離送迎に適した立地。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東金駅東口エリアの事業所集積地にあり、競合との距離が近い。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情報発信が乏しく、実態把握は市社会福祉課・相談支援事業所経由での確認が現実的。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東金駅東口は事業所集積地。新規参入するなら駅前以外の空白地を狙うのが現実的。</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altLang="ja-JP" sz="3000" b="1" dirty="0">
                <a:solidFill>
                  <a:srgbClr val="FFFFFF"/>
                </a:solidFill>
                <a:latin typeface="Meiryo" pitchFamily="34" charset="0"/>
                <a:ea typeface="Meiryo" pitchFamily="34" charset="-122"/>
                <a:cs typeface="Meiryo" pitchFamily="34" charset="-120"/>
              </a:rPr>
              <a:t>Ⅲ</a:t>
            </a:r>
            <a:r>
              <a:rPr lang="en-US" sz="3000" b="1" dirty="0">
                <a:solidFill>
                  <a:srgbClr val="FFFFFF"/>
                </a:solidFill>
                <a:latin typeface="Meiryo" pitchFamily="34" charset="0"/>
                <a:ea typeface="Meiryo" pitchFamily="34" charset="-122"/>
                <a:cs typeface="Meiryo" pitchFamily="34" charset="-120"/>
              </a:rPr>
              <a:t>． </a:t>
            </a:r>
            <a:r>
              <a:rPr lang="ja-JP" altLang="en-US" sz="3000" b="1" dirty="0">
                <a:solidFill>
                  <a:srgbClr val="FFFFFF"/>
                </a:solidFill>
                <a:latin typeface="Meiryo" pitchFamily="34" charset="0"/>
                <a:ea typeface="Meiryo" pitchFamily="34" charset="-122"/>
                <a:cs typeface="Meiryo" pitchFamily="34" charset="-120"/>
              </a:rPr>
              <a:t>まとめ</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比較まとめと示唆</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455520415"/>
              </p:ext>
            </p:extLst>
          </p:nvPr>
        </p:nvGraphicFramePr>
        <p:xfrm>
          <a:off x="487680" y="1627632"/>
          <a:ext cx="11201399" cy="2788920"/>
        </p:xfrm>
        <a:graphic>
          <a:graphicData uri="http://schemas.openxmlformats.org/drawingml/2006/table">
            <a:tbl>
              <a:tblPr/>
              <a:tblGrid>
                <a:gridCol w="2395728">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398417">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運営主体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拠点数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タイプ</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特徴的なプログラム</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主な立地エリア</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NPO法人 基本塾（基本塾優遊）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6</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民間・市内最大手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個別支援＋「10の活動」。園庭・多職種（ST・心理検査士等）、サッカー療育</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日吉台・八坂台・松之郷</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株式会社ベストグロウ（こどもプラス）</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民間・運動療育特化</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柳沢運動プログラムによる運動療育。平日9:00〜18:00・送迎あり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東新宿・田間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子ども支援センター（まあちる／ぽけっと）</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民間・年齢分離型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まあちる＝主に2〜12歳（火〜土）、ぽけっと＝主に6〜18歳（月〜土）</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東岩崎・東上宿</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エスポワール（本体／第2）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児発＋放デイ併設。発達ナビ上「空きあり」表示</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田間・求名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東金市（市社会福祉協議会）</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公立・親子通園型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あそび中心のグループ活動＋小1・2の学習指導／SST。定員15名/日</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田間（ふれあいセンター）</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98417">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果実の木求名／コンパッション保育所／鴇嶺の家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3</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求名駅圏・市北部・旧市街にそれぞれ立地。公開情報が乏しく要確認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求名・家之子・東金</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5"/>
          <p:cNvSpPr/>
          <p:nvPr/>
        </p:nvSpPr>
        <p:spPr>
          <a:xfrm>
            <a:off x="502920" y="4507992"/>
            <a:ext cx="11201400" cy="1929384"/>
          </a:xfrm>
          <a:prstGeom prst="rect">
            <a:avLst/>
          </a:prstGeom>
          <a:solidFill>
            <a:srgbClr val="EEF2F8"/>
          </a:solidFill>
          <a:ln w="12700">
            <a:solidFill>
              <a:srgbClr val="9AA7B8"/>
            </a:solidFill>
            <a:prstDash val="solid"/>
          </a:ln>
        </p:spPr>
      </p:sp>
      <p:sp>
        <p:nvSpPr>
          <p:cNvPr id="9" name="Text 6"/>
          <p:cNvSpPr/>
          <p:nvPr/>
        </p:nvSpPr>
        <p:spPr>
          <a:xfrm>
            <a:off x="713232" y="4599432"/>
            <a:ext cx="107899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調査からの示唆（東金市の児童発達支援マーケット）</a:t>
            </a:r>
            <a:endParaRPr lang="en-US" sz="1250" dirty="0"/>
          </a:p>
        </p:txBody>
      </p:sp>
      <p:sp>
        <p:nvSpPr>
          <p:cNvPr id="10" name="Text 7"/>
          <p:cNvSpPr/>
          <p:nvPr/>
        </p:nvSpPr>
        <p:spPr>
          <a:xfrm>
            <a:off x="713232" y="4928616"/>
            <a:ext cx="10789920" cy="1463040"/>
          </a:xfrm>
          <a:prstGeom prst="rect">
            <a:avLst/>
          </a:prstGeom>
          <a:noFill/>
          <a:ln/>
        </p:spPr>
        <p:txBody>
          <a:bodyPr wrap="square" lIns="0" tIns="0" rIns="0" bIns="0" rtlCol="0" anchor="t"/>
          <a:lstStyle/>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東金市の児童発達支援は【公立1＋民間7運営主体／計16拠点】。基本塾6・ベストグロウ2・子ども支援センター2・エスポワール2と、上位4グループで市内拠点の四分の三を押さえる寡占構造にある。</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プログラム軸は「運動療育」（こどもプラス）と「個別支援＋多職種によるアセスメント」（基本塾優遊）の2系統に大別される。言語・コミュニケーション特化、ペアレントトレーニング、医療的ケア児対応を前面に打ち出す事業所は市内に見当たらず、差別化余地が大きい。</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子ども支援センターは まあちる（主に2〜12歳）と ぽけっと（主に6〜18歳）で年齢帯を分ける2拠点運営。市内で未就学の受け皿を明確に担うのは 公立①・まあちる②・こどもプラス④⑤・基本塾⑥ が中心。</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立地は日吉台・八坂台のニュータウン側と東金駅周辺に集中する一方、求名駅圏にもエスポワール第2・果実の木求名が出店済みで、単純な空白地帯は残り少ない。新規参入は立地よりプログラムの差別化と送迎設計で勝負する局面。</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850" dirty="0">
                <a:solidFill>
                  <a:srgbClr val="222222"/>
                </a:solidFill>
                <a:latin typeface="メイリオ" panose="020B0604030504040204" pitchFamily="50" charset="-128"/>
                <a:ea typeface="メイリオ" panose="020B0604030504040204" pitchFamily="50" charset="-128"/>
                <a:cs typeface="Meiryo" pitchFamily="34" charset="-120"/>
              </a:rPr>
              <a:t>公開情報が乏しい事業所（⑦⑧⑨⑩）が4件あり、稼働率・空き枠・運営法人は市社会福祉課および相談支援事業所へのヒアリングで補完が必要。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1179</Words>
  <Application>Microsoft Office PowerPoint</Application>
  <PresentationFormat>ワイド画面</PresentationFormat>
  <Paragraphs>180</Paragraphs>
  <Slides>7</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Meiryo</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競合分析 特筆すべき事業所</dc:title>
  <dc:subject>PptxGenJS Presentation</dc:subject>
  <dc:creator>船井総研</dc:creator>
  <cp:lastModifiedBy>Hikaru Nakano</cp:lastModifiedBy>
  <cp:revision>6</cp:revision>
  <dcterms:created xsi:type="dcterms:W3CDTF">2026-06-09T11:42:43Z</dcterms:created>
  <dcterms:modified xsi:type="dcterms:W3CDTF">2026-06-09T12:44:47Z</dcterms:modified>
</cp:coreProperties>
</file>